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922C1-3B63-48F0-9578-87AD9D7DC42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</dgm:pt>
    <dgm:pt modelId="{61493317-CF6A-4778-B55D-03EBB8935657}">
      <dgm:prSet phldrT="[Texto]"/>
      <dgm:spPr/>
      <dgm:t>
        <a:bodyPr/>
        <a:lstStyle/>
        <a:p>
          <a:r>
            <a:rPr lang="pt-BR" dirty="0"/>
            <a:t>Configurar entorno Docker</a:t>
          </a:r>
          <a:endParaRPr lang="es-MX" dirty="0"/>
        </a:p>
      </dgm:t>
    </dgm:pt>
    <dgm:pt modelId="{78B80C3B-8837-40FC-8980-E4AAEFFB1735}" type="parTrans" cxnId="{89F511E0-0800-4E92-B83E-CC4C3432BC83}">
      <dgm:prSet/>
      <dgm:spPr/>
      <dgm:t>
        <a:bodyPr/>
        <a:lstStyle/>
        <a:p>
          <a:endParaRPr lang="es-MX"/>
        </a:p>
      </dgm:t>
    </dgm:pt>
    <dgm:pt modelId="{349DAE77-B8B5-442A-B4C1-AB08F3B48BEF}" type="sibTrans" cxnId="{89F511E0-0800-4E92-B83E-CC4C3432BC83}">
      <dgm:prSet/>
      <dgm:spPr/>
      <dgm:t>
        <a:bodyPr/>
        <a:lstStyle/>
        <a:p>
          <a:endParaRPr lang="es-MX"/>
        </a:p>
      </dgm:t>
    </dgm:pt>
    <dgm:pt modelId="{3C8F2F3D-86EA-4EDF-BC7E-883866287D65}">
      <dgm:prSet phldrT="[Texto]"/>
      <dgm:spPr/>
      <dgm:t>
        <a:bodyPr/>
        <a:lstStyle/>
        <a:p>
          <a:r>
            <a:rPr lang="pt-BR" dirty="0"/>
            <a:t>Proyecto base Larael 13</a:t>
          </a:r>
          <a:endParaRPr lang="es-MX" dirty="0"/>
        </a:p>
      </dgm:t>
    </dgm:pt>
    <dgm:pt modelId="{749240DD-DD36-4DD3-B344-7F1F0E813FC4}" type="parTrans" cxnId="{C03D4C87-8ABF-4FA7-9F92-2729C5EC675A}">
      <dgm:prSet/>
      <dgm:spPr/>
      <dgm:t>
        <a:bodyPr/>
        <a:lstStyle/>
        <a:p>
          <a:endParaRPr lang="es-MX"/>
        </a:p>
      </dgm:t>
    </dgm:pt>
    <dgm:pt modelId="{BB1686C4-8F85-4D89-9CDE-634C34B91CC5}" type="sibTrans" cxnId="{C03D4C87-8ABF-4FA7-9F92-2729C5EC675A}">
      <dgm:prSet/>
      <dgm:spPr/>
      <dgm:t>
        <a:bodyPr/>
        <a:lstStyle/>
        <a:p>
          <a:endParaRPr lang="es-MX"/>
        </a:p>
      </dgm:t>
    </dgm:pt>
    <dgm:pt modelId="{8DF2DBCA-1673-471F-B112-69C7C3C65ED7}">
      <dgm:prSet/>
      <dgm:spPr/>
      <dgm:t>
        <a:bodyPr/>
        <a:lstStyle/>
        <a:p>
          <a:r>
            <a:rPr lang="es-MX" dirty="0"/>
            <a:t>POC Agente Conversacional </a:t>
          </a:r>
        </a:p>
      </dgm:t>
    </dgm:pt>
    <dgm:pt modelId="{FD787FD2-678A-4958-8CBC-97F17F1C4391}" type="parTrans" cxnId="{C4C8E8E9-5BDB-41BE-9FE3-F9448AC625C6}">
      <dgm:prSet/>
      <dgm:spPr/>
      <dgm:t>
        <a:bodyPr/>
        <a:lstStyle/>
        <a:p>
          <a:endParaRPr lang="es-MX"/>
        </a:p>
      </dgm:t>
    </dgm:pt>
    <dgm:pt modelId="{F3E50554-42E3-4CC7-B9E7-E973F966AD29}" type="sibTrans" cxnId="{C4C8E8E9-5BDB-41BE-9FE3-F9448AC625C6}">
      <dgm:prSet/>
      <dgm:spPr/>
      <dgm:t>
        <a:bodyPr/>
        <a:lstStyle/>
        <a:p>
          <a:endParaRPr lang="es-MX"/>
        </a:p>
      </dgm:t>
    </dgm:pt>
    <dgm:pt modelId="{F5BBFD1C-740E-44F9-AF02-AF03924750C4}">
      <dgm:prSet phldrT="[Texto]"/>
      <dgm:spPr/>
      <dgm:t>
        <a:bodyPr/>
        <a:lstStyle/>
        <a:p>
          <a:r>
            <a:rPr lang="es-VE" dirty="0"/>
            <a:t>Proyecto Laravel+JavaScript</a:t>
          </a:r>
          <a:endParaRPr lang="es-MX" dirty="0"/>
        </a:p>
      </dgm:t>
    </dgm:pt>
    <dgm:pt modelId="{2BE143BC-5918-4CD2-823A-FBCB00B819B4}" type="sibTrans" cxnId="{344AD1B3-7121-481D-AB81-F4B6A0397AF2}">
      <dgm:prSet/>
      <dgm:spPr/>
      <dgm:t>
        <a:bodyPr/>
        <a:lstStyle/>
        <a:p>
          <a:endParaRPr lang="es-MX"/>
        </a:p>
      </dgm:t>
    </dgm:pt>
    <dgm:pt modelId="{4B3B1FFF-CF70-441A-A686-83208459DD9E}" type="parTrans" cxnId="{344AD1B3-7121-481D-AB81-F4B6A0397AF2}">
      <dgm:prSet/>
      <dgm:spPr/>
      <dgm:t>
        <a:bodyPr/>
        <a:lstStyle/>
        <a:p>
          <a:endParaRPr lang="es-MX"/>
        </a:p>
      </dgm:t>
    </dgm:pt>
    <dgm:pt modelId="{668C33A3-BB43-4DEB-A238-8E69DE0C00A2}">
      <dgm:prSet/>
      <dgm:spPr/>
      <dgm:t>
        <a:bodyPr/>
        <a:lstStyle/>
        <a:p>
          <a:r>
            <a:rPr lang="es-MX" dirty="0"/>
            <a:t>Definir estándares de código </a:t>
          </a:r>
        </a:p>
      </dgm:t>
    </dgm:pt>
    <dgm:pt modelId="{D3613E99-8EF1-47E8-AF3E-F93B04C0F718}" type="parTrans" cxnId="{1F1CFB1A-968F-4112-8C7C-3BDF490A648B}">
      <dgm:prSet/>
      <dgm:spPr/>
      <dgm:t>
        <a:bodyPr/>
        <a:lstStyle/>
        <a:p>
          <a:endParaRPr lang="es-MX"/>
        </a:p>
      </dgm:t>
    </dgm:pt>
    <dgm:pt modelId="{98226819-1BE0-442C-B464-E61C22EF5612}" type="sibTrans" cxnId="{1F1CFB1A-968F-4112-8C7C-3BDF490A648B}">
      <dgm:prSet/>
      <dgm:spPr/>
      <dgm:t>
        <a:bodyPr/>
        <a:lstStyle/>
        <a:p>
          <a:endParaRPr lang="es-MX"/>
        </a:p>
      </dgm:t>
    </dgm:pt>
    <dgm:pt modelId="{58110DA2-69F2-4961-BDF4-C5EB75B1AC6D}">
      <dgm:prSet/>
      <dgm:spPr/>
      <dgm:t>
        <a:bodyPr/>
        <a:lstStyle/>
        <a:p>
          <a:r>
            <a:rPr lang="en-US" dirty="0"/>
            <a:t>Modulos funcionales</a:t>
          </a:r>
          <a:endParaRPr lang="es-MX" dirty="0"/>
        </a:p>
      </dgm:t>
    </dgm:pt>
    <dgm:pt modelId="{3620FA00-0485-4415-9C07-B72A8A6F3AC5}" type="parTrans" cxnId="{930658A0-8224-4545-8F8C-F908FC4DB558}">
      <dgm:prSet/>
      <dgm:spPr/>
      <dgm:t>
        <a:bodyPr/>
        <a:lstStyle/>
        <a:p>
          <a:endParaRPr lang="es-MX"/>
        </a:p>
      </dgm:t>
    </dgm:pt>
    <dgm:pt modelId="{7AE88F92-7E90-4E48-8284-96B7C9133560}" type="sibTrans" cxnId="{930658A0-8224-4545-8F8C-F908FC4DB558}">
      <dgm:prSet/>
      <dgm:spPr/>
      <dgm:t>
        <a:bodyPr/>
        <a:lstStyle/>
        <a:p>
          <a:endParaRPr lang="es-MX"/>
        </a:p>
      </dgm:t>
    </dgm:pt>
    <dgm:pt modelId="{40B01F17-3C9A-4D61-949F-B8A7BC56A7FF}" type="pres">
      <dgm:prSet presAssocID="{0B8922C1-3B63-48F0-9578-87AD9D7DC425}" presName="rootnode" presStyleCnt="0">
        <dgm:presLayoutVars>
          <dgm:chMax/>
          <dgm:chPref/>
          <dgm:dir/>
          <dgm:animLvl val="lvl"/>
        </dgm:presLayoutVars>
      </dgm:prSet>
      <dgm:spPr/>
    </dgm:pt>
    <dgm:pt modelId="{D534F053-C9B6-4261-8E98-747DC8C5D685}" type="pres">
      <dgm:prSet presAssocID="{61493317-CF6A-4778-B55D-03EBB8935657}" presName="composite" presStyleCnt="0"/>
      <dgm:spPr/>
    </dgm:pt>
    <dgm:pt modelId="{93A9EDFE-4DF2-4681-BAC1-7BA45AA2A8AA}" type="pres">
      <dgm:prSet presAssocID="{61493317-CF6A-4778-B55D-03EBB8935657}" presName="bentUpArrow1" presStyleLbl="alignImgPlace1" presStyleIdx="0" presStyleCnt="5"/>
      <dgm:spPr/>
    </dgm:pt>
    <dgm:pt modelId="{FD08C5E8-BACE-4E50-89BD-CF78CC68860F}" type="pres">
      <dgm:prSet presAssocID="{61493317-CF6A-4778-B55D-03EBB8935657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B288EE2B-9E27-4054-9B41-5F8B77BC95CF}" type="pres">
      <dgm:prSet presAssocID="{61493317-CF6A-4778-B55D-03EBB8935657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D57776D0-9285-4133-97B2-A124C183C263}" type="pres">
      <dgm:prSet presAssocID="{349DAE77-B8B5-442A-B4C1-AB08F3B48BEF}" presName="sibTrans" presStyleCnt="0"/>
      <dgm:spPr/>
    </dgm:pt>
    <dgm:pt modelId="{B68D25BC-4ED8-4EAD-9BF8-E9C96887E538}" type="pres">
      <dgm:prSet presAssocID="{3C8F2F3D-86EA-4EDF-BC7E-883866287D65}" presName="composite" presStyleCnt="0"/>
      <dgm:spPr/>
    </dgm:pt>
    <dgm:pt modelId="{76E6B792-C077-44B1-AD4A-5212FDE094BC}" type="pres">
      <dgm:prSet presAssocID="{3C8F2F3D-86EA-4EDF-BC7E-883866287D65}" presName="bentUpArrow1" presStyleLbl="alignImgPlace1" presStyleIdx="1" presStyleCnt="5"/>
      <dgm:spPr/>
    </dgm:pt>
    <dgm:pt modelId="{BC26239C-9B06-4F73-B0A4-EC47CA343243}" type="pres">
      <dgm:prSet presAssocID="{3C8F2F3D-86EA-4EDF-BC7E-883866287D65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E51FD835-C90B-4BD2-9B3F-452CA57264F2}" type="pres">
      <dgm:prSet presAssocID="{3C8F2F3D-86EA-4EDF-BC7E-883866287D65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FB935DC9-F818-444F-8578-4FEC9C0D1470}" type="pres">
      <dgm:prSet presAssocID="{BB1686C4-8F85-4D89-9CDE-634C34B91CC5}" presName="sibTrans" presStyleCnt="0"/>
      <dgm:spPr/>
    </dgm:pt>
    <dgm:pt modelId="{86AC0F16-57BC-4B27-B437-A6E6C5CD5265}" type="pres">
      <dgm:prSet presAssocID="{F5BBFD1C-740E-44F9-AF02-AF03924750C4}" presName="composite" presStyleCnt="0"/>
      <dgm:spPr/>
    </dgm:pt>
    <dgm:pt modelId="{CE96F3EF-782F-4D60-AB76-B51CB6E06AF3}" type="pres">
      <dgm:prSet presAssocID="{F5BBFD1C-740E-44F9-AF02-AF03924750C4}" presName="bentUpArrow1" presStyleLbl="alignImgPlace1" presStyleIdx="2" presStyleCnt="5"/>
      <dgm:spPr/>
    </dgm:pt>
    <dgm:pt modelId="{36E49400-D20A-4618-9BD8-E9632593BF0C}" type="pres">
      <dgm:prSet presAssocID="{F5BBFD1C-740E-44F9-AF02-AF03924750C4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ED61067-FB76-4CC9-BD5C-A8FA8271E1F9}" type="pres">
      <dgm:prSet presAssocID="{F5BBFD1C-740E-44F9-AF02-AF03924750C4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2FA50507-4E7F-403D-8055-8C33BC5AFA8C}" type="pres">
      <dgm:prSet presAssocID="{2BE143BC-5918-4CD2-823A-FBCB00B819B4}" presName="sibTrans" presStyleCnt="0"/>
      <dgm:spPr/>
    </dgm:pt>
    <dgm:pt modelId="{8AABE713-0495-40E8-BD6A-C8D6F1C8D664}" type="pres">
      <dgm:prSet presAssocID="{8DF2DBCA-1673-471F-B112-69C7C3C65ED7}" presName="composite" presStyleCnt="0"/>
      <dgm:spPr/>
    </dgm:pt>
    <dgm:pt modelId="{FD4A8EE4-829F-4AF9-943A-95C29895A879}" type="pres">
      <dgm:prSet presAssocID="{8DF2DBCA-1673-471F-B112-69C7C3C65ED7}" presName="bentUpArrow1" presStyleLbl="alignImgPlace1" presStyleIdx="3" presStyleCnt="5"/>
      <dgm:spPr/>
    </dgm:pt>
    <dgm:pt modelId="{8626791E-2445-4881-9687-DCE63187F898}" type="pres">
      <dgm:prSet presAssocID="{8DF2DBCA-1673-471F-B112-69C7C3C65ED7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1F59196F-330A-4B5D-9958-AC4D67DE38EA}" type="pres">
      <dgm:prSet presAssocID="{8DF2DBCA-1673-471F-B112-69C7C3C65ED7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C842901A-E389-45B5-8C0A-786847B06448}" type="pres">
      <dgm:prSet presAssocID="{F3E50554-42E3-4CC7-B9E7-E973F966AD29}" presName="sibTrans" presStyleCnt="0"/>
      <dgm:spPr/>
    </dgm:pt>
    <dgm:pt modelId="{09F63EEE-2252-4A02-B62E-3081C3F0F2D9}" type="pres">
      <dgm:prSet presAssocID="{668C33A3-BB43-4DEB-A238-8E69DE0C00A2}" presName="composite" presStyleCnt="0"/>
      <dgm:spPr/>
    </dgm:pt>
    <dgm:pt modelId="{B4B39C2B-D3F0-46E5-8C88-5BEA82AF110A}" type="pres">
      <dgm:prSet presAssocID="{668C33A3-BB43-4DEB-A238-8E69DE0C00A2}" presName="bentUpArrow1" presStyleLbl="alignImgPlace1" presStyleIdx="4" presStyleCnt="5"/>
      <dgm:spPr/>
    </dgm:pt>
    <dgm:pt modelId="{E476ED43-9937-459A-B601-B1710F8F14F9}" type="pres">
      <dgm:prSet presAssocID="{668C33A3-BB43-4DEB-A238-8E69DE0C00A2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EAB7A80-3555-4703-9C1F-8FDC51DD3EF0}" type="pres">
      <dgm:prSet presAssocID="{668C33A3-BB43-4DEB-A238-8E69DE0C00A2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3792267E-DFCE-45DB-A62A-F414F4EAA853}" type="pres">
      <dgm:prSet presAssocID="{98226819-1BE0-442C-B464-E61C22EF5612}" presName="sibTrans" presStyleCnt="0"/>
      <dgm:spPr/>
    </dgm:pt>
    <dgm:pt modelId="{76D030F4-2597-4963-BA17-DD1668600392}" type="pres">
      <dgm:prSet presAssocID="{58110DA2-69F2-4961-BDF4-C5EB75B1AC6D}" presName="composite" presStyleCnt="0"/>
      <dgm:spPr/>
    </dgm:pt>
    <dgm:pt modelId="{1EFE870D-5A33-4DB3-B00A-3A022D58B4F2}" type="pres">
      <dgm:prSet presAssocID="{58110DA2-69F2-4961-BDF4-C5EB75B1AC6D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CDF1800B-B50A-44BB-8651-DF3C53866799}" type="presOf" srcId="{3C8F2F3D-86EA-4EDF-BC7E-883866287D65}" destId="{BC26239C-9B06-4F73-B0A4-EC47CA343243}" srcOrd="0" destOrd="0" presId="urn:microsoft.com/office/officeart/2005/8/layout/StepDownProcess"/>
    <dgm:cxn modelId="{1F1CFB1A-968F-4112-8C7C-3BDF490A648B}" srcId="{0B8922C1-3B63-48F0-9578-87AD9D7DC425}" destId="{668C33A3-BB43-4DEB-A238-8E69DE0C00A2}" srcOrd="4" destOrd="0" parTransId="{D3613E99-8EF1-47E8-AF3E-F93B04C0F718}" sibTransId="{98226819-1BE0-442C-B464-E61C22EF5612}"/>
    <dgm:cxn modelId="{0B639B24-8877-44C0-A273-FFE092C70522}" type="presOf" srcId="{0B8922C1-3B63-48F0-9578-87AD9D7DC425}" destId="{40B01F17-3C9A-4D61-949F-B8A7BC56A7FF}" srcOrd="0" destOrd="0" presId="urn:microsoft.com/office/officeart/2005/8/layout/StepDownProcess"/>
    <dgm:cxn modelId="{95670040-9EBA-4FC1-BF16-CAC3394584B3}" type="presOf" srcId="{668C33A3-BB43-4DEB-A238-8E69DE0C00A2}" destId="{E476ED43-9937-459A-B601-B1710F8F14F9}" srcOrd="0" destOrd="0" presId="urn:microsoft.com/office/officeart/2005/8/layout/StepDownProcess"/>
    <dgm:cxn modelId="{CC832C5B-209E-4D7A-8DB7-31266AE0567F}" type="presOf" srcId="{61493317-CF6A-4778-B55D-03EBB8935657}" destId="{FD08C5E8-BACE-4E50-89BD-CF78CC68860F}" srcOrd="0" destOrd="0" presId="urn:microsoft.com/office/officeart/2005/8/layout/StepDownProcess"/>
    <dgm:cxn modelId="{C03D4C87-8ABF-4FA7-9F92-2729C5EC675A}" srcId="{0B8922C1-3B63-48F0-9578-87AD9D7DC425}" destId="{3C8F2F3D-86EA-4EDF-BC7E-883866287D65}" srcOrd="1" destOrd="0" parTransId="{749240DD-DD36-4DD3-B344-7F1F0E813FC4}" sibTransId="{BB1686C4-8F85-4D89-9CDE-634C34B91CC5}"/>
    <dgm:cxn modelId="{C757F487-1FEA-4E4F-8A52-74A89F7EDECE}" type="presOf" srcId="{8DF2DBCA-1673-471F-B112-69C7C3C65ED7}" destId="{8626791E-2445-4881-9687-DCE63187F898}" srcOrd="0" destOrd="0" presId="urn:microsoft.com/office/officeart/2005/8/layout/StepDownProcess"/>
    <dgm:cxn modelId="{930658A0-8224-4545-8F8C-F908FC4DB558}" srcId="{0B8922C1-3B63-48F0-9578-87AD9D7DC425}" destId="{58110DA2-69F2-4961-BDF4-C5EB75B1AC6D}" srcOrd="5" destOrd="0" parTransId="{3620FA00-0485-4415-9C07-B72A8A6F3AC5}" sibTransId="{7AE88F92-7E90-4E48-8284-96B7C9133560}"/>
    <dgm:cxn modelId="{344AD1B3-7121-481D-AB81-F4B6A0397AF2}" srcId="{0B8922C1-3B63-48F0-9578-87AD9D7DC425}" destId="{F5BBFD1C-740E-44F9-AF02-AF03924750C4}" srcOrd="2" destOrd="0" parTransId="{4B3B1FFF-CF70-441A-A686-83208459DD9E}" sibTransId="{2BE143BC-5918-4CD2-823A-FBCB00B819B4}"/>
    <dgm:cxn modelId="{338935C7-0415-41F2-BC25-3FAEDEF479E5}" type="presOf" srcId="{F5BBFD1C-740E-44F9-AF02-AF03924750C4}" destId="{36E49400-D20A-4618-9BD8-E9632593BF0C}" srcOrd="0" destOrd="0" presId="urn:microsoft.com/office/officeart/2005/8/layout/StepDownProcess"/>
    <dgm:cxn modelId="{89F511E0-0800-4E92-B83E-CC4C3432BC83}" srcId="{0B8922C1-3B63-48F0-9578-87AD9D7DC425}" destId="{61493317-CF6A-4778-B55D-03EBB8935657}" srcOrd="0" destOrd="0" parTransId="{78B80C3B-8837-40FC-8980-E4AAEFFB1735}" sibTransId="{349DAE77-B8B5-442A-B4C1-AB08F3B48BEF}"/>
    <dgm:cxn modelId="{5B9E12E5-629D-4AF7-8B18-1E8511772AEC}" type="presOf" srcId="{58110DA2-69F2-4961-BDF4-C5EB75B1AC6D}" destId="{1EFE870D-5A33-4DB3-B00A-3A022D58B4F2}" srcOrd="0" destOrd="0" presId="urn:microsoft.com/office/officeart/2005/8/layout/StepDownProcess"/>
    <dgm:cxn modelId="{C4C8E8E9-5BDB-41BE-9FE3-F9448AC625C6}" srcId="{0B8922C1-3B63-48F0-9578-87AD9D7DC425}" destId="{8DF2DBCA-1673-471F-B112-69C7C3C65ED7}" srcOrd="3" destOrd="0" parTransId="{FD787FD2-678A-4958-8CBC-97F17F1C4391}" sibTransId="{F3E50554-42E3-4CC7-B9E7-E973F966AD29}"/>
    <dgm:cxn modelId="{2C5FEEEE-3BF3-4607-AA03-1758F92E4167}" type="presParOf" srcId="{40B01F17-3C9A-4D61-949F-B8A7BC56A7FF}" destId="{D534F053-C9B6-4261-8E98-747DC8C5D685}" srcOrd="0" destOrd="0" presId="urn:microsoft.com/office/officeart/2005/8/layout/StepDownProcess"/>
    <dgm:cxn modelId="{830689D6-D843-48F2-874F-9F9C81A768CE}" type="presParOf" srcId="{D534F053-C9B6-4261-8E98-747DC8C5D685}" destId="{93A9EDFE-4DF2-4681-BAC1-7BA45AA2A8AA}" srcOrd="0" destOrd="0" presId="urn:microsoft.com/office/officeart/2005/8/layout/StepDownProcess"/>
    <dgm:cxn modelId="{2C3AEEF5-2872-4C62-9E78-097E64B65FF6}" type="presParOf" srcId="{D534F053-C9B6-4261-8E98-747DC8C5D685}" destId="{FD08C5E8-BACE-4E50-89BD-CF78CC68860F}" srcOrd="1" destOrd="0" presId="urn:microsoft.com/office/officeart/2005/8/layout/StepDownProcess"/>
    <dgm:cxn modelId="{85B60BF0-8B82-4FEA-B768-4B679A2678AD}" type="presParOf" srcId="{D534F053-C9B6-4261-8E98-747DC8C5D685}" destId="{B288EE2B-9E27-4054-9B41-5F8B77BC95CF}" srcOrd="2" destOrd="0" presId="urn:microsoft.com/office/officeart/2005/8/layout/StepDownProcess"/>
    <dgm:cxn modelId="{929F053E-41C2-4A7A-9BB2-3FD0B1FD599A}" type="presParOf" srcId="{40B01F17-3C9A-4D61-949F-B8A7BC56A7FF}" destId="{D57776D0-9285-4133-97B2-A124C183C263}" srcOrd="1" destOrd="0" presId="urn:microsoft.com/office/officeart/2005/8/layout/StepDownProcess"/>
    <dgm:cxn modelId="{E71EF73C-240E-43F1-B7D5-4ACA42C8C31C}" type="presParOf" srcId="{40B01F17-3C9A-4D61-949F-B8A7BC56A7FF}" destId="{B68D25BC-4ED8-4EAD-9BF8-E9C96887E538}" srcOrd="2" destOrd="0" presId="urn:microsoft.com/office/officeart/2005/8/layout/StepDownProcess"/>
    <dgm:cxn modelId="{94A9E0D9-411E-4C6A-9A56-6A5B34F005A0}" type="presParOf" srcId="{B68D25BC-4ED8-4EAD-9BF8-E9C96887E538}" destId="{76E6B792-C077-44B1-AD4A-5212FDE094BC}" srcOrd="0" destOrd="0" presId="urn:microsoft.com/office/officeart/2005/8/layout/StepDownProcess"/>
    <dgm:cxn modelId="{89B096D7-B767-48F5-AFEE-0DA41F7C65BA}" type="presParOf" srcId="{B68D25BC-4ED8-4EAD-9BF8-E9C96887E538}" destId="{BC26239C-9B06-4F73-B0A4-EC47CA343243}" srcOrd="1" destOrd="0" presId="urn:microsoft.com/office/officeart/2005/8/layout/StepDownProcess"/>
    <dgm:cxn modelId="{DD9D2447-6FDB-453E-AF91-1019651FA28A}" type="presParOf" srcId="{B68D25BC-4ED8-4EAD-9BF8-E9C96887E538}" destId="{E51FD835-C90B-4BD2-9B3F-452CA57264F2}" srcOrd="2" destOrd="0" presId="urn:microsoft.com/office/officeart/2005/8/layout/StepDownProcess"/>
    <dgm:cxn modelId="{B81173CB-71EE-4A12-B8E9-2CF3E949F3D3}" type="presParOf" srcId="{40B01F17-3C9A-4D61-949F-B8A7BC56A7FF}" destId="{FB935DC9-F818-444F-8578-4FEC9C0D1470}" srcOrd="3" destOrd="0" presId="urn:microsoft.com/office/officeart/2005/8/layout/StepDownProcess"/>
    <dgm:cxn modelId="{919A83AC-60C2-4654-91AA-A3791BDAD2C5}" type="presParOf" srcId="{40B01F17-3C9A-4D61-949F-B8A7BC56A7FF}" destId="{86AC0F16-57BC-4B27-B437-A6E6C5CD5265}" srcOrd="4" destOrd="0" presId="urn:microsoft.com/office/officeart/2005/8/layout/StepDownProcess"/>
    <dgm:cxn modelId="{7B185AE3-0EBD-4DEF-B427-BCDE96118D65}" type="presParOf" srcId="{86AC0F16-57BC-4B27-B437-A6E6C5CD5265}" destId="{CE96F3EF-782F-4D60-AB76-B51CB6E06AF3}" srcOrd="0" destOrd="0" presId="urn:microsoft.com/office/officeart/2005/8/layout/StepDownProcess"/>
    <dgm:cxn modelId="{AE0B3A9D-6962-4A10-AD10-905AA18F8769}" type="presParOf" srcId="{86AC0F16-57BC-4B27-B437-A6E6C5CD5265}" destId="{36E49400-D20A-4618-9BD8-E9632593BF0C}" srcOrd="1" destOrd="0" presId="urn:microsoft.com/office/officeart/2005/8/layout/StepDownProcess"/>
    <dgm:cxn modelId="{D91B3974-C8CE-4B26-A53D-FBA083804BB6}" type="presParOf" srcId="{86AC0F16-57BC-4B27-B437-A6E6C5CD5265}" destId="{0ED61067-FB76-4CC9-BD5C-A8FA8271E1F9}" srcOrd="2" destOrd="0" presId="urn:microsoft.com/office/officeart/2005/8/layout/StepDownProcess"/>
    <dgm:cxn modelId="{3408DEAB-23F1-4BA8-9208-167F126CDABB}" type="presParOf" srcId="{40B01F17-3C9A-4D61-949F-B8A7BC56A7FF}" destId="{2FA50507-4E7F-403D-8055-8C33BC5AFA8C}" srcOrd="5" destOrd="0" presId="urn:microsoft.com/office/officeart/2005/8/layout/StepDownProcess"/>
    <dgm:cxn modelId="{973B9E60-E5CC-4A7E-B124-0EE9DAC83646}" type="presParOf" srcId="{40B01F17-3C9A-4D61-949F-B8A7BC56A7FF}" destId="{8AABE713-0495-40E8-BD6A-C8D6F1C8D664}" srcOrd="6" destOrd="0" presId="urn:microsoft.com/office/officeart/2005/8/layout/StepDownProcess"/>
    <dgm:cxn modelId="{6C0D6985-9A2D-4108-8FC2-336C5823BC8C}" type="presParOf" srcId="{8AABE713-0495-40E8-BD6A-C8D6F1C8D664}" destId="{FD4A8EE4-829F-4AF9-943A-95C29895A879}" srcOrd="0" destOrd="0" presId="urn:microsoft.com/office/officeart/2005/8/layout/StepDownProcess"/>
    <dgm:cxn modelId="{7488DA3B-87D6-4214-8A88-E618B4C4D169}" type="presParOf" srcId="{8AABE713-0495-40E8-BD6A-C8D6F1C8D664}" destId="{8626791E-2445-4881-9687-DCE63187F898}" srcOrd="1" destOrd="0" presId="urn:microsoft.com/office/officeart/2005/8/layout/StepDownProcess"/>
    <dgm:cxn modelId="{371B2297-FFDF-455D-A8AC-4129737DAE16}" type="presParOf" srcId="{8AABE713-0495-40E8-BD6A-C8D6F1C8D664}" destId="{1F59196F-330A-4B5D-9958-AC4D67DE38EA}" srcOrd="2" destOrd="0" presId="urn:microsoft.com/office/officeart/2005/8/layout/StepDownProcess"/>
    <dgm:cxn modelId="{00A96256-29D1-44B5-9266-13CD0FD6E488}" type="presParOf" srcId="{40B01F17-3C9A-4D61-949F-B8A7BC56A7FF}" destId="{C842901A-E389-45B5-8C0A-786847B06448}" srcOrd="7" destOrd="0" presId="urn:microsoft.com/office/officeart/2005/8/layout/StepDownProcess"/>
    <dgm:cxn modelId="{2B06DABC-4A0B-4FE3-B7CF-6BA137B11CF8}" type="presParOf" srcId="{40B01F17-3C9A-4D61-949F-B8A7BC56A7FF}" destId="{09F63EEE-2252-4A02-B62E-3081C3F0F2D9}" srcOrd="8" destOrd="0" presId="urn:microsoft.com/office/officeart/2005/8/layout/StepDownProcess"/>
    <dgm:cxn modelId="{91CDA3C3-8F6F-4522-AAF4-A19948333053}" type="presParOf" srcId="{09F63EEE-2252-4A02-B62E-3081C3F0F2D9}" destId="{B4B39C2B-D3F0-46E5-8C88-5BEA82AF110A}" srcOrd="0" destOrd="0" presId="urn:microsoft.com/office/officeart/2005/8/layout/StepDownProcess"/>
    <dgm:cxn modelId="{B8701300-5D47-4646-83AE-D4F8F942DDB4}" type="presParOf" srcId="{09F63EEE-2252-4A02-B62E-3081C3F0F2D9}" destId="{E476ED43-9937-459A-B601-B1710F8F14F9}" srcOrd="1" destOrd="0" presId="urn:microsoft.com/office/officeart/2005/8/layout/StepDownProcess"/>
    <dgm:cxn modelId="{721E9D13-2CFC-4986-9065-0B28D1C2C6BA}" type="presParOf" srcId="{09F63EEE-2252-4A02-B62E-3081C3F0F2D9}" destId="{6EAB7A80-3555-4703-9C1F-8FDC51DD3EF0}" srcOrd="2" destOrd="0" presId="urn:microsoft.com/office/officeart/2005/8/layout/StepDownProcess"/>
    <dgm:cxn modelId="{CE61DB2C-FC89-4160-AA02-9FD10FC5A586}" type="presParOf" srcId="{40B01F17-3C9A-4D61-949F-B8A7BC56A7FF}" destId="{3792267E-DFCE-45DB-A62A-F414F4EAA853}" srcOrd="9" destOrd="0" presId="urn:microsoft.com/office/officeart/2005/8/layout/StepDownProcess"/>
    <dgm:cxn modelId="{BAB4C3F1-5F27-44FE-8F9F-1FCF0377BC51}" type="presParOf" srcId="{40B01F17-3C9A-4D61-949F-B8A7BC56A7FF}" destId="{76D030F4-2597-4963-BA17-DD1668600392}" srcOrd="10" destOrd="0" presId="urn:microsoft.com/office/officeart/2005/8/layout/StepDownProcess"/>
    <dgm:cxn modelId="{3FBD611D-EE92-4FED-8D76-D775D920FB17}" type="presParOf" srcId="{76D030F4-2597-4963-BA17-DD1668600392}" destId="{1EFE870D-5A33-4DB3-B00A-3A022D58B4F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9EDFE-4DF2-4681-BAC1-7BA45AA2A8AA}">
      <dsp:nvSpPr>
        <dsp:cNvPr id="0" name=""/>
        <dsp:cNvSpPr/>
      </dsp:nvSpPr>
      <dsp:spPr>
        <a:xfrm rot="5400000">
          <a:off x="1384233" y="700656"/>
          <a:ext cx="603107" cy="68661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8C5E8-BACE-4E50-89BD-CF78CC68860F}">
      <dsp:nvSpPr>
        <dsp:cNvPr id="0" name=""/>
        <dsp:cNvSpPr/>
      </dsp:nvSpPr>
      <dsp:spPr>
        <a:xfrm>
          <a:off x="1224446" y="32098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Configurar entorno Docker</a:t>
          </a:r>
          <a:endParaRPr lang="es-MX" sz="900" kern="1200" dirty="0"/>
        </a:p>
      </dsp:txBody>
      <dsp:txXfrm>
        <a:off x="1259144" y="66796"/>
        <a:ext cx="945882" cy="641266"/>
      </dsp:txXfrm>
    </dsp:sp>
    <dsp:sp modelId="{B288EE2B-9E27-4054-9B41-5F8B77BC95CF}">
      <dsp:nvSpPr>
        <dsp:cNvPr id="0" name=""/>
        <dsp:cNvSpPr/>
      </dsp:nvSpPr>
      <dsp:spPr>
        <a:xfrm>
          <a:off x="2239724" y="99876"/>
          <a:ext cx="738416" cy="574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6B792-C077-44B1-AD4A-5212FDE094BC}">
      <dsp:nvSpPr>
        <dsp:cNvPr id="0" name=""/>
        <dsp:cNvSpPr/>
      </dsp:nvSpPr>
      <dsp:spPr>
        <a:xfrm rot="5400000">
          <a:off x="2226006" y="1498964"/>
          <a:ext cx="603107" cy="68661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6239C-9B06-4F73-B0A4-EC47CA343243}">
      <dsp:nvSpPr>
        <dsp:cNvPr id="0" name=""/>
        <dsp:cNvSpPr/>
      </dsp:nvSpPr>
      <dsp:spPr>
        <a:xfrm>
          <a:off x="2066219" y="830406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Proyecto base Larael 13</a:t>
          </a:r>
          <a:endParaRPr lang="es-MX" sz="900" kern="1200" dirty="0"/>
        </a:p>
      </dsp:txBody>
      <dsp:txXfrm>
        <a:off x="2100917" y="865104"/>
        <a:ext cx="945882" cy="641266"/>
      </dsp:txXfrm>
    </dsp:sp>
    <dsp:sp modelId="{E51FD835-C90B-4BD2-9B3F-452CA57264F2}">
      <dsp:nvSpPr>
        <dsp:cNvPr id="0" name=""/>
        <dsp:cNvSpPr/>
      </dsp:nvSpPr>
      <dsp:spPr>
        <a:xfrm>
          <a:off x="3081498" y="898184"/>
          <a:ext cx="738416" cy="574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96F3EF-782F-4D60-AB76-B51CB6E06AF3}">
      <dsp:nvSpPr>
        <dsp:cNvPr id="0" name=""/>
        <dsp:cNvSpPr/>
      </dsp:nvSpPr>
      <dsp:spPr>
        <a:xfrm rot="5400000">
          <a:off x="3067780" y="2297272"/>
          <a:ext cx="603107" cy="68661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49400-D20A-4618-9BD8-E9632593BF0C}">
      <dsp:nvSpPr>
        <dsp:cNvPr id="0" name=""/>
        <dsp:cNvSpPr/>
      </dsp:nvSpPr>
      <dsp:spPr>
        <a:xfrm>
          <a:off x="2907993" y="1628714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VE" sz="900" kern="1200" dirty="0"/>
            <a:t>Proyecto Laravel+JavaScript</a:t>
          </a:r>
          <a:endParaRPr lang="es-MX" sz="900" kern="1200" dirty="0"/>
        </a:p>
      </dsp:txBody>
      <dsp:txXfrm>
        <a:off x="2942691" y="1663412"/>
        <a:ext cx="945882" cy="641266"/>
      </dsp:txXfrm>
    </dsp:sp>
    <dsp:sp modelId="{0ED61067-FB76-4CC9-BD5C-A8FA8271E1F9}">
      <dsp:nvSpPr>
        <dsp:cNvPr id="0" name=""/>
        <dsp:cNvSpPr/>
      </dsp:nvSpPr>
      <dsp:spPr>
        <a:xfrm>
          <a:off x="3923272" y="1696492"/>
          <a:ext cx="738416" cy="574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4A8EE4-829F-4AF9-943A-95C29895A879}">
      <dsp:nvSpPr>
        <dsp:cNvPr id="0" name=""/>
        <dsp:cNvSpPr/>
      </dsp:nvSpPr>
      <dsp:spPr>
        <a:xfrm rot="5400000">
          <a:off x="3909554" y="3095580"/>
          <a:ext cx="603107" cy="68661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6791E-2445-4881-9687-DCE63187F898}">
      <dsp:nvSpPr>
        <dsp:cNvPr id="0" name=""/>
        <dsp:cNvSpPr/>
      </dsp:nvSpPr>
      <dsp:spPr>
        <a:xfrm>
          <a:off x="3749767" y="2427022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POC Agente Conversacional </a:t>
          </a:r>
        </a:p>
      </dsp:txBody>
      <dsp:txXfrm>
        <a:off x="3784465" y="2461720"/>
        <a:ext cx="945882" cy="641266"/>
      </dsp:txXfrm>
    </dsp:sp>
    <dsp:sp modelId="{1F59196F-330A-4B5D-9958-AC4D67DE38EA}">
      <dsp:nvSpPr>
        <dsp:cNvPr id="0" name=""/>
        <dsp:cNvSpPr/>
      </dsp:nvSpPr>
      <dsp:spPr>
        <a:xfrm>
          <a:off x="4765046" y="2494800"/>
          <a:ext cx="738416" cy="574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39C2B-D3F0-46E5-8C88-5BEA82AF110A}">
      <dsp:nvSpPr>
        <dsp:cNvPr id="0" name=""/>
        <dsp:cNvSpPr/>
      </dsp:nvSpPr>
      <dsp:spPr>
        <a:xfrm rot="5400000">
          <a:off x="4751328" y="3893888"/>
          <a:ext cx="603107" cy="68661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6ED43-9937-459A-B601-B1710F8F14F9}">
      <dsp:nvSpPr>
        <dsp:cNvPr id="0" name=""/>
        <dsp:cNvSpPr/>
      </dsp:nvSpPr>
      <dsp:spPr>
        <a:xfrm>
          <a:off x="4591541" y="3225330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Definir estándares de código </a:t>
          </a:r>
        </a:p>
      </dsp:txBody>
      <dsp:txXfrm>
        <a:off x="4626239" y="3260028"/>
        <a:ext cx="945882" cy="641266"/>
      </dsp:txXfrm>
    </dsp:sp>
    <dsp:sp modelId="{6EAB7A80-3555-4703-9C1F-8FDC51DD3EF0}">
      <dsp:nvSpPr>
        <dsp:cNvPr id="0" name=""/>
        <dsp:cNvSpPr/>
      </dsp:nvSpPr>
      <dsp:spPr>
        <a:xfrm>
          <a:off x="5606820" y="3293108"/>
          <a:ext cx="738416" cy="574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FE870D-5A33-4DB3-B00A-3A022D58B4F2}">
      <dsp:nvSpPr>
        <dsp:cNvPr id="0" name=""/>
        <dsp:cNvSpPr/>
      </dsp:nvSpPr>
      <dsp:spPr>
        <a:xfrm>
          <a:off x="5433315" y="4023639"/>
          <a:ext cx="1015278" cy="71066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Modulos funcionales</a:t>
          </a:r>
          <a:endParaRPr lang="es-MX" sz="900" kern="1200" dirty="0"/>
        </a:p>
      </dsp:txBody>
      <dsp:txXfrm>
        <a:off x="5468013" y="4058337"/>
        <a:ext cx="945882" cy="641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V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V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53E8D7-A3FF-4B7B-B46D-B7DBAA458DD5}" type="slidenum"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V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M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FFA71A-B422-48A3-91B1-8EEEF6E226E4}" type="slidenum">
              <a:rPr lang="es-M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7F4CF-7D72-455A-A5E2-90F54E8001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25C016-B1BE-4F27-9A5A-7EA8404B07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147FE9-6152-4EF7-8941-EFA13A96D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40AB3D2-2811-4AA7-8E05-301A33F24E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666094-8660-4E9E-8505-9631AA5174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1FDCD4-14B8-480E-A957-CA60CE97E3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FCFA37-9D46-438E-AADF-C3445436A7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26B844C-17D3-414D-A55D-508CDDCCDE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CD2A00-166F-42BF-A99F-0016E67206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D1AECB-568C-4084-A2B7-DB5625865A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DBCCF5-1CB9-45E1-8DF3-82E7C6C27F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n 8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-8280" y="1348920"/>
            <a:ext cx="12251160" cy="233280"/>
          </a:xfrm>
          <a:prstGeom prst="rect">
            <a:avLst/>
          </a:prstGeom>
          <a:noFill/>
          <a:ln w="0">
            <a:noFill/>
          </a:ln>
          <a:scene3d>
            <a:camera prst="orthographicFront"/>
            <a:lightRig dir="t" rig="threePt"/>
          </a:scene3d>
          <a:sp3d>
            <a:bevelT prst="artDeco" w="114300"/>
          </a:sp3d>
        </p:spPr>
      </p:pic>
      <p:pic>
        <p:nvPicPr>
          <p:cNvPr id="68" name="Imagen 9"/>
          <p:cNvPicPr/>
          <p:nvPr/>
        </p:nvPicPr>
        <p:blipFill>
          <a:blip r:embed="rId2"/>
          <a:stretch/>
        </p:blipFill>
        <p:spPr>
          <a:xfrm>
            <a:off x="9328680" y="426600"/>
            <a:ext cx="855360" cy="84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15"/>
          <p:cNvSpPr/>
          <p:nvPr/>
        </p:nvSpPr>
        <p:spPr>
          <a:xfrm>
            <a:off x="2784600" y="372240"/>
            <a:ext cx="63381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REPÚBLICA BOLIVARIANA DE VENEZUELA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UNIVERSIDAD NACIONAL EXPERIMENTAL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LAS TELECOMUNICACIONES E INFORMÁTICA (UNETI)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VICERRECTORADO ACADEMICO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PROGRAMA NACIONAL DE FORMACIÓN EN INFORMÁTICA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uadroTexto 11"/>
          <p:cNvSpPr/>
          <p:nvPr/>
        </p:nvSpPr>
        <p:spPr>
          <a:xfrm>
            <a:off x="731520" y="2314800"/>
            <a:ext cx="1097244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VE" sz="1800" b="1" u="none" strike="noStrike">
                <a:solidFill>
                  <a:schemeClr val="dk1"/>
                </a:solidFill>
                <a:effectLst/>
                <a:uFillTx/>
                <a:latin typeface="Google Sans;Roboto"/>
                <a:ea typeface="Google Sans;Roboto"/>
              </a:rPr>
              <a:t>SISTEMA DE INFORMACIÓN WEB RESPONSIVO CON INTEGRACIÓN DE PORTAL INFORMATIVO Y CHATBOT INTERACTIVO CON INTELIGENCIA ARTIFICIAL ORIENTADO A LA OPTIMIZACIÓN DE LA GESTIÓN DE DATOS DE LA ASOCIACIÓN CIVIL (AJUPTEL), REGIÓN CARABOBO</a:t>
            </a:r>
            <a:endParaRPr lang="es-VE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s-VE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.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a 12"/>
          <p:cNvGraphicFramePr/>
          <p:nvPr/>
        </p:nvGraphicFramePr>
        <p:xfrm>
          <a:off x="1699200" y="3934080"/>
          <a:ext cx="9534600" cy="1920960"/>
        </p:xfrm>
        <a:graphic>
          <a:graphicData uri="http://schemas.openxmlformats.org/drawingml/2006/table">
            <a:tbl>
              <a:tblPr/>
              <a:tblGrid>
                <a:gridCol w="4334760"/>
                <a:gridCol w="5199840"/>
              </a:tblGrid>
              <a:tr h="238680"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Tutor Académico: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Autores: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781200"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Ing. Luis Rivas Algueida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s-V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Tutor Institucional: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s-V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Ing. Gabriel Falcón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s-V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Caraballo, Nattier  C.I.- 16.225.080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fr-FR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Linares Jorge Luis C.I.- 4.857.936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fr-FR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López, Cindia C.I.- 13.019.951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r>
                        <a:rPr lang="es-V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Mujica Luis Francisco C.I.- 7.090.613</a:t>
                      </a: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457200">
                        <a:lnSpc>
                          <a:spcPct val="150000"/>
                        </a:lnSpc>
                      </a:pPr>
                      <a:endParaRPr lang="es-V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2" name="Rectángulo 13"/>
          <p:cNvSpPr/>
          <p:nvPr/>
        </p:nvSpPr>
        <p:spPr>
          <a:xfrm>
            <a:off x="4902480" y="6015960"/>
            <a:ext cx="1962720" cy="335520"/>
          </a:xfrm>
          <a:prstGeom prst="rect">
            <a:avLst/>
          </a:prstGeom>
          <a:solidFill>
            <a:srgbClr val="FFFF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Julio 2026</a:t>
            </a:r>
            <a:endParaRPr lang="es-V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n 14"/>
          <p:cNvPicPr/>
          <p:nvPr/>
        </p:nvPicPr>
        <p:blipFill>
          <a:blip r:embed="rId3"/>
          <a:srcRect l="0" t="0" r="4399" b="7205"/>
          <a:stretch/>
        </p:blipFill>
        <p:spPr>
          <a:xfrm>
            <a:off x="1699200" y="351000"/>
            <a:ext cx="1276920" cy="67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30"/>
          <p:cNvSpPr/>
          <p:nvPr/>
        </p:nvSpPr>
        <p:spPr>
          <a:xfrm>
            <a:off x="52200" y="-1152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Kick-off - Lean Inception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274320" y="1005840"/>
            <a:ext cx="5485680" cy="4564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Información del Proyecto</a:t>
            </a:r>
            <a:endParaRPr lang="es-V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274320" y="1554480"/>
            <a:ext cx="1645200" cy="36504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Nombre: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2011680" y="1554480"/>
            <a:ext cx="3748320" cy="36504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Sistema de Información Web Responsive para AJUPTEL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274320" y="2011680"/>
            <a:ext cx="1645200" cy="36504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Cliente: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2011680" y="2011680"/>
            <a:ext cx="3748320" cy="36504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AJUPTEL Carabobo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274320" y="2468880"/>
            <a:ext cx="1645200" cy="36504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Inicio: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2011680" y="2468880"/>
            <a:ext cx="3748320" cy="36504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Febrero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274320" y="2926080"/>
            <a:ext cx="1645200" cy="36504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Finalización: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1"/>
          <p:cNvSpPr/>
          <p:nvPr/>
        </p:nvSpPr>
        <p:spPr>
          <a:xfrm>
            <a:off x="2011680" y="2926080"/>
            <a:ext cx="3748320" cy="36504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03 de julio de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2"/>
          <p:cNvSpPr/>
          <p:nvPr/>
        </p:nvSpPr>
        <p:spPr>
          <a:xfrm>
            <a:off x="6217920" y="1005840"/>
            <a:ext cx="5668560" cy="4564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Participantes</a:t>
            </a:r>
            <a:endParaRPr lang="es-V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3"/>
          <p:cNvSpPr/>
          <p:nvPr/>
        </p:nvSpPr>
        <p:spPr>
          <a:xfrm>
            <a:off x="6217920" y="155448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Patrocinador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8321040" y="155448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Sr. Medardo Guerrero - Presidente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6217920" y="196596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Product Owner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6"/>
          <p:cNvSpPr/>
          <p:nvPr/>
        </p:nvSpPr>
        <p:spPr>
          <a:xfrm>
            <a:off x="8321040" y="196596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TSU. Nattier Caraballo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6217920" y="237744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Scrum Master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8"/>
          <p:cNvSpPr/>
          <p:nvPr/>
        </p:nvSpPr>
        <p:spPr>
          <a:xfrm>
            <a:off x="8321040" y="237744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TSU. Cindia López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19"/>
          <p:cNvSpPr/>
          <p:nvPr/>
        </p:nvSpPr>
        <p:spPr>
          <a:xfrm>
            <a:off x="6217920" y="278892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Desarrollador Backend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0"/>
          <p:cNvSpPr/>
          <p:nvPr/>
        </p:nvSpPr>
        <p:spPr>
          <a:xfrm>
            <a:off x="8321040" y="278892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TSU. Jorge Linares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1"/>
          <p:cNvSpPr/>
          <p:nvPr/>
        </p:nvSpPr>
        <p:spPr>
          <a:xfrm>
            <a:off x="6217920" y="320040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Desarrollador Frontend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2"/>
          <p:cNvSpPr/>
          <p:nvPr/>
        </p:nvSpPr>
        <p:spPr>
          <a:xfrm>
            <a:off x="8321040" y="320040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TSU. Luis Mujica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3"/>
          <p:cNvSpPr/>
          <p:nvPr/>
        </p:nvSpPr>
        <p:spPr>
          <a:xfrm>
            <a:off x="6217920" y="3625560"/>
            <a:ext cx="2010960" cy="3466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Director Tecnología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24"/>
          <p:cNvSpPr/>
          <p:nvPr/>
        </p:nvSpPr>
        <p:spPr>
          <a:xfrm>
            <a:off x="8321040" y="3625560"/>
            <a:ext cx="3565440" cy="3466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Ing. Gabriel Falcón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5"/>
          <p:cNvSpPr/>
          <p:nvPr/>
        </p:nvSpPr>
        <p:spPr>
          <a:xfrm>
            <a:off x="274320" y="4134600"/>
            <a:ext cx="11612160" cy="4564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Agenda del Workshop</a:t>
            </a:r>
            <a:endParaRPr lang="es-V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6"/>
          <p:cNvSpPr/>
          <p:nvPr/>
        </p:nvSpPr>
        <p:spPr>
          <a:xfrm>
            <a:off x="274320" y="46832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Lunes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7"/>
          <p:cNvSpPr/>
          <p:nvPr/>
        </p:nvSpPr>
        <p:spPr>
          <a:xfrm>
            <a:off x="274320" y="5049000"/>
            <a:ext cx="2193840" cy="5479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Kick-off, Visión del Producto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28"/>
          <p:cNvSpPr/>
          <p:nvPr/>
        </p:nvSpPr>
        <p:spPr>
          <a:xfrm>
            <a:off x="2560320" y="46832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Martes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9"/>
          <p:cNvSpPr/>
          <p:nvPr/>
        </p:nvSpPr>
        <p:spPr>
          <a:xfrm>
            <a:off x="2560320" y="5049000"/>
            <a:ext cx="2193840" cy="5479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Personas, Objetivos del Producto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30"/>
          <p:cNvSpPr/>
          <p:nvPr/>
        </p:nvSpPr>
        <p:spPr>
          <a:xfrm>
            <a:off x="4846320" y="46832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Miércoles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1"/>
          <p:cNvSpPr/>
          <p:nvPr/>
        </p:nvSpPr>
        <p:spPr>
          <a:xfrm>
            <a:off x="4846320" y="5049000"/>
            <a:ext cx="2193840" cy="5479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Viajes de Usuario, Brainstorming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32"/>
          <p:cNvSpPr/>
          <p:nvPr/>
        </p:nvSpPr>
        <p:spPr>
          <a:xfrm>
            <a:off x="7132320" y="46832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Jueves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3"/>
          <p:cNvSpPr/>
          <p:nvPr/>
        </p:nvSpPr>
        <p:spPr>
          <a:xfrm>
            <a:off x="7132320" y="5049000"/>
            <a:ext cx="2193840" cy="5479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Revisión Técnica, Secuenciador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4"/>
          <p:cNvSpPr/>
          <p:nvPr/>
        </p:nvSpPr>
        <p:spPr>
          <a:xfrm>
            <a:off x="9418320" y="46832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Viernes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5"/>
          <p:cNvSpPr/>
          <p:nvPr/>
        </p:nvSpPr>
        <p:spPr>
          <a:xfrm>
            <a:off x="9418320" y="5049000"/>
            <a:ext cx="2193840" cy="5479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Canvas MVP, Showcase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36"/>
          <p:cNvSpPr/>
          <p:nvPr/>
        </p:nvSpPr>
        <p:spPr>
          <a:xfrm>
            <a:off x="274320" y="5780520"/>
            <a:ext cx="11612160" cy="36504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Objetivo del Workshop: Centralizar datos de asociados | Automatizar gestión | Mejorar atención a adultos mayores | Integrar IA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Visión del Producto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274320" y="1005840"/>
            <a:ext cx="5485680" cy="410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Plantilla de Visión del Producto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4"/>
          <p:cNvSpPr/>
          <p:nvPr/>
        </p:nvSpPr>
        <p:spPr>
          <a:xfrm>
            <a:off x="274320" y="146304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PARA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5"/>
          <p:cNvSpPr/>
          <p:nvPr/>
        </p:nvSpPr>
        <p:spPr>
          <a:xfrm>
            <a:off x="1691640" y="146304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Asociados jubilados/pensionados de CANTV, personal administrativo y junta directiva de AJUPTEL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6"/>
          <p:cNvSpPr/>
          <p:nvPr/>
        </p:nvSpPr>
        <p:spPr>
          <a:xfrm>
            <a:off x="274320" y="187164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QUIENES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7"/>
          <p:cNvSpPr/>
          <p:nvPr/>
        </p:nvSpPr>
        <p:spPr>
          <a:xfrm>
            <a:off x="1691640" y="187164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Enfrentan gestión de datos fragmentada en Excel, con riesgo de pérdida y lentitud en atención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8"/>
          <p:cNvSpPr/>
          <p:nvPr/>
        </p:nvSpPr>
        <p:spPr>
          <a:xfrm>
            <a:off x="274320" y="227988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NUESTRO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9"/>
          <p:cNvSpPr/>
          <p:nvPr/>
        </p:nvSpPr>
        <p:spPr>
          <a:xfrm>
            <a:off x="1691640" y="227988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Sistema de Información Web Responsive para la Gestión de Datos de AJUPTEL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0"/>
          <p:cNvSpPr/>
          <p:nvPr/>
        </p:nvSpPr>
        <p:spPr>
          <a:xfrm>
            <a:off x="274320" y="270036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11"/>
          <p:cNvSpPr/>
          <p:nvPr/>
        </p:nvSpPr>
        <p:spPr>
          <a:xfrm>
            <a:off x="1691640" y="270036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Plataforma integral de gestión con inteligencia artificial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2"/>
          <p:cNvSpPr/>
          <p:nvPr/>
        </p:nvSpPr>
        <p:spPr>
          <a:xfrm>
            <a:off x="274320" y="310896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3"/>
          <p:cNvSpPr/>
          <p:nvPr/>
        </p:nvSpPr>
        <p:spPr>
          <a:xfrm>
            <a:off x="1691640" y="310896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Centraliza, automatiza y protege información de asociados, familiares, voceros y proveedores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274320" y="351756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DIFERENCIA DE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5"/>
          <p:cNvSpPr/>
          <p:nvPr/>
        </p:nvSpPr>
        <p:spPr>
          <a:xfrm>
            <a:off x="1691640" y="351756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Sistemas de hojas de cálculo manuales y dispersos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16"/>
          <p:cNvSpPr/>
          <p:nvPr/>
        </p:nvSpPr>
        <p:spPr>
          <a:xfrm>
            <a:off x="274320" y="3925800"/>
            <a:ext cx="1370880" cy="3592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NUESTRO PRODUCTO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17"/>
          <p:cNvSpPr/>
          <p:nvPr/>
        </p:nvSpPr>
        <p:spPr>
          <a:xfrm>
            <a:off x="1691640" y="3925800"/>
            <a:ext cx="4068360" cy="35928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Ofrece transformación digital inclusiva con atención digna y eficiente para personas de la tercera edad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8"/>
          <p:cNvSpPr/>
          <p:nvPr/>
        </p:nvSpPr>
        <p:spPr>
          <a:xfrm>
            <a:off x="6217920" y="1005840"/>
            <a:ext cx="5668560" cy="410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Declaración de Visión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9"/>
          <p:cNvSpPr/>
          <p:nvPr/>
        </p:nvSpPr>
        <p:spPr>
          <a:xfrm>
            <a:off x="6217920" y="1463040"/>
            <a:ext cx="5668560" cy="16452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90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"Consolidar a AJUPTEL Carabobo como referente de transformación digital inclusiva, mediante un Sistema de Información web inteligente que automatiza, centraliza y protege su información estratégica, transformando la gestión administrativa en un servicio digno y eficiente para personas de la tercera edad, con experiencia interactiva mediante Inteligencia Artificial."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0"/>
          <p:cNvSpPr/>
          <p:nvPr/>
        </p:nvSpPr>
        <p:spPr>
          <a:xfrm>
            <a:off x="6217920" y="3246120"/>
            <a:ext cx="5668560" cy="41076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Puntos Clave del Producto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21"/>
          <p:cNvSpPr/>
          <p:nvPr/>
        </p:nvSpPr>
        <p:spPr>
          <a:xfrm>
            <a:off x="6217920" y="37033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Gestión integral de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22"/>
          <p:cNvSpPr/>
          <p:nvPr/>
        </p:nvSpPr>
        <p:spPr>
          <a:xfrm>
            <a:off x="9052560" y="37033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Control de familiares y voceros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3"/>
          <p:cNvSpPr/>
          <p:nvPr/>
        </p:nvSpPr>
        <p:spPr>
          <a:xfrm>
            <a:off x="6217920" y="40507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Administración de proveedores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24"/>
          <p:cNvSpPr/>
          <p:nvPr/>
        </p:nvSpPr>
        <p:spPr>
          <a:xfrm>
            <a:off x="9052560" y="40507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Autenticación segura por roles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5"/>
          <p:cNvSpPr/>
          <p:nvPr/>
        </p:nvSpPr>
        <p:spPr>
          <a:xfrm>
            <a:off x="6217920" y="43981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Importación/exportación de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26"/>
          <p:cNvSpPr/>
          <p:nvPr/>
        </p:nvSpPr>
        <p:spPr>
          <a:xfrm>
            <a:off x="9052560" y="439812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Reportes estratégicos ejecutivos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7"/>
          <p:cNvSpPr/>
          <p:nvPr/>
        </p:nvSpPr>
        <p:spPr>
          <a:xfrm>
            <a:off x="6217920" y="474588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Agente conversacional con 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28"/>
          <p:cNvSpPr/>
          <p:nvPr/>
        </p:nvSpPr>
        <p:spPr>
          <a:xfrm>
            <a:off x="9052560" y="474588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Escaneo de documentos móvil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9"/>
          <p:cNvSpPr/>
          <p:nvPr/>
        </p:nvSpPr>
        <p:spPr>
          <a:xfrm>
            <a:off x="6217920" y="509328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Portal web para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30"/>
          <p:cNvSpPr/>
          <p:nvPr/>
        </p:nvSpPr>
        <p:spPr>
          <a:xfrm>
            <a:off x="9052560" y="5093280"/>
            <a:ext cx="274248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Notificaciones push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 Producto ES - NO ES - HACE - NO HACE</a:t>
            </a:r>
            <a:endParaRPr lang="es-V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274320" y="1005840"/>
            <a:ext cx="5668560" cy="4564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ES</a:t>
            </a:r>
            <a:endParaRPr lang="es-V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274320" y="1508760"/>
            <a:ext cx="5668560" cy="20109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2708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Sistema web de gestión de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Plataforma centralizada de información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Interfaz intuitiva y responsiva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Sistema con inteligencia artificial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Portal web institucional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6217920" y="1005840"/>
            <a:ext cx="5668560" cy="456480"/>
          </a:xfrm>
          <a:prstGeom prst="rect">
            <a:avLst/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ES</a:t>
            </a:r>
            <a:endParaRPr lang="es-V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6"/>
          <p:cNvSpPr/>
          <p:nvPr/>
        </p:nvSpPr>
        <p:spPr>
          <a:xfrm>
            <a:off x="6217920" y="1508760"/>
            <a:ext cx="5668560" cy="20109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2708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App móvil nativa (en esta fase)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Gestión de nómina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Sistema de gestión hospitalaria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7"/>
          <p:cNvSpPr/>
          <p:nvPr/>
        </p:nvSpPr>
        <p:spPr>
          <a:xfrm>
            <a:off x="244080" y="3566160"/>
            <a:ext cx="5668560" cy="4564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HACE</a:t>
            </a:r>
            <a:endParaRPr lang="es-V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274320" y="4023360"/>
            <a:ext cx="5668560" cy="2392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2708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Registro de asociados, familiares, voceros y proveedores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Control de acceso por roles (RBAC)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Importación/exportación de datos (Excel, PDF, CSV)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Generación de reportes estratégicos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Escaneo de documentos desde móvil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 con 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Notificaciones push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9"/>
          <p:cNvSpPr/>
          <p:nvPr/>
        </p:nvSpPr>
        <p:spPr>
          <a:xfrm>
            <a:off x="6217920" y="3611880"/>
            <a:ext cx="5668560" cy="456480"/>
          </a:xfrm>
          <a:prstGeom prst="rect">
            <a:avLst/>
          </a:prstGeom>
          <a:solidFill>
            <a:srgbClr val="C86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HACE</a:t>
            </a:r>
            <a:endParaRPr lang="es-VE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0"/>
          <p:cNvSpPr/>
          <p:nvPr/>
        </p:nvSpPr>
        <p:spPr>
          <a:xfrm>
            <a:off x="6217920" y="4160520"/>
            <a:ext cx="5668560" cy="15537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C864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2708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s-VE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Integración con CANTV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s-VE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Gestión de seguros 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s-VE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Gestión Bancaria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Personas del Sistema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Una persona representa a un usuario del producto, describiendo su rol, características y necesidades.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4"/>
          <p:cNvSpPr/>
          <p:nvPr/>
        </p:nvSpPr>
        <p:spPr>
          <a:xfrm>
            <a:off x="182880" y="1281960"/>
            <a:ext cx="2328840" cy="520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182880" y="1281960"/>
            <a:ext cx="2328840" cy="5670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Patrocinador / Presidente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Rol: Ejecutivo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6"/>
          <p:cNvSpPr/>
          <p:nvPr/>
        </p:nvSpPr>
        <p:spPr>
          <a:xfrm>
            <a:off x="259200" y="1846800"/>
            <a:ext cx="2175840" cy="37764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Sr. Medardo Guerrero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7"/>
          <p:cNvSpPr/>
          <p:nvPr/>
        </p:nvSpPr>
        <p:spPr>
          <a:xfrm>
            <a:off x="259200" y="2260440"/>
            <a:ext cx="2175840" cy="283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Perfil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8"/>
          <p:cNvSpPr/>
          <p:nvPr/>
        </p:nvSpPr>
        <p:spPr>
          <a:xfrm>
            <a:off x="259200" y="2579400"/>
            <a:ext cx="2175840" cy="7336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Líder de la asociación, toma decisiones estratégicas, busca mejorar la atención a los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9"/>
          <p:cNvSpPr/>
          <p:nvPr/>
        </p:nvSpPr>
        <p:spPr>
          <a:xfrm>
            <a:off x="259200" y="3362400"/>
            <a:ext cx="2175840" cy="283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Comportamiento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0"/>
          <p:cNvSpPr/>
          <p:nvPr/>
        </p:nvSpPr>
        <p:spPr>
          <a:xfrm>
            <a:off x="259200" y="3632400"/>
            <a:ext cx="2175840" cy="8514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Preocupado por la eficiencia, visibilidad del progreso, protección de datos y mejora tangible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1"/>
          <p:cNvSpPr/>
          <p:nvPr/>
        </p:nvSpPr>
        <p:spPr>
          <a:xfrm>
            <a:off x="259200" y="4452120"/>
            <a:ext cx="2175840" cy="283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Necesidades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2"/>
          <p:cNvSpPr/>
          <p:nvPr/>
        </p:nvSpPr>
        <p:spPr>
          <a:xfrm>
            <a:off x="259200" y="4783320"/>
            <a:ext cx="2175840" cy="16923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Reportes ejecutivos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Visibilidad del proyecto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Mejora en atención a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Toma de decisiones basada en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3"/>
          <p:cNvSpPr/>
          <p:nvPr/>
        </p:nvSpPr>
        <p:spPr>
          <a:xfrm>
            <a:off x="2588760" y="1281960"/>
            <a:ext cx="2328840" cy="520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4"/>
          <p:cNvSpPr/>
          <p:nvPr/>
        </p:nvSpPr>
        <p:spPr>
          <a:xfrm>
            <a:off x="2588760" y="1231560"/>
            <a:ext cx="2328840" cy="56700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Secretaria General /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Rol: Operacional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15"/>
          <p:cNvSpPr/>
          <p:nvPr/>
        </p:nvSpPr>
        <p:spPr>
          <a:xfrm>
            <a:off x="2665080" y="1846800"/>
            <a:ext cx="2175840" cy="37764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Sra. Benilde Domínguez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6"/>
          <p:cNvSpPr/>
          <p:nvPr/>
        </p:nvSpPr>
        <p:spPr>
          <a:xfrm>
            <a:off x="2665080" y="2260440"/>
            <a:ext cx="2175840" cy="2833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Perfil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7"/>
          <p:cNvSpPr/>
          <p:nvPr/>
        </p:nvSpPr>
        <p:spPr>
          <a:xfrm>
            <a:off x="2665080" y="2579400"/>
            <a:ext cx="2175840" cy="7336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Gestiona actas, documentos formales, comunicación con entes externos y registro de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8"/>
          <p:cNvSpPr/>
          <p:nvPr/>
        </p:nvSpPr>
        <p:spPr>
          <a:xfrm>
            <a:off x="2665080" y="3362400"/>
            <a:ext cx="2175840" cy="2833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Comportamiento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9"/>
          <p:cNvSpPr/>
          <p:nvPr/>
        </p:nvSpPr>
        <p:spPr>
          <a:xfrm>
            <a:off x="2665080" y="3632400"/>
            <a:ext cx="2175840" cy="8514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Necesita sistema fácil de usar, consultas rápidas, publicación de información institucional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20"/>
          <p:cNvSpPr/>
          <p:nvPr/>
        </p:nvSpPr>
        <p:spPr>
          <a:xfrm>
            <a:off x="2665080" y="4452120"/>
            <a:ext cx="2175840" cy="2833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Necesidades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21"/>
          <p:cNvSpPr/>
          <p:nvPr/>
        </p:nvSpPr>
        <p:spPr>
          <a:xfrm>
            <a:off x="2665080" y="4783320"/>
            <a:ext cx="2175840" cy="16923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Gestión de datos de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Publicación de información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Automatización de procesos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Reportes rápidos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22"/>
          <p:cNvSpPr/>
          <p:nvPr/>
        </p:nvSpPr>
        <p:spPr>
          <a:xfrm>
            <a:off x="4994280" y="1281960"/>
            <a:ext cx="2328840" cy="520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23"/>
          <p:cNvSpPr/>
          <p:nvPr/>
        </p:nvSpPr>
        <p:spPr>
          <a:xfrm>
            <a:off x="4994280" y="1234440"/>
            <a:ext cx="2328840" cy="56700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Director de Tecnología / 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Rol: Super Admin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5070600" y="1846800"/>
            <a:ext cx="2175840" cy="37764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Ing. Gabriel Falcón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5"/>
          <p:cNvSpPr/>
          <p:nvPr/>
        </p:nvSpPr>
        <p:spPr>
          <a:xfrm>
            <a:off x="5070600" y="2260440"/>
            <a:ext cx="2175840" cy="28332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Perfil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26"/>
          <p:cNvSpPr/>
          <p:nvPr/>
        </p:nvSpPr>
        <p:spPr>
          <a:xfrm>
            <a:off x="5070600" y="2579400"/>
            <a:ext cx="2175840" cy="7336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Profesional técnico, dará soporte futuro al sistema, monitorea la plataforma tecnológica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27"/>
          <p:cNvSpPr/>
          <p:nvPr/>
        </p:nvSpPr>
        <p:spPr>
          <a:xfrm>
            <a:off x="5070600" y="3362400"/>
            <a:ext cx="2175840" cy="28332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Comportamiento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28"/>
          <p:cNvSpPr/>
          <p:nvPr/>
        </p:nvSpPr>
        <p:spPr>
          <a:xfrm>
            <a:off x="5070600" y="3632400"/>
            <a:ext cx="2175840" cy="8514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Metódico, preocupado por la seguridad, estandarización tecnológica y capacitación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29"/>
          <p:cNvSpPr/>
          <p:nvPr/>
        </p:nvSpPr>
        <p:spPr>
          <a:xfrm>
            <a:off x="5070600" y="4452120"/>
            <a:ext cx="2175840" cy="28332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Necesidades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30"/>
          <p:cNvSpPr/>
          <p:nvPr/>
        </p:nvSpPr>
        <p:spPr>
          <a:xfrm>
            <a:off x="5070600" y="4783320"/>
            <a:ext cx="2175840" cy="15930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Capacitación técnica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Soporte futuro del sistema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Monitoreo del funcionamiento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Estandarización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31"/>
          <p:cNvSpPr/>
          <p:nvPr/>
        </p:nvSpPr>
        <p:spPr>
          <a:xfrm>
            <a:off x="7400160" y="1281960"/>
            <a:ext cx="2328840" cy="520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4F81BD">
                <a:lumMod val="75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32"/>
          <p:cNvSpPr/>
          <p:nvPr/>
        </p:nvSpPr>
        <p:spPr>
          <a:xfrm>
            <a:off x="7400160" y="1234440"/>
            <a:ext cx="2328840" cy="567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Personal de alto nivel / 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Rol: Admin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33"/>
          <p:cNvSpPr/>
          <p:nvPr/>
        </p:nvSpPr>
        <p:spPr>
          <a:xfrm>
            <a:off x="7476480" y="1846800"/>
            <a:ext cx="2175840" cy="37764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Personal con roles especiales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34"/>
          <p:cNvSpPr/>
          <p:nvPr/>
        </p:nvSpPr>
        <p:spPr>
          <a:xfrm>
            <a:off x="7476480" y="2260440"/>
            <a:ext cx="2175840" cy="283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Perfil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35"/>
          <p:cNvSpPr/>
          <p:nvPr/>
        </p:nvSpPr>
        <p:spPr>
          <a:xfrm>
            <a:off x="7476480" y="2579400"/>
            <a:ext cx="2175840" cy="7336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Personal que gestionará los roles del Sistema, dara accesos privilegiados a cada usuario segun rol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6"/>
          <p:cNvSpPr/>
          <p:nvPr/>
        </p:nvSpPr>
        <p:spPr>
          <a:xfrm>
            <a:off x="7476480" y="3362400"/>
            <a:ext cx="2175840" cy="283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Comportamiento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37"/>
          <p:cNvSpPr/>
          <p:nvPr/>
        </p:nvSpPr>
        <p:spPr>
          <a:xfrm>
            <a:off x="7476480" y="3632400"/>
            <a:ext cx="2175840" cy="8514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Necesitan interfaz adaptada, para gestionar roles, y gestión administrativa del sistema</a:t>
            </a:r>
            <a:endParaRPr lang="es-V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38"/>
          <p:cNvSpPr/>
          <p:nvPr/>
        </p:nvSpPr>
        <p:spPr>
          <a:xfrm>
            <a:off x="7476480" y="4476240"/>
            <a:ext cx="2175840" cy="283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Necesidades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39"/>
          <p:cNvSpPr/>
          <p:nvPr/>
        </p:nvSpPr>
        <p:spPr>
          <a:xfrm>
            <a:off x="7476480" y="4783320"/>
            <a:ext cx="2175840" cy="169236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Consultar información de los usuarios</a:t>
            </a:r>
            <a:endParaRPr lang="es-V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Dar o quitar acceso a usuarios segun su rol.</a:t>
            </a:r>
            <a:endParaRPr lang="es-V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•Tener acceso al modulo de administracion del sistema</a:t>
            </a:r>
            <a:endParaRPr lang="es-V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Accesibilidad a las funcionalidades del sistema</a:t>
            </a:r>
            <a:endParaRPr lang="es-V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just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31"/>
          <p:cNvSpPr/>
          <p:nvPr/>
        </p:nvSpPr>
        <p:spPr>
          <a:xfrm>
            <a:off x="9795600" y="1271520"/>
            <a:ext cx="2328840" cy="520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32"/>
          <p:cNvSpPr/>
          <p:nvPr/>
        </p:nvSpPr>
        <p:spPr>
          <a:xfrm>
            <a:off x="9795600" y="1224360"/>
            <a:ext cx="2328840" cy="56700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Usuario Final / 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Rol: Asociado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33"/>
          <p:cNvSpPr/>
          <p:nvPr/>
        </p:nvSpPr>
        <p:spPr>
          <a:xfrm>
            <a:off x="9872280" y="1836360"/>
            <a:ext cx="2175840" cy="37764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Asociados Jubilados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4"/>
          <p:cNvSpPr/>
          <p:nvPr/>
        </p:nvSpPr>
        <p:spPr>
          <a:xfrm>
            <a:off x="9872280" y="2250000"/>
            <a:ext cx="2175840" cy="283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Perfil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35"/>
          <p:cNvSpPr/>
          <p:nvPr/>
        </p:nvSpPr>
        <p:spPr>
          <a:xfrm>
            <a:off x="9872280" y="2568960"/>
            <a:ext cx="2175840" cy="7336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Adultos mayores, jubilados de CANTV, necesitan acceso sencillo a su información personal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6"/>
          <p:cNvSpPr/>
          <p:nvPr/>
        </p:nvSpPr>
        <p:spPr>
          <a:xfrm>
            <a:off x="9872280" y="3351960"/>
            <a:ext cx="2175840" cy="283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Comportamiento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37"/>
          <p:cNvSpPr/>
          <p:nvPr/>
        </p:nvSpPr>
        <p:spPr>
          <a:xfrm>
            <a:off x="9872280" y="3622320"/>
            <a:ext cx="2175840" cy="8514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Necesitan interfaz adaptada, botones grandes, texto claro, proceso sencillo de trámites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8"/>
          <p:cNvSpPr/>
          <p:nvPr/>
        </p:nvSpPr>
        <p:spPr>
          <a:xfrm>
            <a:off x="9872280" y="4441680"/>
            <a:ext cx="2175840" cy="283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Necesidades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39"/>
          <p:cNvSpPr/>
          <p:nvPr/>
        </p:nvSpPr>
        <p:spPr>
          <a:xfrm>
            <a:off x="9872280" y="4772880"/>
            <a:ext cx="2175840" cy="15134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101520" rIns="101520" bIns="45000" anchor="ctr">
            <a:noAutofit/>
          </a:bodyPr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Consultar información personal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Enviar documentos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Recibir notificaciones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Objetivos del Producto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Si tuviéramos que resumir el producto en tres objetivos para el negocio, ¿cuáles serían?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Oval 4"/>
          <p:cNvSpPr/>
          <p:nvPr/>
        </p:nvSpPr>
        <p:spPr>
          <a:xfrm>
            <a:off x="365760" y="1371600"/>
            <a:ext cx="639360" cy="6393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V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5"/>
          <p:cNvSpPr/>
          <p:nvPr/>
        </p:nvSpPr>
        <p:spPr>
          <a:xfrm>
            <a:off x="1188720" y="1280160"/>
            <a:ext cx="10514880" cy="10051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90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Centralizar la información de todos los asociados, jubilados, sobrevivientes, familiares, voceros y proveedores en una única base de datos relacional (MySQL), eliminando la dispersión actual en hojas de Excel.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Oval 6"/>
          <p:cNvSpPr/>
          <p:nvPr/>
        </p:nvSpPr>
        <p:spPr>
          <a:xfrm>
            <a:off x="365760" y="2560320"/>
            <a:ext cx="639360" cy="6393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V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7"/>
          <p:cNvSpPr/>
          <p:nvPr/>
        </p:nvSpPr>
        <p:spPr>
          <a:xfrm>
            <a:off x="1188720" y="2468880"/>
            <a:ext cx="10514880" cy="10051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90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Automatizar los procesos de gestión de datos implementando un CRUD completo que sea fácil de usar para el personal administrativo, reduciendo el tiempo de gestión en un 70%.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Oval 8"/>
          <p:cNvSpPr/>
          <p:nvPr/>
        </p:nvSpPr>
        <p:spPr>
          <a:xfrm>
            <a:off x="365760" y="3749040"/>
            <a:ext cx="639360" cy="6393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V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9"/>
          <p:cNvSpPr/>
          <p:nvPr/>
        </p:nvSpPr>
        <p:spPr>
          <a:xfrm>
            <a:off x="1188720" y="3657600"/>
            <a:ext cx="10514880" cy="10051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90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Mejorar la comunicación con los asociados a través de un sistema web responsive accesible desde computador o smartphone, con agente conversacional IA para adultos mayores.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0"/>
          <p:cNvSpPr/>
          <p:nvPr/>
        </p:nvSpPr>
        <p:spPr>
          <a:xfrm>
            <a:off x="274320" y="4937760"/>
            <a:ext cx="11612160" cy="4564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Métricas Clave</a:t>
            </a:r>
            <a:endParaRPr lang="es-V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1"/>
          <p:cNvSpPr/>
          <p:nvPr/>
        </p:nvSpPr>
        <p:spPr>
          <a:xfrm>
            <a:off x="274320" y="5440680"/>
            <a:ext cx="283392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70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70%</a:t>
            </a:r>
            <a:endParaRPr lang="es-V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Reducción en tiempo de gestión administrativa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2"/>
          <p:cNvSpPr/>
          <p:nvPr/>
        </p:nvSpPr>
        <p:spPr>
          <a:xfrm>
            <a:off x="3200400" y="5440680"/>
            <a:ext cx="283392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70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&lt;1%</a:t>
            </a:r>
            <a:endParaRPr lang="es-V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Tasa de errores de registro 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(vs 15% actual)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13"/>
          <p:cNvSpPr/>
          <p:nvPr/>
        </p:nvSpPr>
        <p:spPr>
          <a:xfrm>
            <a:off x="6126480" y="5440680"/>
            <a:ext cx="283392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70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100%</a:t>
            </a:r>
            <a:endParaRPr lang="es-V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Control de datos con historial de modificaciones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4"/>
          <p:cNvSpPr/>
          <p:nvPr/>
        </p:nvSpPr>
        <p:spPr>
          <a:xfrm>
            <a:off x="9052560" y="5440680"/>
            <a:ext cx="283392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2708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24/7</a:t>
            </a:r>
            <a:endParaRPr lang="es-V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Disponibilidad de información para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Viajes de Usuario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El viaje describe el camino que sigue un usuario a través de una secuencia de pasos para alcanzar una meta.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4"/>
          <p:cNvSpPr/>
          <p:nvPr/>
        </p:nvSpPr>
        <p:spPr>
          <a:xfrm>
            <a:off x="182880" y="1280160"/>
            <a:ext cx="3839760" cy="45648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Patrocinador (Presidente)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5"/>
          <p:cNvSpPr/>
          <p:nvPr/>
        </p:nvSpPr>
        <p:spPr>
          <a:xfrm>
            <a:off x="182880" y="1783080"/>
            <a:ext cx="3839760" cy="3650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🎯 Evaluar estado de la asociación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Oval 6"/>
          <p:cNvSpPr/>
          <p:nvPr/>
        </p:nvSpPr>
        <p:spPr>
          <a:xfrm>
            <a:off x="274320" y="2240280"/>
            <a:ext cx="410760" cy="4107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7"/>
          <p:cNvSpPr/>
          <p:nvPr/>
        </p:nvSpPr>
        <p:spPr>
          <a:xfrm>
            <a:off x="777240" y="224028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Iniciar sesión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Login seguro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Oval 8"/>
          <p:cNvSpPr/>
          <p:nvPr/>
        </p:nvSpPr>
        <p:spPr>
          <a:xfrm>
            <a:off x="274320" y="3017520"/>
            <a:ext cx="410760" cy="4107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9"/>
          <p:cNvSpPr/>
          <p:nvPr/>
        </p:nvSpPr>
        <p:spPr>
          <a:xfrm>
            <a:off x="777240" y="301752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Navegar a reportes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Dashboard ejecutivo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Oval 10"/>
          <p:cNvSpPr/>
          <p:nvPr/>
        </p:nvSpPr>
        <p:spPr>
          <a:xfrm>
            <a:off x="274320" y="3794760"/>
            <a:ext cx="410760" cy="4107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1"/>
          <p:cNvSpPr/>
          <p:nvPr/>
        </p:nvSpPr>
        <p:spPr>
          <a:xfrm>
            <a:off x="777240" y="379476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Filtrar por período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Filtros avanzados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Oval 12"/>
          <p:cNvSpPr/>
          <p:nvPr/>
        </p:nvSpPr>
        <p:spPr>
          <a:xfrm>
            <a:off x="274320" y="4572000"/>
            <a:ext cx="410760" cy="4107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3"/>
          <p:cNvSpPr/>
          <p:nvPr/>
        </p:nvSpPr>
        <p:spPr>
          <a:xfrm>
            <a:off x="777240" y="457200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Analizar métricas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Gráficos y KPIs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Oval 14"/>
          <p:cNvSpPr/>
          <p:nvPr/>
        </p:nvSpPr>
        <p:spPr>
          <a:xfrm>
            <a:off x="274320" y="5349240"/>
            <a:ext cx="410760" cy="410760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5"/>
          <p:cNvSpPr/>
          <p:nvPr/>
        </p:nvSpPr>
        <p:spPr>
          <a:xfrm>
            <a:off x="777240" y="534924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Exportar reporte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PDF/Excel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6"/>
          <p:cNvSpPr/>
          <p:nvPr/>
        </p:nvSpPr>
        <p:spPr>
          <a:xfrm>
            <a:off x="4069080" y="1280160"/>
            <a:ext cx="3839760" cy="45648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Secretaria (Administradora)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7"/>
          <p:cNvSpPr/>
          <p:nvPr/>
        </p:nvSpPr>
        <p:spPr>
          <a:xfrm>
            <a:off x="4069080" y="1783080"/>
            <a:ext cx="3839760" cy="3650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🎯 Registrar nuevo asociado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Oval 18"/>
          <p:cNvSpPr/>
          <p:nvPr/>
        </p:nvSpPr>
        <p:spPr>
          <a:xfrm>
            <a:off x="4160520" y="2240280"/>
            <a:ext cx="410760" cy="41076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19"/>
          <p:cNvSpPr/>
          <p:nvPr/>
        </p:nvSpPr>
        <p:spPr>
          <a:xfrm>
            <a:off x="4663440" y="224028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Acceder módulo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Navegación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Oval 20"/>
          <p:cNvSpPr/>
          <p:nvPr/>
        </p:nvSpPr>
        <p:spPr>
          <a:xfrm>
            <a:off x="4160520" y="3017520"/>
            <a:ext cx="410760" cy="41076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21"/>
          <p:cNvSpPr/>
          <p:nvPr/>
        </p:nvSpPr>
        <p:spPr>
          <a:xfrm>
            <a:off x="4663440" y="301752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Completar formulario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Formulario con validaciones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Oval 22"/>
          <p:cNvSpPr/>
          <p:nvPr/>
        </p:nvSpPr>
        <p:spPr>
          <a:xfrm>
            <a:off x="4160520" y="3794760"/>
            <a:ext cx="410760" cy="41076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23"/>
          <p:cNvSpPr/>
          <p:nvPr/>
        </p:nvSpPr>
        <p:spPr>
          <a:xfrm>
            <a:off x="4663440" y="379476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Verificar duplicados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Detección 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Oval 24"/>
          <p:cNvSpPr/>
          <p:nvPr/>
        </p:nvSpPr>
        <p:spPr>
          <a:xfrm>
            <a:off x="4160520" y="4572000"/>
            <a:ext cx="410760" cy="41076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25"/>
          <p:cNvSpPr/>
          <p:nvPr/>
        </p:nvSpPr>
        <p:spPr>
          <a:xfrm>
            <a:off x="4663440" y="457200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Guardar registro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Confirmación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Oval 26"/>
          <p:cNvSpPr/>
          <p:nvPr/>
        </p:nvSpPr>
        <p:spPr>
          <a:xfrm>
            <a:off x="4160520" y="5349240"/>
            <a:ext cx="410760" cy="41076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27"/>
          <p:cNvSpPr/>
          <p:nvPr/>
        </p:nvSpPr>
        <p:spPr>
          <a:xfrm>
            <a:off x="4663440" y="534924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Generar reporte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Exportación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8"/>
          <p:cNvSpPr/>
          <p:nvPr/>
        </p:nvSpPr>
        <p:spPr>
          <a:xfrm>
            <a:off x="7955280" y="1280160"/>
            <a:ext cx="3839760" cy="45648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Asociado (Jubilado)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9"/>
          <p:cNvSpPr/>
          <p:nvPr/>
        </p:nvSpPr>
        <p:spPr>
          <a:xfrm>
            <a:off x="7955280" y="1783080"/>
            <a:ext cx="3839760" cy="3650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🎯 Consultar información personal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Oval 30"/>
          <p:cNvSpPr/>
          <p:nvPr/>
        </p:nvSpPr>
        <p:spPr>
          <a:xfrm>
            <a:off x="8046720" y="2240280"/>
            <a:ext cx="410760" cy="410760"/>
          </a:xfrm>
          <a:prstGeom prst="ellipse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31"/>
          <p:cNvSpPr/>
          <p:nvPr/>
        </p:nvSpPr>
        <p:spPr>
          <a:xfrm>
            <a:off x="8549640" y="224028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Iniciar sesión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Login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Oval 32"/>
          <p:cNvSpPr/>
          <p:nvPr/>
        </p:nvSpPr>
        <p:spPr>
          <a:xfrm>
            <a:off x="8046720" y="3017520"/>
            <a:ext cx="410760" cy="410760"/>
          </a:xfrm>
          <a:prstGeom prst="ellipse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33"/>
          <p:cNvSpPr/>
          <p:nvPr/>
        </p:nvSpPr>
        <p:spPr>
          <a:xfrm>
            <a:off x="8549640" y="301752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Acceder portal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Dashboard personal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Oval 34"/>
          <p:cNvSpPr/>
          <p:nvPr/>
        </p:nvSpPr>
        <p:spPr>
          <a:xfrm>
            <a:off x="8046720" y="3794760"/>
            <a:ext cx="410760" cy="410760"/>
          </a:xfrm>
          <a:prstGeom prst="ellipse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35"/>
          <p:cNvSpPr/>
          <p:nvPr/>
        </p:nvSpPr>
        <p:spPr>
          <a:xfrm>
            <a:off x="8549640" y="379476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Ver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Información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Oval 36"/>
          <p:cNvSpPr/>
          <p:nvPr/>
        </p:nvSpPr>
        <p:spPr>
          <a:xfrm>
            <a:off x="8046720" y="4572000"/>
            <a:ext cx="410760" cy="410760"/>
          </a:xfrm>
          <a:prstGeom prst="ellipse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37"/>
          <p:cNvSpPr/>
          <p:nvPr/>
        </p:nvSpPr>
        <p:spPr>
          <a:xfrm>
            <a:off x="8549640" y="457200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Escanear documento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Cámara móvil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Oval 38"/>
          <p:cNvSpPr/>
          <p:nvPr/>
        </p:nvSpPr>
        <p:spPr>
          <a:xfrm>
            <a:off x="8046720" y="5349240"/>
            <a:ext cx="410760" cy="410760"/>
          </a:xfrm>
          <a:prstGeom prst="ellipse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39"/>
          <p:cNvSpPr/>
          <p:nvPr/>
        </p:nvSpPr>
        <p:spPr>
          <a:xfrm>
            <a:off x="8549640" y="5349240"/>
            <a:ext cx="3153960" cy="63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Enviar documento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Email/Cloud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Brainstorming de Funcionalidades</a:t>
            </a:r>
            <a:endParaRPr lang="es-V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El usuario está tratando de hacer algo, por lo que el producto debe tener una funcionalidad para eso. ¿Qué funcionalidad sería?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"/>
          <p:cNvSpPr/>
          <p:nvPr/>
        </p:nvSpPr>
        <p:spPr>
          <a:xfrm>
            <a:off x="182880" y="1280160"/>
            <a:ext cx="2788200" cy="36504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Gestión de Asociados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5"/>
          <p:cNvSpPr/>
          <p:nvPr/>
        </p:nvSpPr>
        <p:spPr>
          <a:xfrm>
            <a:off x="182880" y="1691640"/>
            <a:ext cx="2788200" cy="1978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Registrar asociado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Editar información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Buscar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Eliminar lógico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Gestionar familiares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Gestionar voceros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Gestionar proveedores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6"/>
          <p:cNvSpPr/>
          <p:nvPr/>
        </p:nvSpPr>
        <p:spPr>
          <a:xfrm>
            <a:off x="3063240" y="1280160"/>
            <a:ext cx="2788200" cy="36504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Autenticación y Seguridad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7"/>
          <p:cNvSpPr/>
          <p:nvPr/>
        </p:nvSpPr>
        <p:spPr>
          <a:xfrm>
            <a:off x="3063240" y="1691640"/>
            <a:ext cx="2788200" cy="1978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Inicio de sesión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Gestión de roles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Control de permisos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Bitácora de accesos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Bloqueo por intentos fallidos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8"/>
          <p:cNvSpPr/>
          <p:nvPr/>
        </p:nvSpPr>
        <p:spPr>
          <a:xfrm>
            <a:off x="5943600" y="1280160"/>
            <a:ext cx="2788200" cy="36504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 y Automatización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9"/>
          <p:cNvSpPr/>
          <p:nvPr/>
        </p:nvSpPr>
        <p:spPr>
          <a:xfrm>
            <a:off x="5943600" y="1691640"/>
            <a:ext cx="2788200" cy="1978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Detección de duplicados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Sugerencias inteligentes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Autocompletado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10"/>
          <p:cNvSpPr/>
          <p:nvPr/>
        </p:nvSpPr>
        <p:spPr>
          <a:xfrm>
            <a:off x="8823960" y="1280160"/>
            <a:ext cx="2788200" cy="365040"/>
          </a:xfrm>
          <a:prstGeom prst="rect">
            <a:avLst/>
          </a:prstGeom>
          <a:solidFill>
            <a:srgbClr val="66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Reportes y Análisis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11"/>
          <p:cNvSpPr/>
          <p:nvPr/>
        </p:nvSpPr>
        <p:spPr>
          <a:xfrm>
            <a:off x="8823960" y="1691640"/>
            <a:ext cx="2788200" cy="1978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Reportes por edad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Crecimiento mensual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Distribución por tipo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Situación social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Exportar múltiples formatos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2"/>
          <p:cNvSpPr/>
          <p:nvPr/>
        </p:nvSpPr>
        <p:spPr>
          <a:xfrm>
            <a:off x="1554480" y="3931920"/>
            <a:ext cx="2788200" cy="365040"/>
          </a:xfrm>
          <a:prstGeom prst="rect">
            <a:avLst/>
          </a:prstGeom>
          <a:solidFill>
            <a:srgbClr val="0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Documentos y Escaneo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13"/>
          <p:cNvSpPr/>
          <p:nvPr/>
        </p:nvSpPr>
        <p:spPr>
          <a:xfrm>
            <a:off x="1554480" y="4343400"/>
            <a:ext cx="2788200" cy="17366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Escaneo móvil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Bandeja digital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Envío por email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Almacenamiento cloud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14"/>
          <p:cNvSpPr/>
          <p:nvPr/>
        </p:nvSpPr>
        <p:spPr>
          <a:xfrm>
            <a:off x="4572000" y="3931920"/>
            <a:ext cx="2788200" cy="365040"/>
          </a:xfrm>
          <a:prstGeom prst="rect">
            <a:avLst/>
          </a:prstGeom>
          <a:solidFill>
            <a:srgbClr val="649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Importación/Exportación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15"/>
          <p:cNvSpPr/>
          <p:nvPr/>
        </p:nvSpPr>
        <p:spPr>
          <a:xfrm>
            <a:off x="4572000" y="4343400"/>
            <a:ext cx="2788200" cy="17366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6495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Importar Excel/PDF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Exportar Excel/PDF/CSV/JSON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Sincronización automática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16"/>
          <p:cNvSpPr/>
          <p:nvPr/>
        </p:nvSpPr>
        <p:spPr>
          <a:xfrm>
            <a:off x="7589520" y="3931920"/>
            <a:ext cx="2788200" cy="365040"/>
          </a:xfrm>
          <a:prstGeom prst="rect">
            <a:avLst/>
          </a:prstGeom>
          <a:solidFill>
            <a:srgbClr val="4682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Web Pública y Notificaciones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17"/>
          <p:cNvSpPr/>
          <p:nvPr/>
        </p:nvSpPr>
        <p:spPr>
          <a:xfrm>
            <a:off x="7589520" y="4343400"/>
            <a:ext cx="2788200" cy="173664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4682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Página informativa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Misión/visión/valores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Notificaciones push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Portal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Priorización de Funcionalidades - MoSCoW</a:t>
            </a:r>
            <a:endParaRPr lang="es-V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3"/>
          <p:cNvSpPr/>
          <p:nvPr/>
        </p:nvSpPr>
        <p:spPr>
          <a:xfrm>
            <a:off x="182880" y="1005840"/>
            <a:ext cx="2833920" cy="456480"/>
          </a:xfrm>
          <a:prstGeom prst="rect">
            <a:avLst/>
          </a:prstGeom>
          <a:solidFill>
            <a:srgbClr val="009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MUST HAVE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4"/>
          <p:cNvSpPr/>
          <p:nvPr/>
        </p:nvSpPr>
        <p:spPr>
          <a:xfrm>
            <a:off x="182880" y="1463040"/>
            <a:ext cx="2833920" cy="2736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Imprescindibles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5"/>
          <p:cNvSpPr/>
          <p:nvPr/>
        </p:nvSpPr>
        <p:spPr>
          <a:xfrm>
            <a:off x="182880" y="1783080"/>
            <a:ext cx="2833920" cy="32911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Autenticación y roles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(Seguridad)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Registrar asociado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(Asociados)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Consultar asociado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(Asociados)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Gestionar familiares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(Asociados)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Importar datos históricos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(Datos)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Página web pública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(Web)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6"/>
          <p:cNvSpPr/>
          <p:nvPr/>
        </p:nvSpPr>
        <p:spPr>
          <a:xfrm>
            <a:off x="3108960" y="1005840"/>
            <a:ext cx="2833920" cy="456480"/>
          </a:xfrm>
          <a:prstGeom prst="rect">
            <a:avLst/>
          </a:prstGeom>
          <a:solidFill>
            <a:srgbClr val="FFA5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SHOULD HAVE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7"/>
          <p:cNvSpPr/>
          <p:nvPr/>
        </p:nvSpPr>
        <p:spPr>
          <a:xfrm>
            <a:off x="3108960" y="1463040"/>
            <a:ext cx="2833920" cy="2736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Importantes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8"/>
          <p:cNvSpPr/>
          <p:nvPr/>
        </p:nvSpPr>
        <p:spPr>
          <a:xfrm>
            <a:off x="3108960" y="1783080"/>
            <a:ext cx="2833920" cy="27882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(IA)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Detección de duplicados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(IA)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Generar reportes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(Reportes)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Escaneo de documentos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(Documentos)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Exportar datos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(Datos)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9"/>
          <p:cNvSpPr/>
          <p:nvPr/>
        </p:nvSpPr>
        <p:spPr>
          <a:xfrm>
            <a:off x="6035040" y="1005840"/>
            <a:ext cx="2833920" cy="456480"/>
          </a:xfrm>
          <a:prstGeom prst="rect">
            <a:avLst/>
          </a:prstGeom>
          <a:solidFill>
            <a:srgbClr val="649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COULD HAVE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10"/>
          <p:cNvSpPr/>
          <p:nvPr/>
        </p:nvSpPr>
        <p:spPr>
          <a:xfrm>
            <a:off x="6035040" y="1463040"/>
            <a:ext cx="2833920" cy="2736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Deseables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11"/>
          <p:cNvSpPr/>
          <p:nvPr/>
        </p:nvSpPr>
        <p:spPr>
          <a:xfrm>
            <a:off x="6035040" y="1783080"/>
            <a:ext cx="2833920" cy="22852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6495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Sugerencias inteligentes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(IA)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Notificaciones push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(Notificaciones)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Bandeja digital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(Documentos)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Sincronización automática</a:t>
            </a:r>
            <a:br>
              <a:rPr sz="1200"/>
            </a:b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   (Datos)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2"/>
          <p:cNvSpPr/>
          <p:nvPr/>
        </p:nvSpPr>
        <p:spPr>
          <a:xfrm>
            <a:off x="8961120" y="1005840"/>
            <a:ext cx="2833920" cy="456480"/>
          </a:xfrm>
          <a:prstGeom prst="rect">
            <a:avLst/>
          </a:prstGeom>
          <a:solidFill>
            <a:srgbClr val="C85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WON'T HAVE</a:t>
            </a:r>
            <a:endParaRPr lang="es-V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13"/>
          <p:cNvSpPr/>
          <p:nvPr/>
        </p:nvSpPr>
        <p:spPr>
          <a:xfrm>
            <a:off x="8961120" y="1463040"/>
            <a:ext cx="2833920" cy="2736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Fuera de alcance 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14"/>
          <p:cNvSpPr/>
          <p:nvPr/>
        </p:nvSpPr>
        <p:spPr>
          <a:xfrm>
            <a:off x="8961120" y="1783080"/>
            <a:ext cx="2833920" cy="228528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52280" rIns="101520" bIns="45000" anchor="ctr">
            <a:noAutofit/>
          </a:bodyPr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App móvil nativa (Fase 2)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Integración con CANTV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Gestión de salud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Aft>
                <a:spcPts val="799"/>
              </a:spcAft>
              <a:buClr>
                <a:srgbClr val="002850"/>
              </a:buClr>
              <a:buFont typeface="Arial"/>
              <a:buChar char="•"/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Gestión social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Revisión Técnica, de Negocio y UX</a:t>
            </a:r>
            <a:endParaRPr lang="es-V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Esta revisión analiza cómo se siente el equipo con respecto a la comprensión técnica, de negocio y de experiencia de usuario de cada funcionalidad.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4"/>
          <p:cNvSpPr/>
          <p:nvPr/>
        </p:nvSpPr>
        <p:spPr>
          <a:xfrm>
            <a:off x="274320" y="1234440"/>
            <a:ext cx="11612160" cy="365040"/>
          </a:xfrm>
          <a:prstGeom prst="roundRect">
            <a:avLst>
              <a:gd name="adj" fmla="val 16667"/>
            </a:avLst>
          </a:prstGeom>
          <a:solidFill>
            <a:srgbClr val="FFF8DC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$ = Valor de Negocio    |    E = Esfuerzo Técnico    |    ♥ = Valor de UX    |    El color y marcado ayudarán a priorizar, estimar y planificar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5"/>
          <p:cNvSpPr/>
          <p:nvPr/>
        </p:nvSpPr>
        <p:spPr>
          <a:xfrm>
            <a:off x="182880" y="169164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6"/>
          <p:cNvSpPr/>
          <p:nvPr/>
        </p:nvSpPr>
        <p:spPr>
          <a:xfrm>
            <a:off x="182880" y="1691640"/>
            <a:ext cx="3839760" cy="410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Registro de asociados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7"/>
          <p:cNvSpPr/>
          <p:nvPr/>
        </p:nvSpPr>
        <p:spPr>
          <a:xfrm>
            <a:off x="274320" y="214884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Permite registrar y gestionar información básica de cada asociado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8"/>
          <p:cNvSpPr/>
          <p:nvPr/>
        </p:nvSpPr>
        <p:spPr>
          <a:xfrm>
            <a:off x="27432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9"/>
          <p:cNvSpPr/>
          <p:nvPr/>
        </p:nvSpPr>
        <p:spPr>
          <a:xfrm>
            <a:off x="150876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10"/>
          <p:cNvSpPr/>
          <p:nvPr/>
        </p:nvSpPr>
        <p:spPr>
          <a:xfrm>
            <a:off x="274320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11"/>
          <p:cNvSpPr/>
          <p:nvPr/>
        </p:nvSpPr>
        <p:spPr>
          <a:xfrm>
            <a:off x="4069080" y="169164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12"/>
          <p:cNvSpPr/>
          <p:nvPr/>
        </p:nvSpPr>
        <p:spPr>
          <a:xfrm>
            <a:off x="4069080" y="1691640"/>
            <a:ext cx="3839760" cy="41076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Autenticación y roles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13"/>
          <p:cNvSpPr/>
          <p:nvPr/>
        </p:nvSpPr>
        <p:spPr>
          <a:xfrm>
            <a:off x="4160520" y="214884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Sistema de login seguro con control de acceso basado en roles (RBAC)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14"/>
          <p:cNvSpPr/>
          <p:nvPr/>
        </p:nvSpPr>
        <p:spPr>
          <a:xfrm>
            <a:off x="416052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5"/>
          <p:cNvSpPr/>
          <p:nvPr/>
        </p:nvSpPr>
        <p:spPr>
          <a:xfrm>
            <a:off x="539496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ounded Rectangle 16"/>
          <p:cNvSpPr/>
          <p:nvPr/>
        </p:nvSpPr>
        <p:spPr>
          <a:xfrm>
            <a:off x="662940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7"/>
          <p:cNvSpPr/>
          <p:nvPr/>
        </p:nvSpPr>
        <p:spPr>
          <a:xfrm>
            <a:off x="7955280" y="169164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18"/>
          <p:cNvSpPr/>
          <p:nvPr/>
        </p:nvSpPr>
        <p:spPr>
          <a:xfrm>
            <a:off x="7955280" y="1691640"/>
            <a:ext cx="3839760" cy="41076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Importación de datos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9"/>
          <p:cNvSpPr/>
          <p:nvPr/>
        </p:nvSpPr>
        <p:spPr>
          <a:xfrm>
            <a:off x="8046720" y="214884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Importación masiva desde Excel y PDF con validaciones automáticas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20"/>
          <p:cNvSpPr/>
          <p:nvPr/>
        </p:nvSpPr>
        <p:spPr>
          <a:xfrm>
            <a:off x="804672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21"/>
          <p:cNvSpPr/>
          <p:nvPr/>
        </p:nvSpPr>
        <p:spPr>
          <a:xfrm>
            <a:off x="928116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22"/>
          <p:cNvSpPr/>
          <p:nvPr/>
        </p:nvSpPr>
        <p:spPr>
          <a:xfrm>
            <a:off x="10515600" y="269748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23"/>
          <p:cNvSpPr/>
          <p:nvPr/>
        </p:nvSpPr>
        <p:spPr>
          <a:xfrm>
            <a:off x="182880" y="384048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24"/>
          <p:cNvSpPr/>
          <p:nvPr/>
        </p:nvSpPr>
        <p:spPr>
          <a:xfrm>
            <a:off x="182880" y="3840480"/>
            <a:ext cx="3839760" cy="4107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Agente conversacional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25"/>
          <p:cNvSpPr/>
          <p:nvPr/>
        </p:nvSpPr>
        <p:spPr>
          <a:xfrm>
            <a:off x="274320" y="429768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Chatbot con IA para asistir a adultos mayores con preguntas prediseñadas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26"/>
          <p:cNvSpPr/>
          <p:nvPr/>
        </p:nvSpPr>
        <p:spPr>
          <a:xfrm>
            <a:off x="27432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27"/>
          <p:cNvSpPr/>
          <p:nvPr/>
        </p:nvSpPr>
        <p:spPr>
          <a:xfrm>
            <a:off x="150876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ounded Rectangle 28"/>
          <p:cNvSpPr/>
          <p:nvPr/>
        </p:nvSpPr>
        <p:spPr>
          <a:xfrm>
            <a:off x="274320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9"/>
          <p:cNvSpPr/>
          <p:nvPr/>
        </p:nvSpPr>
        <p:spPr>
          <a:xfrm>
            <a:off x="4069080" y="384048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30"/>
          <p:cNvSpPr/>
          <p:nvPr/>
        </p:nvSpPr>
        <p:spPr>
          <a:xfrm>
            <a:off x="4069080" y="3840480"/>
            <a:ext cx="3839760" cy="410760"/>
          </a:xfrm>
          <a:prstGeom prst="rect">
            <a:avLst/>
          </a:prstGeom>
          <a:solidFill>
            <a:srgbClr val="66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Escaneo de documentos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31"/>
          <p:cNvSpPr/>
          <p:nvPr/>
        </p:nvSpPr>
        <p:spPr>
          <a:xfrm>
            <a:off x="4160520" y="429768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Captura y mejora de imágenes de documentos desde cámara móvil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ounded Rectangle 32"/>
          <p:cNvSpPr/>
          <p:nvPr/>
        </p:nvSpPr>
        <p:spPr>
          <a:xfrm>
            <a:off x="416052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33"/>
          <p:cNvSpPr/>
          <p:nvPr/>
        </p:nvSpPr>
        <p:spPr>
          <a:xfrm>
            <a:off x="539496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34"/>
          <p:cNvSpPr/>
          <p:nvPr/>
        </p:nvSpPr>
        <p:spPr>
          <a:xfrm>
            <a:off x="662940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35"/>
          <p:cNvSpPr/>
          <p:nvPr/>
        </p:nvSpPr>
        <p:spPr>
          <a:xfrm>
            <a:off x="7955280" y="3840480"/>
            <a:ext cx="383976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6495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36"/>
          <p:cNvSpPr/>
          <p:nvPr/>
        </p:nvSpPr>
        <p:spPr>
          <a:xfrm>
            <a:off x="7955280" y="3840480"/>
            <a:ext cx="3839760" cy="410760"/>
          </a:xfrm>
          <a:prstGeom prst="rect">
            <a:avLst/>
          </a:prstGeom>
          <a:solidFill>
            <a:srgbClr val="649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Reportes ejecutivos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37"/>
          <p:cNvSpPr/>
          <p:nvPr/>
        </p:nvSpPr>
        <p:spPr>
          <a:xfrm>
            <a:off x="8046720" y="4297680"/>
            <a:ext cx="3656880" cy="45648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63360" rIns="101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Generación de reportes estratégicos para la junta directiva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38"/>
          <p:cNvSpPr/>
          <p:nvPr/>
        </p:nvSpPr>
        <p:spPr>
          <a:xfrm>
            <a:off x="804672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4C"/>
                </a:solidFill>
                <a:effectLst/>
                <a:uFillTx/>
                <a:latin typeface="Arial"/>
              </a:rPr>
              <a:t>Negocio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Alto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39"/>
          <p:cNvSpPr/>
          <p:nvPr/>
        </p:nvSpPr>
        <p:spPr>
          <a:xfrm>
            <a:off x="928116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A5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A500"/>
                </a:solidFill>
                <a:effectLst/>
                <a:uFillTx/>
                <a:latin typeface="Arial"/>
              </a:rPr>
              <a:t>Esfuerzo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40"/>
          <p:cNvSpPr/>
          <p:nvPr/>
        </p:nvSpPr>
        <p:spPr>
          <a:xfrm>
            <a:off x="10515600" y="4846320"/>
            <a:ext cx="1142280" cy="822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850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85050"/>
                </a:solidFill>
                <a:effectLst/>
                <a:uFillTx/>
                <a:latin typeface="Arial"/>
              </a:rPr>
              <a:t>UX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Medio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Secuenciador de Funcionalidades</a:t>
            </a:r>
            <a:endParaRPr lang="es-V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El Secuenciador organiza las funcionalidades y la secuencia de validación incremental del producto.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4"/>
          <p:cNvSpPr/>
          <p:nvPr/>
        </p:nvSpPr>
        <p:spPr>
          <a:xfrm>
            <a:off x="457200" y="2560320"/>
            <a:ext cx="11246400" cy="723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6" name="Oval 5"/>
          <p:cNvSpPr/>
          <p:nvPr/>
        </p:nvSpPr>
        <p:spPr>
          <a:xfrm>
            <a:off x="1005840" y="2423160"/>
            <a:ext cx="365040" cy="365040"/>
          </a:xfrm>
          <a:prstGeom prst="ellipse">
            <a:avLst/>
          </a:prstGeom>
          <a:solidFill>
            <a:srgbClr val="0066CC"/>
          </a:solidFill>
          <a:ln w="381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6"/>
          <p:cNvSpPr/>
          <p:nvPr/>
        </p:nvSpPr>
        <p:spPr>
          <a:xfrm>
            <a:off x="274320" y="1280160"/>
            <a:ext cx="21024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MVP Base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Marzo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7"/>
          <p:cNvSpPr/>
          <p:nvPr/>
        </p:nvSpPr>
        <p:spPr>
          <a:xfrm>
            <a:off x="274320" y="2926080"/>
            <a:ext cx="2102400" cy="1690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Autenticación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CRUD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Roles básicos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Web pública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Oval 8"/>
          <p:cNvSpPr/>
          <p:nvPr/>
        </p:nvSpPr>
        <p:spPr>
          <a:xfrm>
            <a:off x="3200400" y="2423160"/>
            <a:ext cx="365040" cy="365040"/>
          </a:xfrm>
          <a:prstGeom prst="ellipse">
            <a:avLst/>
          </a:prstGeom>
          <a:solidFill>
            <a:srgbClr val="0099CC"/>
          </a:solidFill>
          <a:ln w="381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9"/>
          <p:cNvSpPr/>
          <p:nvPr/>
        </p:nvSpPr>
        <p:spPr>
          <a:xfrm>
            <a:off x="2468880" y="1280160"/>
            <a:ext cx="21024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CC"/>
                </a:solidFill>
                <a:effectLst/>
                <a:uFillTx/>
                <a:latin typeface="Arial"/>
              </a:rPr>
              <a:t>Gestión Admin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Abril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10"/>
          <p:cNvSpPr/>
          <p:nvPr/>
        </p:nvSpPr>
        <p:spPr>
          <a:xfrm>
            <a:off x="2468880" y="2926080"/>
            <a:ext cx="2102400" cy="1690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Familiares/Voceros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Importación Excel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Reportes básicos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Proveedores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Oval 11"/>
          <p:cNvSpPr/>
          <p:nvPr/>
        </p:nvSpPr>
        <p:spPr>
          <a:xfrm>
            <a:off x="5394960" y="2423160"/>
            <a:ext cx="365040" cy="365040"/>
          </a:xfrm>
          <a:prstGeom prst="ellipse">
            <a:avLst/>
          </a:prstGeom>
          <a:solidFill>
            <a:srgbClr val="3399FF"/>
          </a:solidFill>
          <a:ln w="381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3" name="Rounded Rectangle 12"/>
          <p:cNvSpPr/>
          <p:nvPr/>
        </p:nvSpPr>
        <p:spPr>
          <a:xfrm>
            <a:off x="4663440" y="1280160"/>
            <a:ext cx="21024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399FF"/>
                </a:solidFill>
                <a:effectLst/>
                <a:uFillTx/>
                <a:latin typeface="Arial"/>
              </a:rPr>
              <a:t>IA y Documentos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Mayo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13"/>
          <p:cNvSpPr/>
          <p:nvPr/>
        </p:nvSpPr>
        <p:spPr>
          <a:xfrm>
            <a:off x="4663440" y="2926080"/>
            <a:ext cx="2102400" cy="1690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Detección duplicados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Escaneo documentos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Exportación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Oval 14"/>
          <p:cNvSpPr/>
          <p:nvPr/>
        </p:nvSpPr>
        <p:spPr>
          <a:xfrm>
            <a:off x="7589520" y="2423160"/>
            <a:ext cx="365040" cy="365040"/>
          </a:xfrm>
          <a:prstGeom prst="ellipse">
            <a:avLst/>
          </a:prstGeom>
          <a:solidFill>
            <a:srgbClr val="009999"/>
          </a:solidFill>
          <a:ln w="381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15"/>
          <p:cNvSpPr/>
          <p:nvPr/>
        </p:nvSpPr>
        <p:spPr>
          <a:xfrm>
            <a:off x="6858000" y="1280160"/>
            <a:ext cx="21024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9999"/>
                </a:solidFill>
                <a:effectLst/>
                <a:uFillTx/>
                <a:latin typeface="Arial"/>
              </a:rPr>
              <a:t>Portal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Junio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16"/>
          <p:cNvSpPr/>
          <p:nvPr/>
        </p:nvSpPr>
        <p:spPr>
          <a:xfrm>
            <a:off x="6858000" y="2926080"/>
            <a:ext cx="2102400" cy="1690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Portal personal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Notificaciones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Bandeja digital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Consulta datos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Oval 17"/>
          <p:cNvSpPr/>
          <p:nvPr/>
        </p:nvSpPr>
        <p:spPr>
          <a:xfrm>
            <a:off x="9784080" y="2423160"/>
            <a:ext cx="365040" cy="365040"/>
          </a:xfrm>
          <a:prstGeom prst="ellipse">
            <a:avLst/>
          </a:prstGeom>
          <a:solidFill>
            <a:srgbClr val="6666CC"/>
          </a:solidFill>
          <a:ln w="381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9" name="Rounded Rectangle 18"/>
          <p:cNvSpPr/>
          <p:nvPr/>
        </p:nvSpPr>
        <p:spPr>
          <a:xfrm>
            <a:off x="9052560" y="1280160"/>
            <a:ext cx="21024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666CC"/>
                </a:solidFill>
                <a:effectLst/>
                <a:uFillTx/>
                <a:latin typeface="Arial"/>
              </a:rPr>
              <a:t>Despliegue Final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Julio 2026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19"/>
          <p:cNvSpPr/>
          <p:nvPr/>
        </p:nvSpPr>
        <p:spPr>
          <a:xfrm>
            <a:off x="9052560" y="2926080"/>
            <a:ext cx="2102400" cy="16909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52280" rIns="101520" bIns="45000" anchor="ctr">
            <a:no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Pruebas finales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Entrega operativa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Soporte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ight Arrow 20"/>
          <p:cNvSpPr/>
          <p:nvPr/>
        </p:nvSpPr>
        <p:spPr>
          <a:xfrm>
            <a:off x="5029200" y="5669280"/>
            <a:ext cx="2735640" cy="547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→ Progreso del Desarrollo →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Canvas MVP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Marco visual que ayuda al equipo a alinear y definir la estrategia MVP, la versión más simple del producto.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4"/>
          <p:cNvSpPr/>
          <p:nvPr/>
        </p:nvSpPr>
        <p:spPr>
          <a:xfrm>
            <a:off x="182880" y="128016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Sistema web responsive que centraliza y automatiza la gestión de datos de asociados con IA para adultos mayores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5"/>
          <p:cNvSpPr/>
          <p:nvPr/>
        </p:nvSpPr>
        <p:spPr>
          <a:xfrm>
            <a:off x="182880" y="1280160"/>
            <a:ext cx="383976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Propuesta de Valor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6"/>
          <p:cNvSpPr/>
          <p:nvPr/>
        </p:nvSpPr>
        <p:spPr>
          <a:xfrm>
            <a:off x="4160520" y="128016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Asociados jubilados/pensionados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Personal administrativo operacional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Junta directiva (ejecutivos)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Familiares de asociados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7"/>
          <p:cNvSpPr/>
          <p:nvPr/>
        </p:nvSpPr>
        <p:spPr>
          <a:xfrm>
            <a:off x="4160520" y="1280160"/>
            <a:ext cx="3839760" cy="3193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Segmentos de Clientes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8"/>
          <p:cNvSpPr/>
          <p:nvPr/>
        </p:nvSpPr>
        <p:spPr>
          <a:xfrm>
            <a:off x="8138160" y="128016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Aplicación web responsive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Acceso móvil/tablet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Soporte técnico presencial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Capacitaciones grupales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9"/>
          <p:cNvSpPr/>
          <p:nvPr/>
        </p:nvSpPr>
        <p:spPr>
          <a:xfrm>
            <a:off x="8138160" y="1280160"/>
            <a:ext cx="3839760" cy="31932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Canales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0"/>
          <p:cNvSpPr/>
          <p:nvPr/>
        </p:nvSpPr>
        <p:spPr>
          <a:xfrm>
            <a:off x="182880" y="283464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Agente conversacional IA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Manuales de usuario adaptados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Soporte técnico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Capacitación personalizada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11"/>
          <p:cNvSpPr/>
          <p:nvPr/>
        </p:nvSpPr>
        <p:spPr>
          <a:xfrm>
            <a:off x="182880" y="2834640"/>
            <a:ext cx="3839760" cy="319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Relaciones con Clientes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12"/>
          <p:cNvSpPr/>
          <p:nvPr/>
        </p:nvSpPr>
        <p:spPr>
          <a:xfrm>
            <a:off x="4160520" y="283464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Financiamiento institucional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Ahorro operativo (eficiencia)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Valor intangible (satisfacción)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13"/>
          <p:cNvSpPr/>
          <p:nvPr/>
        </p:nvSpPr>
        <p:spPr>
          <a:xfrm>
            <a:off x="4160520" y="2834640"/>
            <a:ext cx="3839760" cy="319320"/>
          </a:xfrm>
          <a:prstGeom prst="rect">
            <a:avLst/>
          </a:prstGeom>
          <a:solidFill>
            <a:srgbClr val="66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 Fuentes de Ingresos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14"/>
          <p:cNvSpPr/>
          <p:nvPr/>
        </p:nvSpPr>
        <p:spPr>
          <a:xfrm>
            <a:off x="8138160" y="283464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6495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Equipo de desarrollo (4 personas)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VPS y almacenamiento cloud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Base de datos MySQL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Frameworks Angular/NestJS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15"/>
          <p:cNvSpPr/>
          <p:nvPr/>
        </p:nvSpPr>
        <p:spPr>
          <a:xfrm>
            <a:off x="8138160" y="2834640"/>
            <a:ext cx="3839760" cy="319320"/>
          </a:xfrm>
          <a:prstGeom prst="rect">
            <a:avLst/>
          </a:prstGeom>
          <a:solidFill>
            <a:srgbClr val="6495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6. Recursos Clave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Rounded Rectangle 16"/>
          <p:cNvSpPr/>
          <p:nvPr/>
        </p:nvSpPr>
        <p:spPr>
          <a:xfrm>
            <a:off x="182880" y="438912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4682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Desarrollo de software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Migración de datos históricos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Capacitación de usuarios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Soporte post-implementación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17"/>
          <p:cNvSpPr/>
          <p:nvPr/>
        </p:nvSpPr>
        <p:spPr>
          <a:xfrm>
            <a:off x="182880" y="4389120"/>
            <a:ext cx="3839760" cy="319320"/>
          </a:xfrm>
          <a:prstGeom prst="rect">
            <a:avLst/>
          </a:prstGeom>
          <a:solidFill>
            <a:srgbClr val="4682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7. Actividades Clave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18"/>
          <p:cNvSpPr/>
          <p:nvPr/>
        </p:nvSpPr>
        <p:spPr>
          <a:xfrm>
            <a:off x="4160520" y="4389120"/>
            <a:ext cx="3839760" cy="146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AJUPTEL Carabobo (cliente)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UNETI (universidad)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CANTV (ente externo)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APS - Atención Primaria de Salud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19"/>
          <p:cNvSpPr/>
          <p:nvPr/>
        </p:nvSpPr>
        <p:spPr>
          <a:xfrm>
            <a:off x="4160520" y="4389120"/>
            <a:ext cx="3839760" cy="319320"/>
          </a:xfrm>
          <a:prstGeom prst="rect">
            <a:avLst/>
          </a:prstGeom>
          <a:solidFill>
            <a:srgbClr val="0080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8. Socios Clave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20"/>
          <p:cNvSpPr/>
          <p:nvPr/>
        </p:nvSpPr>
        <p:spPr>
          <a:xfrm>
            <a:off x="8138160" y="4389120"/>
            <a:ext cx="3839760" cy="1782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649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254160" rIns="101520" bIns="101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Servicios profesionales: $24,250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Hosting: $76,80/año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Almacenamiento cloud: $60/año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Capacitación: $300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• Contingencia (10%): $2,649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21"/>
          <p:cNvSpPr/>
          <p:nvPr/>
        </p:nvSpPr>
        <p:spPr>
          <a:xfrm>
            <a:off x="8138160" y="4389120"/>
            <a:ext cx="3839760" cy="319320"/>
          </a:xfrm>
          <a:prstGeom prst="rect">
            <a:avLst/>
          </a:prstGeom>
          <a:solidFill>
            <a:srgbClr val="0064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9. Estructura de Costos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Showcase - Lean Inception</a:t>
            </a:r>
            <a:endParaRPr lang="es-VE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3"/>
          <p:cNvSpPr/>
          <p:nvPr/>
        </p:nvSpPr>
        <p:spPr>
          <a:xfrm>
            <a:off x="274320" y="868680"/>
            <a:ext cx="11612160" cy="319320"/>
          </a:xfrm>
          <a:prstGeom prst="rect">
            <a:avLst/>
          </a:prstGeom>
          <a:solidFill>
            <a:srgbClr val="E6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Resultados del workshop y próximos pasos para el desarrollo del Sistema AJUPTEL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4"/>
          <p:cNvSpPr/>
          <p:nvPr/>
        </p:nvSpPr>
        <p:spPr>
          <a:xfrm>
            <a:off x="274320" y="1280160"/>
            <a:ext cx="5668560" cy="410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Resultados del Workshop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5"/>
          <p:cNvSpPr/>
          <p:nvPr/>
        </p:nvSpPr>
        <p:spPr>
          <a:xfrm>
            <a:off x="274320" y="1737360"/>
            <a:ext cx="5668560" cy="25596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90440" tIns="190440" rIns="127080" bIns="45000" anchor="ctr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Visión del producto definida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Personas identificadas (5 stakeholders)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Objetivos priorizados (6 objetivos)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Viajes de usuario mapeados (3 flujos)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Funcionalidades agrupadas (7 grupos)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Secuenciador definido (5 releases)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Canvas MVP completado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✓ Priorización MoSCoW realizada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6"/>
          <p:cNvSpPr/>
          <p:nvPr/>
        </p:nvSpPr>
        <p:spPr>
          <a:xfrm>
            <a:off x="6217920" y="1280160"/>
            <a:ext cx="5668560" cy="41076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Próximos Pasos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Oval 7"/>
          <p:cNvSpPr/>
          <p:nvPr/>
        </p:nvSpPr>
        <p:spPr>
          <a:xfrm>
            <a:off x="6309360" y="1783080"/>
            <a:ext cx="456480" cy="45648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8"/>
          <p:cNvSpPr/>
          <p:nvPr/>
        </p:nvSpPr>
        <p:spPr>
          <a:xfrm>
            <a:off x="6858000" y="1783080"/>
            <a:ext cx="4937040" cy="7308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Desarrollo MVP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Implementar funcionalidades prioritarias: autenticación, CRUD asociados y web pública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Oval 9"/>
          <p:cNvSpPr/>
          <p:nvPr/>
        </p:nvSpPr>
        <p:spPr>
          <a:xfrm>
            <a:off x="6309360" y="2651760"/>
            <a:ext cx="456480" cy="45648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10"/>
          <p:cNvSpPr/>
          <p:nvPr/>
        </p:nvSpPr>
        <p:spPr>
          <a:xfrm>
            <a:off x="6858000" y="2651760"/>
            <a:ext cx="4937040" cy="7308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Pruebas Piloto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Realizar pruebas con usuarios reales en AJUPTEL Carabobo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Oval 11"/>
          <p:cNvSpPr/>
          <p:nvPr/>
        </p:nvSpPr>
        <p:spPr>
          <a:xfrm>
            <a:off x="6309360" y="3520440"/>
            <a:ext cx="456480" cy="456480"/>
          </a:xfrm>
          <a:prstGeom prst="ellipse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12"/>
          <p:cNvSpPr/>
          <p:nvPr/>
        </p:nvSpPr>
        <p:spPr>
          <a:xfrm>
            <a:off x="6858000" y="3520440"/>
            <a:ext cx="4937040" cy="73080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Iteración y Mejora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Recopilar feedback y ajustar funcionalidades según necesidades reales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13"/>
          <p:cNvSpPr/>
          <p:nvPr/>
        </p:nvSpPr>
        <p:spPr>
          <a:xfrm>
            <a:off x="274320" y="4434840"/>
            <a:ext cx="11612160" cy="4107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Cronograma Estimado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14"/>
          <p:cNvSpPr/>
          <p:nvPr/>
        </p:nvSpPr>
        <p:spPr>
          <a:xfrm>
            <a:off x="274320" y="4892040"/>
            <a:ext cx="2193840" cy="3193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Marzo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15"/>
          <p:cNvSpPr/>
          <p:nvPr/>
        </p:nvSpPr>
        <p:spPr>
          <a:xfrm>
            <a:off x="274320" y="5257800"/>
            <a:ext cx="2193840" cy="319320"/>
          </a:xfrm>
          <a:prstGeom prst="rect">
            <a:avLst/>
          </a:prstGeom>
          <a:solidFill>
            <a:srgbClr val="E6F3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MVP Completo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16"/>
          <p:cNvSpPr/>
          <p:nvPr/>
        </p:nvSpPr>
        <p:spPr>
          <a:xfrm>
            <a:off x="274320" y="5623560"/>
            <a:ext cx="219384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Funcionalidades básicas operativas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7"/>
          <p:cNvSpPr/>
          <p:nvPr/>
        </p:nvSpPr>
        <p:spPr>
          <a:xfrm>
            <a:off x="2560320" y="4892040"/>
            <a:ext cx="2193840" cy="3193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Abril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18"/>
          <p:cNvSpPr/>
          <p:nvPr/>
        </p:nvSpPr>
        <p:spPr>
          <a:xfrm>
            <a:off x="2560320" y="5257800"/>
            <a:ext cx="2193840" cy="319320"/>
          </a:xfrm>
          <a:prstGeom prst="rect">
            <a:avLst/>
          </a:prstGeom>
          <a:solidFill>
            <a:srgbClr val="E6F3FF"/>
          </a:solidFill>
          <a:ln w="127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Incremento 1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19"/>
          <p:cNvSpPr/>
          <p:nvPr/>
        </p:nvSpPr>
        <p:spPr>
          <a:xfrm>
            <a:off x="2560320" y="5623560"/>
            <a:ext cx="219384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Gestión administrativa completa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20"/>
          <p:cNvSpPr/>
          <p:nvPr/>
        </p:nvSpPr>
        <p:spPr>
          <a:xfrm>
            <a:off x="4846320" y="4892040"/>
            <a:ext cx="2193840" cy="319320"/>
          </a:xfrm>
          <a:prstGeom prst="rect">
            <a:avLst/>
          </a:prstGeom>
          <a:solidFill>
            <a:srgbClr val="3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Mayo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21"/>
          <p:cNvSpPr/>
          <p:nvPr/>
        </p:nvSpPr>
        <p:spPr>
          <a:xfrm>
            <a:off x="4846320" y="5257800"/>
            <a:ext cx="2193840" cy="319320"/>
          </a:xfrm>
          <a:prstGeom prst="rect">
            <a:avLst/>
          </a:prstGeom>
          <a:solidFill>
            <a:srgbClr val="E6F3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Incremento 2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22"/>
          <p:cNvSpPr/>
          <p:nvPr/>
        </p:nvSpPr>
        <p:spPr>
          <a:xfrm>
            <a:off x="4846320" y="5623560"/>
            <a:ext cx="219384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IA y escaneo de documentos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23"/>
          <p:cNvSpPr/>
          <p:nvPr/>
        </p:nvSpPr>
        <p:spPr>
          <a:xfrm>
            <a:off x="7132320" y="4892040"/>
            <a:ext cx="2193840" cy="31932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Junio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24"/>
          <p:cNvSpPr/>
          <p:nvPr/>
        </p:nvSpPr>
        <p:spPr>
          <a:xfrm>
            <a:off x="7132320" y="5257800"/>
            <a:ext cx="2193840" cy="319320"/>
          </a:xfrm>
          <a:prstGeom prst="rect">
            <a:avLst/>
          </a:prstGeom>
          <a:solidFill>
            <a:srgbClr val="E6F3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Incremento 3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25"/>
          <p:cNvSpPr/>
          <p:nvPr/>
        </p:nvSpPr>
        <p:spPr>
          <a:xfrm>
            <a:off x="7132320" y="5623560"/>
            <a:ext cx="219384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Portal asociados y notificaciones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26"/>
          <p:cNvSpPr/>
          <p:nvPr/>
        </p:nvSpPr>
        <p:spPr>
          <a:xfrm>
            <a:off x="9418320" y="4892040"/>
            <a:ext cx="2193840" cy="319320"/>
          </a:xfrm>
          <a:prstGeom prst="rect">
            <a:avLst/>
          </a:prstGeom>
          <a:solidFill>
            <a:srgbClr val="66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Julio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27"/>
          <p:cNvSpPr/>
          <p:nvPr/>
        </p:nvSpPr>
        <p:spPr>
          <a:xfrm>
            <a:off x="9418320" y="5257800"/>
            <a:ext cx="2193840" cy="319320"/>
          </a:xfrm>
          <a:prstGeom prst="rect">
            <a:avLst/>
          </a:prstGeom>
          <a:solidFill>
            <a:srgbClr val="E6F3FF"/>
          </a:solidFill>
          <a:ln w="127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Versión Final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28"/>
          <p:cNvSpPr/>
          <p:nvPr/>
        </p:nvSpPr>
        <p:spPr>
          <a:xfrm>
            <a:off x="9418320" y="5623560"/>
            <a:ext cx="219384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850"/>
                </a:solidFill>
                <a:effectLst/>
                <a:uFillTx/>
                <a:latin typeface="Arial"/>
              </a:rPr>
              <a:t>Despliegue y entrega operativa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29"/>
          <p:cNvSpPr/>
          <p:nvPr/>
        </p:nvSpPr>
        <p:spPr>
          <a:xfrm>
            <a:off x="457200" y="6172200"/>
            <a:ext cx="11276640" cy="365040"/>
          </a:xfrm>
          <a:prstGeom prst="roundRect">
            <a:avLst>
              <a:gd name="adj" fmla="val 16667"/>
            </a:avLst>
          </a:prstGeom>
          <a:solidFill>
            <a:srgbClr val="FFF8DC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El Lean Inception ha permitido definir claramente el MVP y la estrategia de desarrollo para AJUPTEL, asegurando que el producto final satisfaga las necesidades reales de los usuarios y genere valor para la asociación.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4"/>
          <p:cNvSpPr/>
          <p:nvPr/>
        </p:nvSpPr>
        <p:spPr>
          <a:xfrm>
            <a:off x="805320" y="822960"/>
            <a:ext cx="10362240" cy="547920"/>
          </a:xfrm>
          <a:prstGeom prst="rect">
            <a:avLst/>
          </a:prstGeom>
          <a:solidFill>
            <a:srgbClr val="0099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Sistema de Información Web Responsive para AJUPTEL, Región Carabobo</a:t>
            </a:r>
            <a:endParaRPr lang="es-VE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/>
          <p:cNvSpPr/>
          <p:nvPr/>
        </p:nvSpPr>
        <p:spPr>
          <a:xfrm>
            <a:off x="618840" y="1439280"/>
            <a:ext cx="4973760" cy="4335120"/>
          </a:xfrm>
          <a:prstGeom prst="roundRect">
            <a:avLst>
              <a:gd name="adj" fmla="val 14080"/>
            </a:avLst>
          </a:prstGeom>
          <a:solidFill>
            <a:srgbClr val="FFFFFF"/>
          </a:solidFill>
          <a:ln w="38100">
            <a:solidFill>
              <a:srgbClr val="3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254160" rIns="254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Visión del producto alineada con las necesidades de AJUPTEL Carabobo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Stakeholders clave identificados y estrategias de comunicación definidas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MVP claramente delimitado con funcionalidades Must Have priorizadas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Arquitectura tecnológica definida: Laravel + Vue.js+ MySQL 8.0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Roadmap de 5 releases desde marzo hasta julio de 2026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Presupuesto estimado: $29,139.00 USD con contingencia del 10%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✓ Enfoque en inclusión digital para adultos mayores con IA conversacional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ounded Rectangle 6"/>
          <p:cNvSpPr/>
          <p:nvPr/>
        </p:nvSpPr>
        <p:spPr>
          <a:xfrm>
            <a:off x="5887440" y="1480680"/>
            <a:ext cx="6175440" cy="335520"/>
          </a:xfrm>
          <a:prstGeom prst="roundRect">
            <a:avLst>
              <a:gd name="adj" fmla="val 16667"/>
            </a:avLst>
          </a:prstGeom>
          <a:solidFill>
            <a:srgbClr val="E6F3FF"/>
          </a:solidFill>
          <a:ln w="25400">
            <a:solidFill>
              <a:srgbClr val="0066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66CC"/>
                </a:solidFill>
                <a:effectLst/>
                <a:uFillTx/>
                <a:latin typeface="Arial"/>
              </a:rPr>
              <a:t>PRÓXIMOS PASOS INMEDIATOS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2"/>
          <p:cNvSpPr/>
          <p:nvPr/>
        </p:nvSpPr>
        <p:spPr>
          <a:xfrm>
            <a:off x="0" y="0"/>
            <a:ext cx="12191040" cy="822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416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MX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Conclusiones y Próximos Pasos</a:t>
            </a:r>
            <a:endParaRPr lang="es-VE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30"/>
          <p:cNvSpPr/>
          <p:nvPr/>
        </p:nvSpPr>
        <p:spPr>
          <a:xfrm>
            <a:off x="0" y="6583680"/>
            <a:ext cx="12191040" cy="2736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Lean Inception - AJUPTEL Carabobo  |  UNETI 2026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0" name="Diagram1"/>
          <p:cNvGraphicFramePr/>
          <p:nvPr>
            <p:extLst>
              <p:ext uri="{D42A27DB-BD31-4B8C-83A1-F6EECF244321}">
                <p14:modId xmlns:p14="http://schemas.microsoft.com/office/powerpoint/2010/main" val="1005255235"/>
              </p:ext>
            </p:extLst>
          </p:nvPr>
        </p:nvGraphicFramePr>
        <p:xfrm>
          <a:off x="4925160" y="1816920"/>
          <a:ext cx="7672680" cy="4766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Application>LibreOffice/26.2.5.2$Windows_X86_64 LibreOffice_project/cd7284b4cbbfeb507e630c1aac019f4157393acb</Application>
  <AppVersion>15.0000</AppVersion>
  <Words>2415</Words>
  <Paragraphs>503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es-VE</dc:language>
  <cp:lastModifiedBy/>
  <dcterms:modified xsi:type="dcterms:W3CDTF">2026-08-29T00:00:08Z</dcterms:modified>
  <cp:revision>16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Panorámica</vt:lpwstr>
  </property>
  <property fmtid="{D5CDD505-2E9C-101B-9397-08002B2CF9AE}" pid="4" name="Slides">
    <vt:i4>14</vt:i4>
  </property>
</Properties>
</file>