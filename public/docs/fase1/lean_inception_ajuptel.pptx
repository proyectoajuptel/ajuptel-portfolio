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3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8922C1-3B63-48F0-9578-87AD9D7DC425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</dgm:pt>
    <dgm:pt modelId="{61493317-CF6A-4778-B55D-03EBB8935657}">
      <dgm:prSet phldrT="[Texto]"/>
      <dgm:spPr/>
      <dgm:t>
        <a:bodyPr/>
        <a:lstStyle/>
        <a:p>
          <a:r>
            <a:rPr lang="pt-BR" dirty="0"/>
            <a:t>Configurar entorno Docker</a:t>
          </a:r>
          <a:endParaRPr lang="es-MX" dirty="0"/>
        </a:p>
      </dgm:t>
    </dgm:pt>
    <dgm:pt modelId="{78B80C3B-8837-40FC-8980-E4AAEFFB1735}" type="parTrans" cxnId="{89F511E0-0800-4E92-B83E-CC4C3432BC83}">
      <dgm:prSet/>
      <dgm:spPr/>
      <dgm:t>
        <a:bodyPr/>
        <a:lstStyle/>
        <a:p>
          <a:endParaRPr lang="es-MX"/>
        </a:p>
      </dgm:t>
    </dgm:pt>
    <dgm:pt modelId="{349DAE77-B8B5-442A-B4C1-AB08F3B48BEF}" type="sibTrans" cxnId="{89F511E0-0800-4E92-B83E-CC4C3432BC83}">
      <dgm:prSet/>
      <dgm:spPr/>
      <dgm:t>
        <a:bodyPr/>
        <a:lstStyle/>
        <a:p>
          <a:endParaRPr lang="es-MX"/>
        </a:p>
      </dgm:t>
    </dgm:pt>
    <dgm:pt modelId="{3C8F2F3D-86EA-4EDF-BC7E-883866287D65}">
      <dgm:prSet phldrT="[Texto]"/>
      <dgm:spPr/>
      <dgm:t>
        <a:bodyPr/>
        <a:lstStyle/>
        <a:p>
          <a:r>
            <a:rPr lang="pt-BR" dirty="0"/>
            <a:t>Proyecto base Larael 13</a:t>
          </a:r>
          <a:endParaRPr lang="es-MX" dirty="0"/>
        </a:p>
      </dgm:t>
    </dgm:pt>
    <dgm:pt modelId="{749240DD-DD36-4DD3-B344-7F1F0E813FC4}" type="parTrans" cxnId="{C03D4C87-8ABF-4FA7-9F92-2729C5EC675A}">
      <dgm:prSet/>
      <dgm:spPr/>
      <dgm:t>
        <a:bodyPr/>
        <a:lstStyle/>
        <a:p>
          <a:endParaRPr lang="es-MX"/>
        </a:p>
      </dgm:t>
    </dgm:pt>
    <dgm:pt modelId="{BB1686C4-8F85-4D89-9CDE-634C34B91CC5}" type="sibTrans" cxnId="{C03D4C87-8ABF-4FA7-9F92-2729C5EC675A}">
      <dgm:prSet/>
      <dgm:spPr/>
      <dgm:t>
        <a:bodyPr/>
        <a:lstStyle/>
        <a:p>
          <a:endParaRPr lang="es-MX"/>
        </a:p>
      </dgm:t>
    </dgm:pt>
    <dgm:pt modelId="{8DF2DBCA-1673-471F-B112-69C7C3C65ED7}">
      <dgm:prSet/>
      <dgm:spPr/>
      <dgm:t>
        <a:bodyPr/>
        <a:lstStyle/>
        <a:p>
          <a:r>
            <a:rPr lang="es-MX" dirty="0"/>
            <a:t>POC Agente Conversacional </a:t>
          </a:r>
        </a:p>
      </dgm:t>
    </dgm:pt>
    <dgm:pt modelId="{FD787FD2-678A-4958-8CBC-97F17F1C4391}" type="parTrans" cxnId="{C4C8E8E9-5BDB-41BE-9FE3-F9448AC625C6}">
      <dgm:prSet/>
      <dgm:spPr/>
      <dgm:t>
        <a:bodyPr/>
        <a:lstStyle/>
        <a:p>
          <a:endParaRPr lang="es-MX"/>
        </a:p>
      </dgm:t>
    </dgm:pt>
    <dgm:pt modelId="{F3E50554-42E3-4CC7-B9E7-E973F966AD29}" type="sibTrans" cxnId="{C4C8E8E9-5BDB-41BE-9FE3-F9448AC625C6}">
      <dgm:prSet/>
      <dgm:spPr/>
      <dgm:t>
        <a:bodyPr/>
        <a:lstStyle/>
        <a:p>
          <a:endParaRPr lang="es-MX"/>
        </a:p>
      </dgm:t>
    </dgm:pt>
    <dgm:pt modelId="{F5BBFD1C-740E-44F9-AF02-AF03924750C4}">
      <dgm:prSet phldrT="[Texto]"/>
      <dgm:spPr/>
      <dgm:t>
        <a:bodyPr/>
        <a:lstStyle/>
        <a:p>
          <a:r>
            <a:rPr lang="es-VE" dirty="0"/>
            <a:t>Proyecto Laravel+JavaScript</a:t>
          </a:r>
          <a:endParaRPr lang="es-MX" dirty="0"/>
        </a:p>
      </dgm:t>
    </dgm:pt>
    <dgm:pt modelId="{2BE143BC-5918-4CD2-823A-FBCB00B819B4}" type="sibTrans" cxnId="{344AD1B3-7121-481D-AB81-F4B6A0397AF2}">
      <dgm:prSet/>
      <dgm:spPr/>
      <dgm:t>
        <a:bodyPr/>
        <a:lstStyle/>
        <a:p>
          <a:endParaRPr lang="es-MX"/>
        </a:p>
      </dgm:t>
    </dgm:pt>
    <dgm:pt modelId="{4B3B1FFF-CF70-441A-A686-83208459DD9E}" type="parTrans" cxnId="{344AD1B3-7121-481D-AB81-F4B6A0397AF2}">
      <dgm:prSet/>
      <dgm:spPr/>
      <dgm:t>
        <a:bodyPr/>
        <a:lstStyle/>
        <a:p>
          <a:endParaRPr lang="es-MX"/>
        </a:p>
      </dgm:t>
    </dgm:pt>
    <dgm:pt modelId="{668C33A3-BB43-4DEB-A238-8E69DE0C00A2}">
      <dgm:prSet/>
      <dgm:spPr/>
      <dgm:t>
        <a:bodyPr/>
        <a:lstStyle/>
        <a:p>
          <a:r>
            <a:rPr lang="es-MX" dirty="0"/>
            <a:t>Definir estándares de código </a:t>
          </a:r>
        </a:p>
      </dgm:t>
    </dgm:pt>
    <dgm:pt modelId="{D3613E99-8EF1-47E8-AF3E-F93B04C0F718}" type="parTrans" cxnId="{1F1CFB1A-968F-4112-8C7C-3BDF490A648B}">
      <dgm:prSet/>
      <dgm:spPr/>
      <dgm:t>
        <a:bodyPr/>
        <a:lstStyle/>
        <a:p>
          <a:endParaRPr lang="es-MX"/>
        </a:p>
      </dgm:t>
    </dgm:pt>
    <dgm:pt modelId="{98226819-1BE0-442C-B464-E61C22EF5612}" type="sibTrans" cxnId="{1F1CFB1A-968F-4112-8C7C-3BDF490A648B}">
      <dgm:prSet/>
      <dgm:spPr/>
      <dgm:t>
        <a:bodyPr/>
        <a:lstStyle/>
        <a:p>
          <a:endParaRPr lang="es-MX"/>
        </a:p>
      </dgm:t>
    </dgm:pt>
    <dgm:pt modelId="{58110DA2-69F2-4961-BDF4-C5EB75B1AC6D}">
      <dgm:prSet/>
      <dgm:spPr/>
      <dgm:t>
        <a:bodyPr/>
        <a:lstStyle/>
        <a:p>
          <a:r>
            <a:rPr lang="en-US" dirty="0"/>
            <a:t>Modulos funcionales</a:t>
          </a:r>
          <a:endParaRPr lang="es-MX" dirty="0"/>
        </a:p>
      </dgm:t>
    </dgm:pt>
    <dgm:pt modelId="{3620FA00-0485-4415-9C07-B72A8A6F3AC5}" type="parTrans" cxnId="{930658A0-8224-4545-8F8C-F908FC4DB558}">
      <dgm:prSet/>
      <dgm:spPr/>
      <dgm:t>
        <a:bodyPr/>
        <a:lstStyle/>
        <a:p>
          <a:endParaRPr lang="es-MX"/>
        </a:p>
      </dgm:t>
    </dgm:pt>
    <dgm:pt modelId="{7AE88F92-7E90-4E48-8284-96B7C9133560}" type="sibTrans" cxnId="{930658A0-8224-4545-8F8C-F908FC4DB558}">
      <dgm:prSet/>
      <dgm:spPr/>
      <dgm:t>
        <a:bodyPr/>
        <a:lstStyle/>
        <a:p>
          <a:endParaRPr lang="es-MX"/>
        </a:p>
      </dgm:t>
    </dgm:pt>
    <dgm:pt modelId="{40B01F17-3C9A-4D61-949F-B8A7BC56A7FF}" type="pres">
      <dgm:prSet presAssocID="{0B8922C1-3B63-48F0-9578-87AD9D7DC425}" presName="rootnode" presStyleCnt="0">
        <dgm:presLayoutVars>
          <dgm:chMax/>
          <dgm:chPref/>
          <dgm:dir/>
          <dgm:animLvl val="lvl"/>
        </dgm:presLayoutVars>
      </dgm:prSet>
      <dgm:spPr/>
    </dgm:pt>
    <dgm:pt modelId="{D534F053-C9B6-4261-8E98-747DC8C5D685}" type="pres">
      <dgm:prSet presAssocID="{61493317-CF6A-4778-B55D-03EBB8935657}" presName="composite" presStyleCnt="0"/>
      <dgm:spPr/>
    </dgm:pt>
    <dgm:pt modelId="{93A9EDFE-4DF2-4681-BAC1-7BA45AA2A8AA}" type="pres">
      <dgm:prSet presAssocID="{61493317-CF6A-4778-B55D-03EBB8935657}" presName="bentUpArrow1" presStyleLbl="alignImgPlace1" presStyleIdx="0" presStyleCnt="5"/>
      <dgm:spPr/>
    </dgm:pt>
    <dgm:pt modelId="{FD08C5E8-BACE-4E50-89BD-CF78CC68860F}" type="pres">
      <dgm:prSet presAssocID="{61493317-CF6A-4778-B55D-03EBB8935657}" presName="ParentText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B288EE2B-9E27-4054-9B41-5F8B77BC95CF}" type="pres">
      <dgm:prSet presAssocID="{61493317-CF6A-4778-B55D-03EBB8935657}" presName="ChildText" presStyleLbl="revTx" presStyleIdx="0" presStyleCnt="5">
        <dgm:presLayoutVars>
          <dgm:chMax val="0"/>
          <dgm:chPref val="0"/>
          <dgm:bulletEnabled val="1"/>
        </dgm:presLayoutVars>
      </dgm:prSet>
      <dgm:spPr/>
    </dgm:pt>
    <dgm:pt modelId="{D57776D0-9285-4133-97B2-A124C183C263}" type="pres">
      <dgm:prSet presAssocID="{349DAE77-B8B5-442A-B4C1-AB08F3B48BEF}" presName="sibTrans" presStyleCnt="0"/>
      <dgm:spPr/>
    </dgm:pt>
    <dgm:pt modelId="{B68D25BC-4ED8-4EAD-9BF8-E9C96887E538}" type="pres">
      <dgm:prSet presAssocID="{3C8F2F3D-86EA-4EDF-BC7E-883866287D65}" presName="composite" presStyleCnt="0"/>
      <dgm:spPr/>
    </dgm:pt>
    <dgm:pt modelId="{76E6B792-C077-44B1-AD4A-5212FDE094BC}" type="pres">
      <dgm:prSet presAssocID="{3C8F2F3D-86EA-4EDF-BC7E-883866287D65}" presName="bentUpArrow1" presStyleLbl="alignImgPlace1" presStyleIdx="1" presStyleCnt="5"/>
      <dgm:spPr/>
    </dgm:pt>
    <dgm:pt modelId="{BC26239C-9B06-4F73-B0A4-EC47CA343243}" type="pres">
      <dgm:prSet presAssocID="{3C8F2F3D-86EA-4EDF-BC7E-883866287D65}" presName="ParentText" presStyleLbl="node1" presStyleIdx="1" presStyleCnt="6">
        <dgm:presLayoutVars>
          <dgm:chMax val="1"/>
          <dgm:chPref val="1"/>
          <dgm:bulletEnabled val="1"/>
        </dgm:presLayoutVars>
      </dgm:prSet>
      <dgm:spPr/>
    </dgm:pt>
    <dgm:pt modelId="{E51FD835-C90B-4BD2-9B3F-452CA57264F2}" type="pres">
      <dgm:prSet presAssocID="{3C8F2F3D-86EA-4EDF-BC7E-883866287D65}" presName="ChildText" presStyleLbl="revTx" presStyleIdx="1" presStyleCnt="5">
        <dgm:presLayoutVars>
          <dgm:chMax val="0"/>
          <dgm:chPref val="0"/>
          <dgm:bulletEnabled val="1"/>
        </dgm:presLayoutVars>
      </dgm:prSet>
      <dgm:spPr/>
    </dgm:pt>
    <dgm:pt modelId="{FB935DC9-F818-444F-8578-4FEC9C0D1470}" type="pres">
      <dgm:prSet presAssocID="{BB1686C4-8F85-4D89-9CDE-634C34B91CC5}" presName="sibTrans" presStyleCnt="0"/>
      <dgm:spPr/>
    </dgm:pt>
    <dgm:pt modelId="{86AC0F16-57BC-4B27-B437-A6E6C5CD5265}" type="pres">
      <dgm:prSet presAssocID="{F5BBFD1C-740E-44F9-AF02-AF03924750C4}" presName="composite" presStyleCnt="0"/>
      <dgm:spPr/>
    </dgm:pt>
    <dgm:pt modelId="{CE96F3EF-782F-4D60-AB76-B51CB6E06AF3}" type="pres">
      <dgm:prSet presAssocID="{F5BBFD1C-740E-44F9-AF02-AF03924750C4}" presName="bentUpArrow1" presStyleLbl="alignImgPlace1" presStyleIdx="2" presStyleCnt="5"/>
      <dgm:spPr/>
    </dgm:pt>
    <dgm:pt modelId="{36E49400-D20A-4618-9BD8-E9632593BF0C}" type="pres">
      <dgm:prSet presAssocID="{F5BBFD1C-740E-44F9-AF02-AF03924750C4}" presName="ParentText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0ED61067-FB76-4CC9-BD5C-A8FA8271E1F9}" type="pres">
      <dgm:prSet presAssocID="{F5BBFD1C-740E-44F9-AF02-AF03924750C4}" presName="ChildText" presStyleLbl="revTx" presStyleIdx="2" presStyleCnt="5">
        <dgm:presLayoutVars>
          <dgm:chMax val="0"/>
          <dgm:chPref val="0"/>
          <dgm:bulletEnabled val="1"/>
        </dgm:presLayoutVars>
      </dgm:prSet>
      <dgm:spPr/>
    </dgm:pt>
    <dgm:pt modelId="{2FA50507-4E7F-403D-8055-8C33BC5AFA8C}" type="pres">
      <dgm:prSet presAssocID="{2BE143BC-5918-4CD2-823A-FBCB00B819B4}" presName="sibTrans" presStyleCnt="0"/>
      <dgm:spPr/>
    </dgm:pt>
    <dgm:pt modelId="{8AABE713-0495-40E8-BD6A-C8D6F1C8D664}" type="pres">
      <dgm:prSet presAssocID="{8DF2DBCA-1673-471F-B112-69C7C3C65ED7}" presName="composite" presStyleCnt="0"/>
      <dgm:spPr/>
    </dgm:pt>
    <dgm:pt modelId="{FD4A8EE4-829F-4AF9-943A-95C29895A879}" type="pres">
      <dgm:prSet presAssocID="{8DF2DBCA-1673-471F-B112-69C7C3C65ED7}" presName="bentUpArrow1" presStyleLbl="alignImgPlace1" presStyleIdx="3" presStyleCnt="5"/>
      <dgm:spPr/>
    </dgm:pt>
    <dgm:pt modelId="{8626791E-2445-4881-9687-DCE63187F898}" type="pres">
      <dgm:prSet presAssocID="{8DF2DBCA-1673-471F-B112-69C7C3C65ED7}" presName="ParentText" presStyleLbl="node1" presStyleIdx="3" presStyleCnt="6">
        <dgm:presLayoutVars>
          <dgm:chMax val="1"/>
          <dgm:chPref val="1"/>
          <dgm:bulletEnabled val="1"/>
        </dgm:presLayoutVars>
      </dgm:prSet>
      <dgm:spPr/>
    </dgm:pt>
    <dgm:pt modelId="{1F59196F-330A-4B5D-9958-AC4D67DE38EA}" type="pres">
      <dgm:prSet presAssocID="{8DF2DBCA-1673-471F-B112-69C7C3C65ED7}" presName="ChildText" presStyleLbl="revTx" presStyleIdx="3" presStyleCnt="5">
        <dgm:presLayoutVars>
          <dgm:chMax val="0"/>
          <dgm:chPref val="0"/>
          <dgm:bulletEnabled val="1"/>
        </dgm:presLayoutVars>
      </dgm:prSet>
      <dgm:spPr/>
    </dgm:pt>
    <dgm:pt modelId="{C842901A-E389-45B5-8C0A-786847B06448}" type="pres">
      <dgm:prSet presAssocID="{F3E50554-42E3-4CC7-B9E7-E973F966AD29}" presName="sibTrans" presStyleCnt="0"/>
      <dgm:spPr/>
    </dgm:pt>
    <dgm:pt modelId="{09F63EEE-2252-4A02-B62E-3081C3F0F2D9}" type="pres">
      <dgm:prSet presAssocID="{668C33A3-BB43-4DEB-A238-8E69DE0C00A2}" presName="composite" presStyleCnt="0"/>
      <dgm:spPr/>
    </dgm:pt>
    <dgm:pt modelId="{B4B39C2B-D3F0-46E5-8C88-5BEA82AF110A}" type="pres">
      <dgm:prSet presAssocID="{668C33A3-BB43-4DEB-A238-8E69DE0C00A2}" presName="bentUpArrow1" presStyleLbl="alignImgPlace1" presStyleIdx="4" presStyleCnt="5"/>
      <dgm:spPr/>
    </dgm:pt>
    <dgm:pt modelId="{E476ED43-9937-459A-B601-B1710F8F14F9}" type="pres">
      <dgm:prSet presAssocID="{668C33A3-BB43-4DEB-A238-8E69DE0C00A2}" presName="ParentText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6EAB7A80-3555-4703-9C1F-8FDC51DD3EF0}" type="pres">
      <dgm:prSet presAssocID="{668C33A3-BB43-4DEB-A238-8E69DE0C00A2}" presName="ChildText" presStyleLbl="revTx" presStyleIdx="4" presStyleCnt="5">
        <dgm:presLayoutVars>
          <dgm:chMax val="0"/>
          <dgm:chPref val="0"/>
          <dgm:bulletEnabled val="1"/>
        </dgm:presLayoutVars>
      </dgm:prSet>
      <dgm:spPr/>
    </dgm:pt>
    <dgm:pt modelId="{3792267E-DFCE-45DB-A62A-F414F4EAA853}" type="pres">
      <dgm:prSet presAssocID="{98226819-1BE0-442C-B464-E61C22EF5612}" presName="sibTrans" presStyleCnt="0"/>
      <dgm:spPr/>
    </dgm:pt>
    <dgm:pt modelId="{76D030F4-2597-4963-BA17-DD1668600392}" type="pres">
      <dgm:prSet presAssocID="{58110DA2-69F2-4961-BDF4-C5EB75B1AC6D}" presName="composite" presStyleCnt="0"/>
      <dgm:spPr/>
    </dgm:pt>
    <dgm:pt modelId="{1EFE870D-5A33-4DB3-B00A-3A022D58B4F2}" type="pres">
      <dgm:prSet presAssocID="{58110DA2-69F2-4961-BDF4-C5EB75B1AC6D}" presName="ParentText" presStyleLbl="node1" presStyleIdx="5" presStyleCnt="6">
        <dgm:presLayoutVars>
          <dgm:chMax val="1"/>
          <dgm:chPref val="1"/>
          <dgm:bulletEnabled val="1"/>
        </dgm:presLayoutVars>
      </dgm:prSet>
      <dgm:spPr/>
    </dgm:pt>
  </dgm:ptLst>
  <dgm:cxnLst>
    <dgm:cxn modelId="{CDF1800B-B50A-44BB-8651-DF3C53866799}" type="presOf" srcId="{3C8F2F3D-86EA-4EDF-BC7E-883866287D65}" destId="{BC26239C-9B06-4F73-B0A4-EC47CA343243}" srcOrd="0" destOrd="0" presId="urn:microsoft.com/office/officeart/2005/8/layout/StepDownProcess"/>
    <dgm:cxn modelId="{1F1CFB1A-968F-4112-8C7C-3BDF490A648B}" srcId="{0B8922C1-3B63-48F0-9578-87AD9D7DC425}" destId="{668C33A3-BB43-4DEB-A238-8E69DE0C00A2}" srcOrd="4" destOrd="0" parTransId="{D3613E99-8EF1-47E8-AF3E-F93B04C0F718}" sibTransId="{98226819-1BE0-442C-B464-E61C22EF5612}"/>
    <dgm:cxn modelId="{0B639B24-8877-44C0-A273-FFE092C70522}" type="presOf" srcId="{0B8922C1-3B63-48F0-9578-87AD9D7DC425}" destId="{40B01F17-3C9A-4D61-949F-B8A7BC56A7FF}" srcOrd="0" destOrd="0" presId="urn:microsoft.com/office/officeart/2005/8/layout/StepDownProcess"/>
    <dgm:cxn modelId="{95670040-9EBA-4FC1-BF16-CAC3394584B3}" type="presOf" srcId="{668C33A3-BB43-4DEB-A238-8E69DE0C00A2}" destId="{E476ED43-9937-459A-B601-B1710F8F14F9}" srcOrd="0" destOrd="0" presId="urn:microsoft.com/office/officeart/2005/8/layout/StepDownProcess"/>
    <dgm:cxn modelId="{CC832C5B-209E-4D7A-8DB7-31266AE0567F}" type="presOf" srcId="{61493317-CF6A-4778-B55D-03EBB8935657}" destId="{FD08C5E8-BACE-4E50-89BD-CF78CC68860F}" srcOrd="0" destOrd="0" presId="urn:microsoft.com/office/officeart/2005/8/layout/StepDownProcess"/>
    <dgm:cxn modelId="{C03D4C87-8ABF-4FA7-9F92-2729C5EC675A}" srcId="{0B8922C1-3B63-48F0-9578-87AD9D7DC425}" destId="{3C8F2F3D-86EA-4EDF-BC7E-883866287D65}" srcOrd="1" destOrd="0" parTransId="{749240DD-DD36-4DD3-B344-7F1F0E813FC4}" sibTransId="{BB1686C4-8F85-4D89-9CDE-634C34B91CC5}"/>
    <dgm:cxn modelId="{C757F487-1FEA-4E4F-8A52-74A89F7EDECE}" type="presOf" srcId="{8DF2DBCA-1673-471F-B112-69C7C3C65ED7}" destId="{8626791E-2445-4881-9687-DCE63187F898}" srcOrd="0" destOrd="0" presId="urn:microsoft.com/office/officeart/2005/8/layout/StepDownProcess"/>
    <dgm:cxn modelId="{930658A0-8224-4545-8F8C-F908FC4DB558}" srcId="{0B8922C1-3B63-48F0-9578-87AD9D7DC425}" destId="{58110DA2-69F2-4961-BDF4-C5EB75B1AC6D}" srcOrd="5" destOrd="0" parTransId="{3620FA00-0485-4415-9C07-B72A8A6F3AC5}" sibTransId="{7AE88F92-7E90-4E48-8284-96B7C9133560}"/>
    <dgm:cxn modelId="{344AD1B3-7121-481D-AB81-F4B6A0397AF2}" srcId="{0B8922C1-3B63-48F0-9578-87AD9D7DC425}" destId="{F5BBFD1C-740E-44F9-AF02-AF03924750C4}" srcOrd="2" destOrd="0" parTransId="{4B3B1FFF-CF70-441A-A686-83208459DD9E}" sibTransId="{2BE143BC-5918-4CD2-823A-FBCB00B819B4}"/>
    <dgm:cxn modelId="{338935C7-0415-41F2-BC25-3FAEDEF479E5}" type="presOf" srcId="{F5BBFD1C-740E-44F9-AF02-AF03924750C4}" destId="{36E49400-D20A-4618-9BD8-E9632593BF0C}" srcOrd="0" destOrd="0" presId="urn:microsoft.com/office/officeart/2005/8/layout/StepDownProcess"/>
    <dgm:cxn modelId="{89F511E0-0800-4E92-B83E-CC4C3432BC83}" srcId="{0B8922C1-3B63-48F0-9578-87AD9D7DC425}" destId="{61493317-CF6A-4778-B55D-03EBB8935657}" srcOrd="0" destOrd="0" parTransId="{78B80C3B-8837-40FC-8980-E4AAEFFB1735}" sibTransId="{349DAE77-B8B5-442A-B4C1-AB08F3B48BEF}"/>
    <dgm:cxn modelId="{5B9E12E5-629D-4AF7-8B18-1E8511772AEC}" type="presOf" srcId="{58110DA2-69F2-4961-BDF4-C5EB75B1AC6D}" destId="{1EFE870D-5A33-4DB3-B00A-3A022D58B4F2}" srcOrd="0" destOrd="0" presId="urn:microsoft.com/office/officeart/2005/8/layout/StepDownProcess"/>
    <dgm:cxn modelId="{C4C8E8E9-5BDB-41BE-9FE3-F9448AC625C6}" srcId="{0B8922C1-3B63-48F0-9578-87AD9D7DC425}" destId="{8DF2DBCA-1673-471F-B112-69C7C3C65ED7}" srcOrd="3" destOrd="0" parTransId="{FD787FD2-678A-4958-8CBC-97F17F1C4391}" sibTransId="{F3E50554-42E3-4CC7-B9E7-E973F966AD29}"/>
    <dgm:cxn modelId="{2C5FEEEE-3BF3-4607-AA03-1758F92E4167}" type="presParOf" srcId="{40B01F17-3C9A-4D61-949F-B8A7BC56A7FF}" destId="{D534F053-C9B6-4261-8E98-747DC8C5D685}" srcOrd="0" destOrd="0" presId="urn:microsoft.com/office/officeart/2005/8/layout/StepDownProcess"/>
    <dgm:cxn modelId="{830689D6-D843-48F2-874F-9F9C81A768CE}" type="presParOf" srcId="{D534F053-C9B6-4261-8E98-747DC8C5D685}" destId="{93A9EDFE-4DF2-4681-BAC1-7BA45AA2A8AA}" srcOrd="0" destOrd="0" presId="urn:microsoft.com/office/officeart/2005/8/layout/StepDownProcess"/>
    <dgm:cxn modelId="{2C3AEEF5-2872-4C62-9E78-097E64B65FF6}" type="presParOf" srcId="{D534F053-C9B6-4261-8E98-747DC8C5D685}" destId="{FD08C5E8-BACE-4E50-89BD-CF78CC68860F}" srcOrd="1" destOrd="0" presId="urn:microsoft.com/office/officeart/2005/8/layout/StepDownProcess"/>
    <dgm:cxn modelId="{85B60BF0-8B82-4FEA-B768-4B679A2678AD}" type="presParOf" srcId="{D534F053-C9B6-4261-8E98-747DC8C5D685}" destId="{B288EE2B-9E27-4054-9B41-5F8B77BC95CF}" srcOrd="2" destOrd="0" presId="urn:microsoft.com/office/officeart/2005/8/layout/StepDownProcess"/>
    <dgm:cxn modelId="{929F053E-41C2-4A7A-9BB2-3FD0B1FD599A}" type="presParOf" srcId="{40B01F17-3C9A-4D61-949F-B8A7BC56A7FF}" destId="{D57776D0-9285-4133-97B2-A124C183C263}" srcOrd="1" destOrd="0" presId="urn:microsoft.com/office/officeart/2005/8/layout/StepDownProcess"/>
    <dgm:cxn modelId="{E71EF73C-240E-43F1-B7D5-4ACA42C8C31C}" type="presParOf" srcId="{40B01F17-3C9A-4D61-949F-B8A7BC56A7FF}" destId="{B68D25BC-4ED8-4EAD-9BF8-E9C96887E538}" srcOrd="2" destOrd="0" presId="urn:microsoft.com/office/officeart/2005/8/layout/StepDownProcess"/>
    <dgm:cxn modelId="{94A9E0D9-411E-4C6A-9A56-6A5B34F005A0}" type="presParOf" srcId="{B68D25BC-4ED8-4EAD-9BF8-E9C96887E538}" destId="{76E6B792-C077-44B1-AD4A-5212FDE094BC}" srcOrd="0" destOrd="0" presId="urn:microsoft.com/office/officeart/2005/8/layout/StepDownProcess"/>
    <dgm:cxn modelId="{89B096D7-B767-48F5-AFEE-0DA41F7C65BA}" type="presParOf" srcId="{B68D25BC-4ED8-4EAD-9BF8-E9C96887E538}" destId="{BC26239C-9B06-4F73-B0A4-EC47CA343243}" srcOrd="1" destOrd="0" presId="urn:microsoft.com/office/officeart/2005/8/layout/StepDownProcess"/>
    <dgm:cxn modelId="{DD9D2447-6FDB-453E-AF91-1019651FA28A}" type="presParOf" srcId="{B68D25BC-4ED8-4EAD-9BF8-E9C96887E538}" destId="{E51FD835-C90B-4BD2-9B3F-452CA57264F2}" srcOrd="2" destOrd="0" presId="urn:microsoft.com/office/officeart/2005/8/layout/StepDownProcess"/>
    <dgm:cxn modelId="{B81173CB-71EE-4A12-B8E9-2CF3E949F3D3}" type="presParOf" srcId="{40B01F17-3C9A-4D61-949F-B8A7BC56A7FF}" destId="{FB935DC9-F818-444F-8578-4FEC9C0D1470}" srcOrd="3" destOrd="0" presId="urn:microsoft.com/office/officeart/2005/8/layout/StepDownProcess"/>
    <dgm:cxn modelId="{919A83AC-60C2-4654-91AA-A3791BDAD2C5}" type="presParOf" srcId="{40B01F17-3C9A-4D61-949F-B8A7BC56A7FF}" destId="{86AC0F16-57BC-4B27-B437-A6E6C5CD5265}" srcOrd="4" destOrd="0" presId="urn:microsoft.com/office/officeart/2005/8/layout/StepDownProcess"/>
    <dgm:cxn modelId="{7B185AE3-0EBD-4DEF-B427-BCDE96118D65}" type="presParOf" srcId="{86AC0F16-57BC-4B27-B437-A6E6C5CD5265}" destId="{CE96F3EF-782F-4D60-AB76-B51CB6E06AF3}" srcOrd="0" destOrd="0" presId="urn:microsoft.com/office/officeart/2005/8/layout/StepDownProcess"/>
    <dgm:cxn modelId="{AE0B3A9D-6962-4A10-AD10-905AA18F8769}" type="presParOf" srcId="{86AC0F16-57BC-4B27-B437-A6E6C5CD5265}" destId="{36E49400-D20A-4618-9BD8-E9632593BF0C}" srcOrd="1" destOrd="0" presId="urn:microsoft.com/office/officeart/2005/8/layout/StepDownProcess"/>
    <dgm:cxn modelId="{D91B3974-C8CE-4B26-A53D-FBA083804BB6}" type="presParOf" srcId="{86AC0F16-57BC-4B27-B437-A6E6C5CD5265}" destId="{0ED61067-FB76-4CC9-BD5C-A8FA8271E1F9}" srcOrd="2" destOrd="0" presId="urn:microsoft.com/office/officeart/2005/8/layout/StepDownProcess"/>
    <dgm:cxn modelId="{3408DEAB-23F1-4BA8-9208-167F126CDABB}" type="presParOf" srcId="{40B01F17-3C9A-4D61-949F-B8A7BC56A7FF}" destId="{2FA50507-4E7F-403D-8055-8C33BC5AFA8C}" srcOrd="5" destOrd="0" presId="urn:microsoft.com/office/officeart/2005/8/layout/StepDownProcess"/>
    <dgm:cxn modelId="{973B9E60-E5CC-4A7E-B124-0EE9DAC83646}" type="presParOf" srcId="{40B01F17-3C9A-4D61-949F-B8A7BC56A7FF}" destId="{8AABE713-0495-40E8-BD6A-C8D6F1C8D664}" srcOrd="6" destOrd="0" presId="urn:microsoft.com/office/officeart/2005/8/layout/StepDownProcess"/>
    <dgm:cxn modelId="{6C0D6985-9A2D-4108-8FC2-336C5823BC8C}" type="presParOf" srcId="{8AABE713-0495-40E8-BD6A-C8D6F1C8D664}" destId="{FD4A8EE4-829F-4AF9-943A-95C29895A879}" srcOrd="0" destOrd="0" presId="urn:microsoft.com/office/officeart/2005/8/layout/StepDownProcess"/>
    <dgm:cxn modelId="{7488DA3B-87D6-4214-8A88-E618B4C4D169}" type="presParOf" srcId="{8AABE713-0495-40E8-BD6A-C8D6F1C8D664}" destId="{8626791E-2445-4881-9687-DCE63187F898}" srcOrd="1" destOrd="0" presId="urn:microsoft.com/office/officeart/2005/8/layout/StepDownProcess"/>
    <dgm:cxn modelId="{371B2297-FFDF-455D-A8AC-4129737DAE16}" type="presParOf" srcId="{8AABE713-0495-40E8-BD6A-C8D6F1C8D664}" destId="{1F59196F-330A-4B5D-9958-AC4D67DE38EA}" srcOrd="2" destOrd="0" presId="urn:microsoft.com/office/officeart/2005/8/layout/StepDownProcess"/>
    <dgm:cxn modelId="{00A96256-29D1-44B5-9266-13CD0FD6E488}" type="presParOf" srcId="{40B01F17-3C9A-4D61-949F-B8A7BC56A7FF}" destId="{C842901A-E389-45B5-8C0A-786847B06448}" srcOrd="7" destOrd="0" presId="urn:microsoft.com/office/officeart/2005/8/layout/StepDownProcess"/>
    <dgm:cxn modelId="{2B06DABC-4A0B-4FE3-B7CF-6BA137B11CF8}" type="presParOf" srcId="{40B01F17-3C9A-4D61-949F-B8A7BC56A7FF}" destId="{09F63EEE-2252-4A02-B62E-3081C3F0F2D9}" srcOrd="8" destOrd="0" presId="urn:microsoft.com/office/officeart/2005/8/layout/StepDownProcess"/>
    <dgm:cxn modelId="{91CDA3C3-8F6F-4522-AAF4-A19948333053}" type="presParOf" srcId="{09F63EEE-2252-4A02-B62E-3081C3F0F2D9}" destId="{B4B39C2B-D3F0-46E5-8C88-5BEA82AF110A}" srcOrd="0" destOrd="0" presId="urn:microsoft.com/office/officeart/2005/8/layout/StepDownProcess"/>
    <dgm:cxn modelId="{B8701300-5D47-4646-83AE-D4F8F942DDB4}" type="presParOf" srcId="{09F63EEE-2252-4A02-B62E-3081C3F0F2D9}" destId="{E476ED43-9937-459A-B601-B1710F8F14F9}" srcOrd="1" destOrd="0" presId="urn:microsoft.com/office/officeart/2005/8/layout/StepDownProcess"/>
    <dgm:cxn modelId="{721E9D13-2CFC-4986-9065-0B28D1C2C6BA}" type="presParOf" srcId="{09F63EEE-2252-4A02-B62E-3081C3F0F2D9}" destId="{6EAB7A80-3555-4703-9C1F-8FDC51DD3EF0}" srcOrd="2" destOrd="0" presId="urn:microsoft.com/office/officeart/2005/8/layout/StepDownProcess"/>
    <dgm:cxn modelId="{CE61DB2C-FC89-4160-AA02-9FD10FC5A586}" type="presParOf" srcId="{40B01F17-3C9A-4D61-949F-B8A7BC56A7FF}" destId="{3792267E-DFCE-45DB-A62A-F414F4EAA853}" srcOrd="9" destOrd="0" presId="urn:microsoft.com/office/officeart/2005/8/layout/StepDownProcess"/>
    <dgm:cxn modelId="{BAB4C3F1-5F27-44FE-8F9F-1FCF0377BC51}" type="presParOf" srcId="{40B01F17-3C9A-4D61-949F-B8A7BC56A7FF}" destId="{76D030F4-2597-4963-BA17-DD1668600392}" srcOrd="10" destOrd="0" presId="urn:microsoft.com/office/officeart/2005/8/layout/StepDownProcess"/>
    <dgm:cxn modelId="{3FBD611D-EE92-4FED-8D76-D775D920FB17}" type="presParOf" srcId="{76D030F4-2597-4963-BA17-DD1668600392}" destId="{1EFE870D-5A33-4DB3-B00A-3A022D58B4F2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A9EDFE-4DF2-4681-BAC1-7BA45AA2A8AA}">
      <dsp:nvSpPr>
        <dsp:cNvPr id="0" name=""/>
        <dsp:cNvSpPr/>
      </dsp:nvSpPr>
      <dsp:spPr>
        <a:xfrm rot="5400000">
          <a:off x="1384233" y="700656"/>
          <a:ext cx="603107" cy="68661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08C5E8-BACE-4E50-89BD-CF78CC68860F}">
      <dsp:nvSpPr>
        <dsp:cNvPr id="0" name=""/>
        <dsp:cNvSpPr/>
      </dsp:nvSpPr>
      <dsp:spPr>
        <a:xfrm>
          <a:off x="1224446" y="32098"/>
          <a:ext cx="1015278" cy="71066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900" kern="1200" dirty="0"/>
            <a:t>Configurar entorno Docker</a:t>
          </a:r>
          <a:endParaRPr lang="es-MX" sz="900" kern="1200" dirty="0"/>
        </a:p>
      </dsp:txBody>
      <dsp:txXfrm>
        <a:off x="1259144" y="66796"/>
        <a:ext cx="945882" cy="641266"/>
      </dsp:txXfrm>
    </dsp:sp>
    <dsp:sp modelId="{B288EE2B-9E27-4054-9B41-5F8B77BC95CF}">
      <dsp:nvSpPr>
        <dsp:cNvPr id="0" name=""/>
        <dsp:cNvSpPr/>
      </dsp:nvSpPr>
      <dsp:spPr>
        <a:xfrm>
          <a:off x="2239724" y="99876"/>
          <a:ext cx="738416" cy="5743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E6B792-C077-44B1-AD4A-5212FDE094BC}">
      <dsp:nvSpPr>
        <dsp:cNvPr id="0" name=""/>
        <dsp:cNvSpPr/>
      </dsp:nvSpPr>
      <dsp:spPr>
        <a:xfrm rot="5400000">
          <a:off x="2226006" y="1498964"/>
          <a:ext cx="603107" cy="68661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26239C-9B06-4F73-B0A4-EC47CA343243}">
      <dsp:nvSpPr>
        <dsp:cNvPr id="0" name=""/>
        <dsp:cNvSpPr/>
      </dsp:nvSpPr>
      <dsp:spPr>
        <a:xfrm>
          <a:off x="2066219" y="830406"/>
          <a:ext cx="1015278" cy="71066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900" kern="1200" dirty="0"/>
            <a:t>Proyecto base Larael 13</a:t>
          </a:r>
          <a:endParaRPr lang="es-MX" sz="900" kern="1200" dirty="0"/>
        </a:p>
      </dsp:txBody>
      <dsp:txXfrm>
        <a:off x="2100917" y="865104"/>
        <a:ext cx="945882" cy="641266"/>
      </dsp:txXfrm>
    </dsp:sp>
    <dsp:sp modelId="{E51FD835-C90B-4BD2-9B3F-452CA57264F2}">
      <dsp:nvSpPr>
        <dsp:cNvPr id="0" name=""/>
        <dsp:cNvSpPr/>
      </dsp:nvSpPr>
      <dsp:spPr>
        <a:xfrm>
          <a:off x="3081498" y="898184"/>
          <a:ext cx="738416" cy="5743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96F3EF-782F-4D60-AB76-B51CB6E06AF3}">
      <dsp:nvSpPr>
        <dsp:cNvPr id="0" name=""/>
        <dsp:cNvSpPr/>
      </dsp:nvSpPr>
      <dsp:spPr>
        <a:xfrm rot="5400000">
          <a:off x="3067780" y="2297272"/>
          <a:ext cx="603107" cy="68661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E49400-D20A-4618-9BD8-E9632593BF0C}">
      <dsp:nvSpPr>
        <dsp:cNvPr id="0" name=""/>
        <dsp:cNvSpPr/>
      </dsp:nvSpPr>
      <dsp:spPr>
        <a:xfrm>
          <a:off x="2907993" y="1628714"/>
          <a:ext cx="1015278" cy="71066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VE" sz="900" kern="1200" dirty="0"/>
            <a:t>Proyecto Laravel+JavaScript</a:t>
          </a:r>
          <a:endParaRPr lang="es-MX" sz="900" kern="1200" dirty="0"/>
        </a:p>
      </dsp:txBody>
      <dsp:txXfrm>
        <a:off x="2942691" y="1663412"/>
        <a:ext cx="945882" cy="641266"/>
      </dsp:txXfrm>
    </dsp:sp>
    <dsp:sp modelId="{0ED61067-FB76-4CC9-BD5C-A8FA8271E1F9}">
      <dsp:nvSpPr>
        <dsp:cNvPr id="0" name=""/>
        <dsp:cNvSpPr/>
      </dsp:nvSpPr>
      <dsp:spPr>
        <a:xfrm>
          <a:off x="3923272" y="1696492"/>
          <a:ext cx="738416" cy="5743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4A8EE4-829F-4AF9-943A-95C29895A879}">
      <dsp:nvSpPr>
        <dsp:cNvPr id="0" name=""/>
        <dsp:cNvSpPr/>
      </dsp:nvSpPr>
      <dsp:spPr>
        <a:xfrm rot="5400000">
          <a:off x="3909554" y="3095580"/>
          <a:ext cx="603107" cy="68661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26791E-2445-4881-9687-DCE63187F898}">
      <dsp:nvSpPr>
        <dsp:cNvPr id="0" name=""/>
        <dsp:cNvSpPr/>
      </dsp:nvSpPr>
      <dsp:spPr>
        <a:xfrm>
          <a:off x="3749767" y="2427022"/>
          <a:ext cx="1015278" cy="71066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900" kern="1200" dirty="0"/>
            <a:t>POC Agente Conversacional </a:t>
          </a:r>
        </a:p>
      </dsp:txBody>
      <dsp:txXfrm>
        <a:off x="3784465" y="2461720"/>
        <a:ext cx="945882" cy="641266"/>
      </dsp:txXfrm>
    </dsp:sp>
    <dsp:sp modelId="{1F59196F-330A-4B5D-9958-AC4D67DE38EA}">
      <dsp:nvSpPr>
        <dsp:cNvPr id="0" name=""/>
        <dsp:cNvSpPr/>
      </dsp:nvSpPr>
      <dsp:spPr>
        <a:xfrm>
          <a:off x="4765046" y="2494800"/>
          <a:ext cx="738416" cy="5743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B39C2B-D3F0-46E5-8C88-5BEA82AF110A}">
      <dsp:nvSpPr>
        <dsp:cNvPr id="0" name=""/>
        <dsp:cNvSpPr/>
      </dsp:nvSpPr>
      <dsp:spPr>
        <a:xfrm rot="5400000">
          <a:off x="4751328" y="3893888"/>
          <a:ext cx="603107" cy="68661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76ED43-9937-459A-B601-B1710F8F14F9}">
      <dsp:nvSpPr>
        <dsp:cNvPr id="0" name=""/>
        <dsp:cNvSpPr/>
      </dsp:nvSpPr>
      <dsp:spPr>
        <a:xfrm>
          <a:off x="4591541" y="3225330"/>
          <a:ext cx="1015278" cy="71066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900" kern="1200" dirty="0"/>
            <a:t>Definir estándares de código </a:t>
          </a:r>
        </a:p>
      </dsp:txBody>
      <dsp:txXfrm>
        <a:off x="4626239" y="3260028"/>
        <a:ext cx="945882" cy="641266"/>
      </dsp:txXfrm>
    </dsp:sp>
    <dsp:sp modelId="{6EAB7A80-3555-4703-9C1F-8FDC51DD3EF0}">
      <dsp:nvSpPr>
        <dsp:cNvPr id="0" name=""/>
        <dsp:cNvSpPr/>
      </dsp:nvSpPr>
      <dsp:spPr>
        <a:xfrm>
          <a:off x="5606820" y="3293108"/>
          <a:ext cx="738416" cy="5743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EFE870D-5A33-4DB3-B00A-3A022D58B4F2}">
      <dsp:nvSpPr>
        <dsp:cNvPr id="0" name=""/>
        <dsp:cNvSpPr/>
      </dsp:nvSpPr>
      <dsp:spPr>
        <a:xfrm>
          <a:off x="5433315" y="4023639"/>
          <a:ext cx="1015278" cy="71066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Modulos funcionales</a:t>
          </a:r>
          <a:endParaRPr lang="es-MX" sz="900" kern="1200" dirty="0"/>
        </a:p>
      </dsp:txBody>
      <dsp:txXfrm>
        <a:off x="5468013" y="4058337"/>
        <a:ext cx="945882" cy="6412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V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9430BDD-CD30-4A27-B9EA-6B8F3BD828B4}" type="slidenum"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s-V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695950-ABC1-4D7D-8191-9E7661168910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 dirty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A3B172-70AC-442C-AF65-8249528C10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 dirty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</a:t>
            </a:r>
            <a:r>
              <a:rPr lang="en-US" sz="1200" b="0" u="none" strike="noStrike" dirty="0" err="1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fecha</a:t>
            </a:r>
            <a:r>
              <a:rPr lang="en-US" sz="1200" b="0" u="none" strike="noStrike" dirty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/hora&gt;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7472278-0503-4E8A-8D69-BBEF2EA2DE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068880-3963-4036-9F90-6883B899EB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FFACA3-42B8-4C1F-9B13-72580930B7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8C54F9-7407-406E-AD11-04B9DFA287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3C8189-3A01-4BD8-9D51-77FB33CA38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981BE2-7CBA-4D34-8BFD-FBD0CA2529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91EA0B-318A-4DAA-8445-48DA3BFABF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32B5B2-6C7F-43D1-BBD2-ADC89F5E16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66BE84-AF9E-4670-96E8-9F9C23BE5B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D34936-4F77-4E58-AAAA-9D7D46E578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Imagen 8"/>
          <p:cNvPicPr/>
          <p:nvPr/>
        </p:nvPicPr>
        <p:blipFill>
          <a:blip r:embed="rId2">
            <a:alphaModFix amt="70000"/>
          </a:blip>
          <a:stretch/>
        </p:blipFill>
        <p:spPr>
          <a:xfrm>
            <a:off x="-8280" y="1348920"/>
            <a:ext cx="12251520" cy="233640"/>
          </a:xfrm>
          <a:prstGeom prst="rect">
            <a:avLst/>
          </a:prstGeom>
          <a:noFill/>
          <a:ln w="0">
            <a:noFill/>
          </a:ln>
          <a:scene3d>
            <a:camera prst="orthographicFront"/>
            <a:lightRig rig="threePt" dir="t"/>
          </a:scene3d>
          <a:sp3d>
            <a:bevelT w="114300" prst="artDeco"/>
          </a:sp3d>
        </p:spPr>
      </p:pic>
      <p:pic>
        <p:nvPicPr>
          <p:cNvPr id="68" name="Imagen 9"/>
          <p:cNvPicPr/>
          <p:nvPr/>
        </p:nvPicPr>
        <p:blipFill>
          <a:blip r:embed="rId3"/>
          <a:stretch/>
        </p:blipFill>
        <p:spPr>
          <a:xfrm>
            <a:off x="9328680" y="426600"/>
            <a:ext cx="855720" cy="84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Box 15"/>
          <p:cNvSpPr/>
          <p:nvPr/>
        </p:nvSpPr>
        <p:spPr>
          <a:xfrm>
            <a:off x="2784600" y="372240"/>
            <a:ext cx="633852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REPÚBLICA BOLIVARIANA DE VENEZUELA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UNIVERSIDAD NACIONAL EXPERIMENTAL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DE LAS TELECOMUNICACIONES E INFORMÁTICA (UNETI)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VICERRECTORADO ACADEMICO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PROGRAMA NACIONAL DE FORMACIÓN EN INFORMÁTICA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uadroTexto 11"/>
          <p:cNvSpPr/>
          <p:nvPr/>
        </p:nvSpPr>
        <p:spPr>
          <a:xfrm>
            <a:off x="731520" y="2314800"/>
            <a:ext cx="1097280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tabLst>
                <a:tab pos="0" algn="l"/>
              </a:tabLst>
            </a:pPr>
            <a:r>
              <a:rPr lang="es-VE" sz="18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DESARROLLAR UN SISTEMA, PARA OPTIMIZAR LA GESTIÓN DE DATOS, DE LA ASOCIACIÓN CIVIL DE TRABAJADORES DE TELECOMUNICACIONES JUBILADOS Y PENSIONADOS (AJUPTEL), REGIÓN CARABOBO</a:t>
            </a:r>
            <a:endParaRPr lang="es-VE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tabLst>
                <a:tab pos="0" algn="l"/>
              </a:tabLst>
            </a:pPr>
            <a:r>
              <a:rPr lang="es-VE" sz="14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.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" name="Tabla 12"/>
          <p:cNvGraphicFramePr/>
          <p:nvPr>
            <p:extLst>
              <p:ext uri="{D42A27DB-BD31-4B8C-83A1-F6EECF244321}">
                <p14:modId xmlns:p14="http://schemas.microsoft.com/office/powerpoint/2010/main" val="1218729499"/>
              </p:ext>
            </p:extLst>
          </p:nvPr>
        </p:nvGraphicFramePr>
        <p:xfrm>
          <a:off x="1699199" y="3934080"/>
          <a:ext cx="9534857" cy="1841120"/>
        </p:xfrm>
        <a:graphic>
          <a:graphicData uri="http://schemas.openxmlformats.org/drawingml/2006/table">
            <a:tbl>
              <a:tblPr/>
              <a:tblGrid>
                <a:gridCol w="4334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998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8680">
                <a:tc>
                  <a:txBody>
                    <a:bodyPr/>
                    <a:lstStyle/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Tutor </a:t>
                      </a:r>
                      <a:r>
                        <a:rPr lang="en-US" sz="1400" b="1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Académico</a:t>
                      </a: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: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Autores: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200">
                <a:tc>
                  <a:txBody>
                    <a:bodyPr/>
                    <a:lstStyle/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Ing. Luis Rivas </a:t>
                      </a:r>
                      <a:r>
                        <a:rPr lang="en-US" sz="14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Algueida</a:t>
                      </a: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Tutor Institucional:</a:t>
                      </a: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Ing. Gabriel Falcón</a:t>
                      </a: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Caraballo, </a:t>
                      </a:r>
                      <a:r>
                        <a:rPr lang="es-VE" sz="14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Nattier</a:t>
                      </a:r>
                      <a:r>
                        <a:rPr lang="es-VE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  C.I.- 16.225.080</a:t>
                      </a: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fr-FR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Linares Jorge Luis C.I.- 4.857.936</a:t>
                      </a: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fr-FR" sz="14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López</a:t>
                      </a:r>
                      <a:r>
                        <a:rPr lang="fr-FR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, </a:t>
                      </a:r>
                      <a:r>
                        <a:rPr lang="fr-FR" sz="1400" b="0" u="none" strike="noStrike" dirty="0" err="1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Cindia</a:t>
                      </a:r>
                      <a:r>
                        <a:rPr lang="fr-FR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 C.I.- 13.019.951</a:t>
                      </a: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Mujica Luis Francisco C.I.- 7.090.613</a:t>
                      </a: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endParaRPr lang="es-VE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2" name="Rectángulo 13"/>
          <p:cNvSpPr/>
          <p:nvPr/>
        </p:nvSpPr>
        <p:spPr>
          <a:xfrm>
            <a:off x="4902480" y="6015960"/>
            <a:ext cx="1963080" cy="335880"/>
          </a:xfrm>
          <a:prstGeom prst="rect">
            <a:avLst/>
          </a:prstGeom>
          <a:solidFill>
            <a:srgbClr val="FFFFFF">
              <a:alpha val="2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Julio 2026</a:t>
            </a:r>
            <a:endParaRPr lang="es-VE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n 14"/>
          <p:cNvPicPr/>
          <p:nvPr/>
        </p:nvPicPr>
        <p:blipFill>
          <a:blip r:embed="rId4"/>
          <a:srcRect r="4399" b="7205"/>
          <a:stretch/>
        </p:blipFill>
        <p:spPr>
          <a:xfrm>
            <a:off x="1699200" y="351000"/>
            <a:ext cx="1277280" cy="67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30"/>
          <p:cNvSpPr/>
          <p:nvPr/>
        </p:nvSpPr>
        <p:spPr>
          <a:xfrm>
            <a:off x="52200" y="-1152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Kick-off - Lean Inception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3"/>
          <p:cNvSpPr/>
          <p:nvPr/>
        </p:nvSpPr>
        <p:spPr>
          <a:xfrm>
            <a:off x="274320" y="1005840"/>
            <a:ext cx="548604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Información del Proyecto</a:t>
            </a:r>
            <a:endParaRPr lang="es-VE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274320" y="15544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Nombre: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5"/>
          <p:cNvSpPr/>
          <p:nvPr/>
        </p:nvSpPr>
        <p:spPr>
          <a:xfrm>
            <a:off x="2011680" y="15544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Sistema de Información Web Responsive para AJUPTEL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6"/>
          <p:cNvSpPr/>
          <p:nvPr/>
        </p:nvSpPr>
        <p:spPr>
          <a:xfrm>
            <a:off x="274320" y="20116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7"/>
          <p:cNvSpPr/>
          <p:nvPr/>
        </p:nvSpPr>
        <p:spPr>
          <a:xfrm>
            <a:off x="2011680" y="20116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AJUPTEL Carabobo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8"/>
          <p:cNvSpPr/>
          <p:nvPr/>
        </p:nvSpPr>
        <p:spPr>
          <a:xfrm>
            <a:off x="274320" y="24688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Inicio: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9"/>
          <p:cNvSpPr/>
          <p:nvPr/>
        </p:nvSpPr>
        <p:spPr>
          <a:xfrm>
            <a:off x="2011680" y="24688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Febrero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10"/>
          <p:cNvSpPr/>
          <p:nvPr/>
        </p:nvSpPr>
        <p:spPr>
          <a:xfrm>
            <a:off x="274320" y="29260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Finalización: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11"/>
          <p:cNvSpPr/>
          <p:nvPr/>
        </p:nvSpPr>
        <p:spPr>
          <a:xfrm>
            <a:off x="2011680" y="29260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03 de julio de 2026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12"/>
          <p:cNvSpPr/>
          <p:nvPr/>
        </p:nvSpPr>
        <p:spPr>
          <a:xfrm>
            <a:off x="6217920" y="1005840"/>
            <a:ext cx="566892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Participantes</a:t>
            </a:r>
            <a:endParaRPr lang="es-V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13"/>
          <p:cNvSpPr/>
          <p:nvPr/>
        </p:nvSpPr>
        <p:spPr>
          <a:xfrm>
            <a:off x="6217920" y="155448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Patrocinador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4"/>
          <p:cNvSpPr/>
          <p:nvPr/>
        </p:nvSpPr>
        <p:spPr>
          <a:xfrm>
            <a:off x="8321040" y="155448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Sr. Medardo Guerrero - Presidente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15"/>
          <p:cNvSpPr/>
          <p:nvPr/>
        </p:nvSpPr>
        <p:spPr>
          <a:xfrm>
            <a:off x="6217920" y="196596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Product Owner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16"/>
          <p:cNvSpPr/>
          <p:nvPr/>
        </p:nvSpPr>
        <p:spPr>
          <a:xfrm>
            <a:off x="8321040" y="196596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Nattier Caraballo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17"/>
          <p:cNvSpPr/>
          <p:nvPr/>
        </p:nvSpPr>
        <p:spPr>
          <a:xfrm>
            <a:off x="6217920" y="237744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Scrum Master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8"/>
          <p:cNvSpPr/>
          <p:nvPr/>
        </p:nvSpPr>
        <p:spPr>
          <a:xfrm>
            <a:off x="8321040" y="237744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Cindia López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9"/>
          <p:cNvSpPr/>
          <p:nvPr/>
        </p:nvSpPr>
        <p:spPr>
          <a:xfrm>
            <a:off x="6217920" y="278892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Desarrollador Backend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20"/>
          <p:cNvSpPr/>
          <p:nvPr/>
        </p:nvSpPr>
        <p:spPr>
          <a:xfrm>
            <a:off x="8321040" y="278892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Jorge Linares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21"/>
          <p:cNvSpPr/>
          <p:nvPr/>
        </p:nvSpPr>
        <p:spPr>
          <a:xfrm>
            <a:off x="6217920" y="320040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Desarrollador Frontend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22"/>
          <p:cNvSpPr/>
          <p:nvPr/>
        </p:nvSpPr>
        <p:spPr>
          <a:xfrm>
            <a:off x="8321040" y="320040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Luis Mujica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23"/>
          <p:cNvSpPr/>
          <p:nvPr/>
        </p:nvSpPr>
        <p:spPr>
          <a:xfrm>
            <a:off x="6217920" y="362556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Director Tecnología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24"/>
          <p:cNvSpPr/>
          <p:nvPr/>
        </p:nvSpPr>
        <p:spPr>
          <a:xfrm>
            <a:off x="8321040" y="362556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Ing. Gabriel Falcón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25"/>
          <p:cNvSpPr/>
          <p:nvPr/>
        </p:nvSpPr>
        <p:spPr>
          <a:xfrm>
            <a:off x="274320" y="4134600"/>
            <a:ext cx="11612520" cy="45684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Agenda del Workshop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26"/>
          <p:cNvSpPr/>
          <p:nvPr/>
        </p:nvSpPr>
        <p:spPr>
          <a:xfrm>
            <a:off x="274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Lunes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27"/>
          <p:cNvSpPr/>
          <p:nvPr/>
        </p:nvSpPr>
        <p:spPr>
          <a:xfrm>
            <a:off x="274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Kick-off, Visión del Producto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28"/>
          <p:cNvSpPr/>
          <p:nvPr/>
        </p:nvSpPr>
        <p:spPr>
          <a:xfrm>
            <a:off x="2560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Martes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29"/>
          <p:cNvSpPr/>
          <p:nvPr/>
        </p:nvSpPr>
        <p:spPr>
          <a:xfrm>
            <a:off x="2560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Personas,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Objetivos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del Producto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30"/>
          <p:cNvSpPr/>
          <p:nvPr/>
        </p:nvSpPr>
        <p:spPr>
          <a:xfrm>
            <a:off x="4846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Miércoles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31"/>
          <p:cNvSpPr/>
          <p:nvPr/>
        </p:nvSpPr>
        <p:spPr>
          <a:xfrm>
            <a:off x="4846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Viajes de Usuario, Brainstorming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32"/>
          <p:cNvSpPr/>
          <p:nvPr/>
        </p:nvSpPr>
        <p:spPr>
          <a:xfrm>
            <a:off x="7132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Jueves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33"/>
          <p:cNvSpPr/>
          <p:nvPr/>
        </p:nvSpPr>
        <p:spPr>
          <a:xfrm>
            <a:off x="7132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Revisión Técnica, Secuenciador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34"/>
          <p:cNvSpPr/>
          <p:nvPr/>
        </p:nvSpPr>
        <p:spPr>
          <a:xfrm>
            <a:off x="9418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Viernes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35"/>
          <p:cNvSpPr/>
          <p:nvPr/>
        </p:nvSpPr>
        <p:spPr>
          <a:xfrm>
            <a:off x="9418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Canvas MVP, Showcase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36"/>
          <p:cNvSpPr/>
          <p:nvPr/>
        </p:nvSpPr>
        <p:spPr>
          <a:xfrm>
            <a:off x="274320" y="5780520"/>
            <a:ext cx="11612520" cy="36540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Objetivo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del Workshop: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Centralizar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datos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de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asociados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|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Automatizar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|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Mejorar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atención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a adultos mayores |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Integrar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IA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Visión del Producto</a:t>
            </a:r>
            <a:endParaRPr lang="es-VE" sz="3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3"/>
          <p:cNvSpPr/>
          <p:nvPr/>
        </p:nvSpPr>
        <p:spPr>
          <a:xfrm>
            <a:off x="274320" y="1005840"/>
            <a:ext cx="548604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Plantilla de Visión del Producto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 4"/>
          <p:cNvSpPr/>
          <p:nvPr/>
        </p:nvSpPr>
        <p:spPr>
          <a:xfrm>
            <a:off x="274320" y="146304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PARA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5"/>
          <p:cNvSpPr/>
          <p:nvPr/>
        </p:nvSpPr>
        <p:spPr>
          <a:xfrm>
            <a:off x="1691640" y="146304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Asociados jubilados/pensionados de CANTV, personal administrativo y junta directiva de AJUPTEL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ectangle 6"/>
          <p:cNvSpPr/>
          <p:nvPr/>
        </p:nvSpPr>
        <p:spPr>
          <a:xfrm>
            <a:off x="274320" y="187164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QUIENES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7"/>
          <p:cNvSpPr/>
          <p:nvPr/>
        </p:nvSpPr>
        <p:spPr>
          <a:xfrm>
            <a:off x="1691640" y="187164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Enfrentan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fragmentada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Excel, con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riesgo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pérdida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lentitud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atención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8"/>
          <p:cNvSpPr/>
          <p:nvPr/>
        </p:nvSpPr>
        <p:spPr>
          <a:xfrm>
            <a:off x="274320" y="227988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NUESTRO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9"/>
          <p:cNvSpPr/>
          <p:nvPr/>
        </p:nvSpPr>
        <p:spPr>
          <a:xfrm>
            <a:off x="1691640" y="227988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Sistema de Información Web Responsive para la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AJUPTEL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10"/>
          <p:cNvSpPr/>
          <p:nvPr/>
        </p:nvSpPr>
        <p:spPr>
          <a:xfrm>
            <a:off x="274320" y="270036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11"/>
          <p:cNvSpPr/>
          <p:nvPr/>
        </p:nvSpPr>
        <p:spPr>
          <a:xfrm>
            <a:off x="1691640" y="270036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Plataforma integral de gestión con inteligencia artificial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12"/>
          <p:cNvSpPr/>
          <p:nvPr/>
        </p:nvSpPr>
        <p:spPr>
          <a:xfrm>
            <a:off x="274320" y="310896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QUE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3"/>
          <p:cNvSpPr/>
          <p:nvPr/>
        </p:nvSpPr>
        <p:spPr>
          <a:xfrm>
            <a:off x="1691640" y="310896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Centraliza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automatiza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protege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familiares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voceros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proveedores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14"/>
          <p:cNvSpPr/>
          <p:nvPr/>
        </p:nvSpPr>
        <p:spPr>
          <a:xfrm>
            <a:off x="274320" y="351756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 DIFERENCIA DE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15"/>
          <p:cNvSpPr/>
          <p:nvPr/>
        </p:nvSpPr>
        <p:spPr>
          <a:xfrm>
            <a:off x="1691640" y="351756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Sistemas de hojas de cálculo manuales y dispersos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16"/>
          <p:cNvSpPr/>
          <p:nvPr/>
        </p:nvSpPr>
        <p:spPr>
          <a:xfrm>
            <a:off x="274320" y="392580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NUESTRO PRODUCTO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17"/>
          <p:cNvSpPr/>
          <p:nvPr/>
        </p:nvSpPr>
        <p:spPr>
          <a:xfrm>
            <a:off x="1691640" y="392580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Ofrece transformación digital inclusiva con atención digna y eficiente para personas de la tercera edad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18"/>
          <p:cNvSpPr/>
          <p:nvPr/>
        </p:nvSpPr>
        <p:spPr>
          <a:xfrm>
            <a:off x="6217920" y="1005840"/>
            <a:ext cx="566892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Declaración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de Visión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9"/>
          <p:cNvSpPr/>
          <p:nvPr/>
        </p:nvSpPr>
        <p:spPr>
          <a:xfrm>
            <a:off x="6217920" y="1463040"/>
            <a:ext cx="5668920" cy="16455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9044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"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Consolidar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a AJUPTEL Carabobo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como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referente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de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transformación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digital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inclusiva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,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mediante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un Sistema de Información web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inteligente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que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automatiza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,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centraliza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y protege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su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estratégica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,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transformando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la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administrativa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en un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servicio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digno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y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eficiente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para personas de la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tercera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edad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, con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experiencia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interactiva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mediante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Inteligencia</a:t>
            </a:r>
            <a:r>
              <a:rPr lang="en-US" sz="1200" b="0" i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Artificial."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20"/>
          <p:cNvSpPr/>
          <p:nvPr/>
        </p:nvSpPr>
        <p:spPr>
          <a:xfrm>
            <a:off x="6217920" y="3246120"/>
            <a:ext cx="5668920" cy="41112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Puntos Clave del Producto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21"/>
          <p:cNvSpPr/>
          <p:nvPr/>
        </p:nvSpPr>
        <p:spPr>
          <a:xfrm>
            <a:off x="6217920" y="37033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Gestión integral de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22"/>
          <p:cNvSpPr/>
          <p:nvPr/>
        </p:nvSpPr>
        <p:spPr>
          <a:xfrm>
            <a:off x="9052560" y="37033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Control de familiares y voceros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23"/>
          <p:cNvSpPr/>
          <p:nvPr/>
        </p:nvSpPr>
        <p:spPr>
          <a:xfrm>
            <a:off x="6217920" y="40507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Administración de proveedores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24"/>
          <p:cNvSpPr/>
          <p:nvPr/>
        </p:nvSpPr>
        <p:spPr>
          <a:xfrm>
            <a:off x="9052560" y="40507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Autenticación segura por roles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25"/>
          <p:cNvSpPr/>
          <p:nvPr/>
        </p:nvSpPr>
        <p:spPr>
          <a:xfrm>
            <a:off x="6217920" y="43981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Importación/exportación de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26"/>
          <p:cNvSpPr/>
          <p:nvPr/>
        </p:nvSpPr>
        <p:spPr>
          <a:xfrm>
            <a:off x="9052560" y="43981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Reportes estratégicos ejecutivos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27"/>
          <p:cNvSpPr/>
          <p:nvPr/>
        </p:nvSpPr>
        <p:spPr>
          <a:xfrm>
            <a:off x="6217920" y="47458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 con IA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28"/>
          <p:cNvSpPr/>
          <p:nvPr/>
        </p:nvSpPr>
        <p:spPr>
          <a:xfrm>
            <a:off x="9052560" y="47458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Escaneo de documentos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29"/>
          <p:cNvSpPr/>
          <p:nvPr/>
        </p:nvSpPr>
        <p:spPr>
          <a:xfrm>
            <a:off x="6217920" y="50932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Portal web para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30"/>
          <p:cNvSpPr/>
          <p:nvPr/>
        </p:nvSpPr>
        <p:spPr>
          <a:xfrm>
            <a:off x="9052560" y="50932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Notificaciones push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El Producto ES - NO ES - HACE - NO HACE</a:t>
            </a:r>
            <a:endParaRPr lang="es-VE" sz="3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3"/>
          <p:cNvSpPr/>
          <p:nvPr/>
        </p:nvSpPr>
        <p:spPr>
          <a:xfrm>
            <a:off x="274320" y="1005840"/>
            <a:ext cx="566892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4"/>
          <p:cNvSpPr/>
          <p:nvPr/>
        </p:nvSpPr>
        <p:spPr>
          <a:xfrm>
            <a:off x="274320" y="1508760"/>
            <a:ext cx="5668920" cy="20113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2708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Sistema web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Plataforma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centralizada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Interfaz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intuitiva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responsiva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Sistema con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inteligencia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artificial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Portal web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institucional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5"/>
          <p:cNvSpPr/>
          <p:nvPr/>
        </p:nvSpPr>
        <p:spPr>
          <a:xfrm>
            <a:off x="6217920" y="1005840"/>
            <a:ext cx="5668920" cy="456840"/>
          </a:xfrm>
          <a:prstGeom prst="rect">
            <a:avLst/>
          </a:prstGeom>
          <a:solidFill>
            <a:srgbClr val="B4B4B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NO ES</a:t>
            </a:r>
            <a:endParaRPr lang="es-V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6"/>
          <p:cNvSpPr/>
          <p:nvPr/>
        </p:nvSpPr>
        <p:spPr>
          <a:xfrm>
            <a:off x="6217920" y="1508760"/>
            <a:ext cx="5668920" cy="20113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B4B4B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2708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App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móvil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nativa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(en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esta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fase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nómina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Sistema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hospitalaria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7"/>
          <p:cNvSpPr/>
          <p:nvPr/>
        </p:nvSpPr>
        <p:spPr>
          <a:xfrm>
            <a:off x="244080" y="3566160"/>
            <a:ext cx="5668920" cy="4568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HACE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8"/>
          <p:cNvSpPr/>
          <p:nvPr/>
        </p:nvSpPr>
        <p:spPr>
          <a:xfrm>
            <a:off x="274320" y="4023360"/>
            <a:ext cx="5668920" cy="2393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2708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Registro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familiares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voceros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proveedores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Control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acceso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por roles (RBAC)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Importación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/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exportación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(Excel, PDF, CSV)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Generación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reportes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estratégicos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Escaneo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documentos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desde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móvil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 con IA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Notificaciones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push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 9"/>
          <p:cNvSpPr/>
          <p:nvPr/>
        </p:nvSpPr>
        <p:spPr>
          <a:xfrm>
            <a:off x="6217920" y="3611880"/>
            <a:ext cx="5668920" cy="456840"/>
          </a:xfrm>
          <a:prstGeom prst="rect">
            <a:avLst/>
          </a:prstGeom>
          <a:solidFill>
            <a:srgbClr val="C8646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NO HACE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10"/>
          <p:cNvSpPr/>
          <p:nvPr/>
        </p:nvSpPr>
        <p:spPr>
          <a:xfrm>
            <a:off x="6217920" y="4160520"/>
            <a:ext cx="5668920" cy="15541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C8646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2708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s-VE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Integración con CANTV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s-VE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Gestión de seguros 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s-VE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Gestión </a:t>
            </a:r>
            <a:r>
              <a:rPr lang="es-VE" sz="1200" dirty="0">
                <a:solidFill>
                  <a:srgbClr val="002850"/>
                </a:solidFill>
                <a:latin typeface="Arial"/>
              </a:rPr>
              <a:t>Bancaria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Personas del Sistema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Una persona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representa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 un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usuario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del producto,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describiendo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su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rol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características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necesidades.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4"/>
          <p:cNvSpPr/>
          <p:nvPr/>
        </p:nvSpPr>
        <p:spPr>
          <a:xfrm>
            <a:off x="182880" y="1281856"/>
            <a:ext cx="2329079" cy="52042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5"/>
          <p:cNvSpPr/>
          <p:nvPr/>
        </p:nvSpPr>
        <p:spPr>
          <a:xfrm>
            <a:off x="182880" y="1281856"/>
            <a:ext cx="2329079" cy="567409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Patrocinador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/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Presidente</a:t>
            </a:r>
            <a:endParaRPr lang="en-US" sz="1200" b="1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dirty="0" err="1">
                <a:solidFill>
                  <a:srgbClr val="FFFFFF"/>
                </a:solidFill>
                <a:latin typeface="Arial"/>
              </a:rPr>
              <a:t>Rol</a:t>
            </a:r>
            <a:r>
              <a:rPr lang="en-US" sz="1200" b="1" dirty="0">
                <a:solidFill>
                  <a:srgbClr val="FFFFFF"/>
                </a:solidFill>
                <a:latin typeface="Arial"/>
              </a:rPr>
              <a:t>: </a:t>
            </a:r>
            <a:r>
              <a:rPr lang="en-US" sz="1200" b="1" dirty="0" err="1">
                <a:solidFill>
                  <a:srgbClr val="FFFFFF"/>
                </a:solidFill>
                <a:latin typeface="Arial"/>
              </a:rPr>
              <a:t>Ejecutivo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Rectangle 6"/>
          <p:cNvSpPr/>
          <p:nvPr/>
        </p:nvSpPr>
        <p:spPr>
          <a:xfrm>
            <a:off x="259254" y="1846731"/>
            <a:ext cx="2176333" cy="378148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Sr. Medardo Guerrero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7"/>
          <p:cNvSpPr/>
          <p:nvPr/>
        </p:nvSpPr>
        <p:spPr>
          <a:xfrm>
            <a:off x="259254" y="2260375"/>
            <a:ext cx="2176333" cy="283518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8"/>
          <p:cNvSpPr/>
          <p:nvPr/>
        </p:nvSpPr>
        <p:spPr>
          <a:xfrm>
            <a:off x="259254" y="2579389"/>
            <a:ext cx="2176333" cy="73411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Líder de la asociación, toma decisiones estratégicas, busca mejorar la atención a los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9"/>
          <p:cNvSpPr/>
          <p:nvPr/>
        </p:nvSpPr>
        <p:spPr>
          <a:xfrm>
            <a:off x="259254" y="3362267"/>
            <a:ext cx="2176333" cy="283518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10"/>
          <p:cNvSpPr/>
          <p:nvPr/>
        </p:nvSpPr>
        <p:spPr>
          <a:xfrm>
            <a:off x="259254" y="3632513"/>
            <a:ext cx="2176333" cy="851672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Preocupado por la eficiencia, visibilidad del progreso, protección de datos y mejora tangible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11"/>
          <p:cNvSpPr/>
          <p:nvPr/>
        </p:nvSpPr>
        <p:spPr>
          <a:xfrm>
            <a:off x="259254" y="4451967"/>
            <a:ext cx="2176333" cy="283518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12"/>
          <p:cNvSpPr/>
          <p:nvPr/>
        </p:nvSpPr>
        <p:spPr>
          <a:xfrm>
            <a:off x="259254" y="4783173"/>
            <a:ext cx="2176333" cy="1692664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Reportes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ejecutivos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Visibilidad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proyecto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Mejora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atención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Toma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decisiones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basada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ounded Rectangle 13"/>
          <p:cNvSpPr/>
          <p:nvPr/>
        </p:nvSpPr>
        <p:spPr>
          <a:xfrm>
            <a:off x="2588632" y="1281856"/>
            <a:ext cx="2329079" cy="52042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14"/>
          <p:cNvSpPr/>
          <p:nvPr/>
        </p:nvSpPr>
        <p:spPr>
          <a:xfrm>
            <a:off x="2588632" y="1231560"/>
            <a:ext cx="2329079" cy="567409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Secretaria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General /</a:t>
            </a: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Rol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: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Operacional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15"/>
          <p:cNvSpPr/>
          <p:nvPr/>
        </p:nvSpPr>
        <p:spPr>
          <a:xfrm>
            <a:off x="2665006" y="1846731"/>
            <a:ext cx="2176333" cy="378148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Sra. Benilde Domínguez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16"/>
          <p:cNvSpPr/>
          <p:nvPr/>
        </p:nvSpPr>
        <p:spPr>
          <a:xfrm>
            <a:off x="2665006" y="2260375"/>
            <a:ext cx="2176333" cy="283518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7"/>
          <p:cNvSpPr/>
          <p:nvPr/>
        </p:nvSpPr>
        <p:spPr>
          <a:xfrm>
            <a:off x="2665006" y="2579389"/>
            <a:ext cx="2176333" cy="73411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Gestiona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actas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documentos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formales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comunicación con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entes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externos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registro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18"/>
          <p:cNvSpPr/>
          <p:nvPr/>
        </p:nvSpPr>
        <p:spPr>
          <a:xfrm>
            <a:off x="2665006" y="3362267"/>
            <a:ext cx="2176333" cy="283518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19"/>
          <p:cNvSpPr/>
          <p:nvPr/>
        </p:nvSpPr>
        <p:spPr>
          <a:xfrm>
            <a:off x="2665006" y="3632513"/>
            <a:ext cx="2176333" cy="851672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Necesita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sistema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fácil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usar,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consultas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rápidas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publicación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institucional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20"/>
          <p:cNvSpPr/>
          <p:nvPr/>
        </p:nvSpPr>
        <p:spPr>
          <a:xfrm>
            <a:off x="2665006" y="4451967"/>
            <a:ext cx="2176333" cy="283518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Rounded Rectangle 21"/>
          <p:cNvSpPr/>
          <p:nvPr/>
        </p:nvSpPr>
        <p:spPr>
          <a:xfrm>
            <a:off x="2665006" y="4783173"/>
            <a:ext cx="2176333" cy="1692664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Publicación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Automatización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procesos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Reportes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rápidos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22"/>
          <p:cNvSpPr/>
          <p:nvPr/>
        </p:nvSpPr>
        <p:spPr>
          <a:xfrm>
            <a:off x="4994385" y="1281856"/>
            <a:ext cx="2329079" cy="52042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23"/>
          <p:cNvSpPr/>
          <p:nvPr/>
        </p:nvSpPr>
        <p:spPr>
          <a:xfrm>
            <a:off x="4994385" y="1234540"/>
            <a:ext cx="2329079" cy="567409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Director de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Tecnología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/ </a:t>
            </a:r>
          </a:p>
          <a:p>
            <a:pPr algn="ctr" defTabSz="457200">
              <a:lnSpc>
                <a:spcPct val="100000"/>
              </a:lnSpc>
            </a:pPr>
            <a:r>
              <a:rPr lang="en-US" sz="1200" b="1" dirty="0" err="1">
                <a:solidFill>
                  <a:srgbClr val="FFFFFF"/>
                </a:solidFill>
                <a:latin typeface="Arial"/>
              </a:rPr>
              <a:t>R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ol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: Super Admin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24"/>
          <p:cNvSpPr/>
          <p:nvPr/>
        </p:nvSpPr>
        <p:spPr>
          <a:xfrm>
            <a:off x="5070758" y="1846731"/>
            <a:ext cx="2176333" cy="378148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Ing. Gabriel Falcón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25"/>
          <p:cNvSpPr/>
          <p:nvPr/>
        </p:nvSpPr>
        <p:spPr>
          <a:xfrm>
            <a:off x="5070758" y="2260375"/>
            <a:ext cx="2176333" cy="283518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26"/>
          <p:cNvSpPr/>
          <p:nvPr/>
        </p:nvSpPr>
        <p:spPr>
          <a:xfrm>
            <a:off x="5070758" y="2579389"/>
            <a:ext cx="2176333" cy="73411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Profesional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técnico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dará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soporte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futuro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sistema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monitorea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plataforma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tecnológica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27"/>
          <p:cNvSpPr/>
          <p:nvPr/>
        </p:nvSpPr>
        <p:spPr>
          <a:xfrm>
            <a:off x="5070758" y="3362267"/>
            <a:ext cx="2176333" cy="283518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28"/>
          <p:cNvSpPr/>
          <p:nvPr/>
        </p:nvSpPr>
        <p:spPr>
          <a:xfrm>
            <a:off x="5070758" y="3632513"/>
            <a:ext cx="2176333" cy="851672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Metódico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preocupado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por la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seguridad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estandarización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tecnológica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capacitación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29"/>
          <p:cNvSpPr/>
          <p:nvPr/>
        </p:nvSpPr>
        <p:spPr>
          <a:xfrm>
            <a:off x="5070758" y="4451967"/>
            <a:ext cx="2176333" cy="283518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30"/>
          <p:cNvSpPr/>
          <p:nvPr/>
        </p:nvSpPr>
        <p:spPr>
          <a:xfrm>
            <a:off x="5070758" y="4783173"/>
            <a:ext cx="2176333" cy="1593243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Capacitación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técnica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Soporte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futuro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sistema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Monitoreo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funcionamiento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Estandarización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ounded Rectangle 31"/>
          <p:cNvSpPr/>
          <p:nvPr/>
        </p:nvSpPr>
        <p:spPr>
          <a:xfrm>
            <a:off x="7400137" y="1281856"/>
            <a:ext cx="2329079" cy="52042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chemeClr val="accent1">
                <a:lumMod val="75000"/>
              </a:schemeClr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6" name="Rectangle 32"/>
          <p:cNvSpPr/>
          <p:nvPr/>
        </p:nvSpPr>
        <p:spPr>
          <a:xfrm>
            <a:off x="7400137" y="1234540"/>
            <a:ext cx="2329079" cy="56740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Arial"/>
              </a:rPr>
              <a:t>Personal de alto </a:t>
            </a:r>
            <a:r>
              <a:rPr lang="en-US" sz="1200" b="1" dirty="0" err="1">
                <a:solidFill>
                  <a:srgbClr val="FFFFFF"/>
                </a:solidFill>
                <a:latin typeface="Arial"/>
              </a:rPr>
              <a:t>nivel</a:t>
            </a:r>
            <a:r>
              <a:rPr lang="en-US" sz="1200" b="1" dirty="0">
                <a:solidFill>
                  <a:srgbClr val="FFFFFF"/>
                </a:solidFill>
                <a:latin typeface="Arial"/>
              </a:rPr>
              <a:t> / </a:t>
            </a:r>
          </a:p>
          <a:p>
            <a:pPr algn="ctr" defTabSz="457200">
              <a:lnSpc>
                <a:spcPct val="100000"/>
              </a:lnSpc>
            </a:pPr>
            <a:r>
              <a:rPr lang="en-US" sz="1200" b="1" dirty="0" err="1">
                <a:solidFill>
                  <a:srgbClr val="FFFFFF"/>
                </a:solidFill>
                <a:latin typeface="Arial"/>
              </a:rPr>
              <a:t>Rol</a:t>
            </a:r>
            <a:r>
              <a:rPr lang="en-US" sz="1200" b="1" dirty="0">
                <a:solidFill>
                  <a:srgbClr val="FFFFFF"/>
                </a:solidFill>
                <a:latin typeface="Arial"/>
              </a:rPr>
              <a:t>: 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Admin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33"/>
          <p:cNvSpPr/>
          <p:nvPr/>
        </p:nvSpPr>
        <p:spPr>
          <a:xfrm>
            <a:off x="7476511" y="1846731"/>
            <a:ext cx="2176333" cy="378148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Personal con roles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especiales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4"/>
          <p:cNvSpPr/>
          <p:nvPr/>
        </p:nvSpPr>
        <p:spPr>
          <a:xfrm>
            <a:off x="7476511" y="2260375"/>
            <a:ext cx="2176333" cy="2835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35"/>
          <p:cNvSpPr/>
          <p:nvPr/>
        </p:nvSpPr>
        <p:spPr>
          <a:xfrm>
            <a:off x="7476511" y="2579389"/>
            <a:ext cx="2176333" cy="73411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dirty="0">
                <a:solidFill>
                  <a:srgbClr val="002850"/>
                </a:solidFill>
                <a:latin typeface="Arial"/>
              </a:rPr>
              <a:t>Personal que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gestionará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 los roles del Sistema,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dara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accesos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privilegiados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 a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cada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usuario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segun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 </a:t>
            </a:r>
            <a:r>
              <a:rPr lang="en-US" sz="1200" dirty="0" err="1">
                <a:solidFill>
                  <a:srgbClr val="002850"/>
                </a:solidFill>
                <a:latin typeface="Arial"/>
              </a:rPr>
              <a:t>rol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36"/>
          <p:cNvSpPr/>
          <p:nvPr/>
        </p:nvSpPr>
        <p:spPr>
          <a:xfrm>
            <a:off x="7476511" y="3362267"/>
            <a:ext cx="2176333" cy="2835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Rounded Rectangle 37"/>
          <p:cNvSpPr/>
          <p:nvPr/>
        </p:nvSpPr>
        <p:spPr>
          <a:xfrm>
            <a:off x="7476511" y="3632513"/>
            <a:ext cx="2176333" cy="851672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5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Necesitan</a:t>
            </a:r>
            <a:r>
              <a:rPr lang="en-US" sz="115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15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interfaz</a:t>
            </a:r>
            <a:r>
              <a:rPr lang="en-US" sz="115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15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adaptada</a:t>
            </a:r>
            <a:r>
              <a:rPr lang="en-US" sz="115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para </a:t>
            </a:r>
            <a:r>
              <a:rPr lang="en-US" sz="115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gestionar</a:t>
            </a:r>
            <a:r>
              <a:rPr lang="en-US" sz="115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roles, y </a:t>
            </a:r>
            <a:r>
              <a:rPr lang="en-US" sz="115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</a:t>
            </a:r>
            <a:r>
              <a:rPr lang="en-US" sz="1150" dirty="0" err="1">
                <a:solidFill>
                  <a:srgbClr val="002850"/>
                </a:solidFill>
                <a:latin typeface="Arial"/>
              </a:rPr>
              <a:t>ón</a:t>
            </a:r>
            <a:r>
              <a:rPr lang="en-US" sz="115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15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administrativa</a:t>
            </a:r>
            <a:r>
              <a:rPr lang="en-US" sz="115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del </a:t>
            </a:r>
            <a:r>
              <a:rPr lang="en-US" sz="115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sistema</a:t>
            </a:r>
            <a:endParaRPr lang="es-VE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8"/>
          <p:cNvSpPr/>
          <p:nvPr/>
        </p:nvSpPr>
        <p:spPr>
          <a:xfrm>
            <a:off x="7476511" y="4476351"/>
            <a:ext cx="2176333" cy="2835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ounded Rectangle 39"/>
          <p:cNvSpPr/>
          <p:nvPr/>
        </p:nvSpPr>
        <p:spPr>
          <a:xfrm>
            <a:off x="7476511" y="4783173"/>
            <a:ext cx="2176333" cy="1692664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Consultar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los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usuarios</a:t>
            </a:r>
            <a:endParaRPr lang="es-V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100" dirty="0">
                <a:solidFill>
                  <a:srgbClr val="002850"/>
                </a:solidFill>
                <a:latin typeface="Arial"/>
              </a:rPr>
              <a:t>Dar o </a:t>
            </a:r>
            <a:r>
              <a:rPr lang="en-US" sz="1100" dirty="0" err="1">
                <a:solidFill>
                  <a:srgbClr val="002850"/>
                </a:solidFill>
                <a:latin typeface="Arial"/>
              </a:rPr>
              <a:t>quitar</a:t>
            </a:r>
            <a:r>
              <a:rPr lang="en-US" sz="1100" dirty="0">
                <a:solidFill>
                  <a:srgbClr val="002850"/>
                </a:solidFill>
                <a:latin typeface="Arial"/>
              </a:rPr>
              <a:t> </a:t>
            </a:r>
            <a:r>
              <a:rPr lang="en-US" sz="1100" dirty="0" err="1">
                <a:solidFill>
                  <a:srgbClr val="002850"/>
                </a:solidFill>
                <a:latin typeface="Arial"/>
              </a:rPr>
              <a:t>acceso</a:t>
            </a:r>
            <a:r>
              <a:rPr lang="en-US" sz="1100" dirty="0">
                <a:solidFill>
                  <a:srgbClr val="002850"/>
                </a:solidFill>
                <a:latin typeface="Arial"/>
              </a:rPr>
              <a:t> a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usuarios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segun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su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rol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.</a:t>
            </a:r>
            <a:endParaRPr lang="es-V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•Tener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acceso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al modulo de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administracion</a:t>
            </a: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del </a:t>
            </a:r>
            <a:r>
              <a:rPr lang="en-US" sz="11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sistema</a:t>
            </a:r>
            <a:endParaRPr lang="es-V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100" dirty="0" err="1">
                <a:solidFill>
                  <a:srgbClr val="002850"/>
                </a:solidFill>
                <a:latin typeface="Arial"/>
              </a:rPr>
              <a:t>Accesibilidad</a:t>
            </a:r>
            <a:r>
              <a:rPr lang="en-US" sz="1100" dirty="0">
                <a:solidFill>
                  <a:srgbClr val="002850"/>
                </a:solidFill>
                <a:latin typeface="Arial"/>
              </a:rPr>
              <a:t> a las funcionalidades del </a:t>
            </a:r>
            <a:r>
              <a:rPr lang="en-US" sz="1100" dirty="0" err="1">
                <a:solidFill>
                  <a:srgbClr val="002850"/>
                </a:solidFill>
                <a:latin typeface="Arial"/>
              </a:rPr>
              <a:t>sistema</a:t>
            </a:r>
            <a:endParaRPr lang="es-V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just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Rounded Rectangle 31">
            <a:extLst>
              <a:ext uri="{FF2B5EF4-FFF2-40B4-BE49-F238E27FC236}">
                <a16:creationId xmlns:a16="http://schemas.microsoft.com/office/drawing/2014/main" id="{44ED92B1-3DF0-451B-9B95-02E3A4F3BB5D}"/>
              </a:ext>
            </a:extLst>
          </p:cNvPr>
          <p:cNvSpPr/>
          <p:nvPr/>
        </p:nvSpPr>
        <p:spPr>
          <a:xfrm>
            <a:off x="9795768" y="1271549"/>
            <a:ext cx="2329079" cy="52042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" name="Rectangle 32">
            <a:extLst>
              <a:ext uri="{FF2B5EF4-FFF2-40B4-BE49-F238E27FC236}">
                <a16:creationId xmlns:a16="http://schemas.microsoft.com/office/drawing/2014/main" id="{FD3C4B28-C405-4B03-A80D-AA4736A78046}"/>
              </a:ext>
            </a:extLst>
          </p:cNvPr>
          <p:cNvSpPr/>
          <p:nvPr/>
        </p:nvSpPr>
        <p:spPr>
          <a:xfrm>
            <a:off x="9795768" y="1224233"/>
            <a:ext cx="2329079" cy="567409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Usuario Final / </a:t>
            </a:r>
          </a:p>
          <a:p>
            <a:pPr algn="ctr" defTabSz="457200">
              <a:lnSpc>
                <a:spcPct val="100000"/>
              </a:lnSpc>
            </a:pPr>
            <a:r>
              <a:rPr lang="en-US" sz="1200" b="1" dirty="0" err="1">
                <a:solidFill>
                  <a:srgbClr val="FFFFFF"/>
                </a:solidFill>
                <a:latin typeface="Arial"/>
              </a:rPr>
              <a:t>Rol</a:t>
            </a:r>
            <a:r>
              <a:rPr lang="en-US" sz="1200" b="1" dirty="0">
                <a:solidFill>
                  <a:srgbClr val="FFFFFF"/>
                </a:solidFill>
                <a:latin typeface="Arial"/>
              </a:rPr>
              <a:t>: </a:t>
            </a: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Asociado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ectangle 33">
            <a:extLst>
              <a:ext uri="{FF2B5EF4-FFF2-40B4-BE49-F238E27FC236}">
                <a16:creationId xmlns:a16="http://schemas.microsoft.com/office/drawing/2014/main" id="{2ECCEF7D-358E-4D38-AACA-450249AFE916}"/>
              </a:ext>
            </a:extLst>
          </p:cNvPr>
          <p:cNvSpPr/>
          <p:nvPr/>
        </p:nvSpPr>
        <p:spPr>
          <a:xfrm>
            <a:off x="9872142" y="1836424"/>
            <a:ext cx="2176333" cy="378148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Asociados Jubilados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Rectangle 34">
            <a:extLst>
              <a:ext uri="{FF2B5EF4-FFF2-40B4-BE49-F238E27FC236}">
                <a16:creationId xmlns:a16="http://schemas.microsoft.com/office/drawing/2014/main" id="{01938A1F-1FB2-4891-9210-A6DF59CCB890}"/>
              </a:ext>
            </a:extLst>
          </p:cNvPr>
          <p:cNvSpPr/>
          <p:nvPr/>
        </p:nvSpPr>
        <p:spPr>
          <a:xfrm>
            <a:off x="9872142" y="2250068"/>
            <a:ext cx="2176333" cy="283518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Rounded Rectangle 35">
            <a:extLst>
              <a:ext uri="{FF2B5EF4-FFF2-40B4-BE49-F238E27FC236}">
                <a16:creationId xmlns:a16="http://schemas.microsoft.com/office/drawing/2014/main" id="{81719D07-9A7C-4B67-BF39-FF270C0137DC}"/>
              </a:ext>
            </a:extLst>
          </p:cNvPr>
          <p:cNvSpPr/>
          <p:nvPr/>
        </p:nvSpPr>
        <p:spPr>
          <a:xfrm>
            <a:off x="9872142" y="2569082"/>
            <a:ext cx="2176333" cy="73411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Adultos mayores,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jubilados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CANTV,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necesitan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acceso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sencillo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su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personal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Rectangle 36">
            <a:extLst>
              <a:ext uri="{FF2B5EF4-FFF2-40B4-BE49-F238E27FC236}">
                <a16:creationId xmlns:a16="http://schemas.microsoft.com/office/drawing/2014/main" id="{7EBB4ADD-52F5-493E-BEE8-938E350E4DD3}"/>
              </a:ext>
            </a:extLst>
          </p:cNvPr>
          <p:cNvSpPr/>
          <p:nvPr/>
        </p:nvSpPr>
        <p:spPr>
          <a:xfrm>
            <a:off x="9872142" y="3351960"/>
            <a:ext cx="2176333" cy="283518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37">
            <a:extLst>
              <a:ext uri="{FF2B5EF4-FFF2-40B4-BE49-F238E27FC236}">
                <a16:creationId xmlns:a16="http://schemas.microsoft.com/office/drawing/2014/main" id="{4E942726-B29B-40CC-A2B8-788AFC63F5EA}"/>
              </a:ext>
            </a:extLst>
          </p:cNvPr>
          <p:cNvSpPr/>
          <p:nvPr/>
        </p:nvSpPr>
        <p:spPr>
          <a:xfrm>
            <a:off x="9872142" y="3622206"/>
            <a:ext cx="2176333" cy="851672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Necesitan interfaz adaptada, botones grandes, texto claro, proceso sencillo de trámites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Rectangle 38">
            <a:extLst>
              <a:ext uri="{FF2B5EF4-FFF2-40B4-BE49-F238E27FC236}">
                <a16:creationId xmlns:a16="http://schemas.microsoft.com/office/drawing/2014/main" id="{8DA6E695-9CFC-4DB1-B419-BDA3812BEE87}"/>
              </a:ext>
            </a:extLst>
          </p:cNvPr>
          <p:cNvSpPr/>
          <p:nvPr/>
        </p:nvSpPr>
        <p:spPr>
          <a:xfrm>
            <a:off x="9872142" y="4441660"/>
            <a:ext cx="2176333" cy="283518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39">
            <a:extLst>
              <a:ext uri="{FF2B5EF4-FFF2-40B4-BE49-F238E27FC236}">
                <a16:creationId xmlns:a16="http://schemas.microsoft.com/office/drawing/2014/main" id="{91C1F215-DDF9-49C4-951B-71ED8B3653A7}"/>
              </a:ext>
            </a:extLst>
          </p:cNvPr>
          <p:cNvSpPr/>
          <p:nvPr/>
        </p:nvSpPr>
        <p:spPr>
          <a:xfrm>
            <a:off x="9872142" y="4772866"/>
            <a:ext cx="2176333" cy="1513711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101520" rIns="101520" bIns="45000" anchor="ctr">
            <a:noAutofit/>
          </a:bodyPr>
          <a:lstStyle/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Consultar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personal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Enviar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documentos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Recibir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notificaciones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Objetivos</a:t>
            </a:r>
            <a:r>
              <a:rPr lang="en-US" sz="3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del Producto</a:t>
            </a:r>
            <a:endParaRPr lang="es-VE" sz="3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Si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tuviéramos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que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resumir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el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producto en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tres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objetivos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para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el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negocio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¿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cuáles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serían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?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Oval 4"/>
          <p:cNvSpPr/>
          <p:nvPr/>
        </p:nvSpPr>
        <p:spPr>
          <a:xfrm>
            <a:off x="365760" y="1371600"/>
            <a:ext cx="639720" cy="6397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Rounded Rectangle 5"/>
          <p:cNvSpPr/>
          <p:nvPr/>
        </p:nvSpPr>
        <p:spPr>
          <a:xfrm>
            <a:off x="1188720" y="1280160"/>
            <a:ext cx="10515240" cy="1005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9044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Centralizar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la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todos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los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jubilados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sobrevivientes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familiares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voceros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proveedores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una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única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base de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relacional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(MySQL),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eliminando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la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dispersión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actual en hojas de Excel.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6"/>
          <p:cNvSpPr/>
          <p:nvPr/>
        </p:nvSpPr>
        <p:spPr>
          <a:xfrm>
            <a:off x="365760" y="2560320"/>
            <a:ext cx="639720" cy="6397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Rounded Rectangle 7"/>
          <p:cNvSpPr/>
          <p:nvPr/>
        </p:nvSpPr>
        <p:spPr>
          <a:xfrm>
            <a:off x="1188720" y="2468880"/>
            <a:ext cx="10515240" cy="1005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9044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Automatizar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los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procesos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implementando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un CRUD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completo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que sea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fácil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usar para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el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personal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administrativo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reduciendo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el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tiempo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un 70%.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365760" y="3749040"/>
            <a:ext cx="639720" cy="6397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9"/>
          <p:cNvSpPr/>
          <p:nvPr/>
        </p:nvSpPr>
        <p:spPr>
          <a:xfrm>
            <a:off x="1188720" y="3657600"/>
            <a:ext cx="10515240" cy="1005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9044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Mejorar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la comunicación con los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través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un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sistema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web responsive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accesible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desde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computador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o smartphone, con </a:t>
            </a:r>
            <a:r>
              <a:rPr lang="en-US" sz="14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4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 IA para adultos mayores.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10"/>
          <p:cNvSpPr/>
          <p:nvPr/>
        </p:nvSpPr>
        <p:spPr>
          <a:xfrm>
            <a:off x="274320" y="4937760"/>
            <a:ext cx="11612520" cy="4568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Métricas Clave</a:t>
            </a:r>
            <a:endParaRPr lang="es-V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ounded Rectangle 11"/>
          <p:cNvSpPr/>
          <p:nvPr/>
        </p:nvSpPr>
        <p:spPr>
          <a:xfrm>
            <a:off x="27432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708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800" b="1" u="none" strike="noStrike" dirty="0">
                <a:solidFill>
                  <a:srgbClr val="0066CC"/>
                </a:solidFill>
                <a:effectLst/>
                <a:uFillTx/>
                <a:latin typeface="Arial"/>
              </a:rPr>
              <a:t>70%</a:t>
            </a:r>
            <a:endParaRPr lang="es-VE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Reducción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tiempo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administrativa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ounded Rectangle 12"/>
          <p:cNvSpPr/>
          <p:nvPr/>
        </p:nvSpPr>
        <p:spPr>
          <a:xfrm>
            <a:off x="320040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708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&lt;1%</a:t>
            </a:r>
            <a:endParaRPr lang="es-V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Tasa de errores de registro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(vs 15% actual)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13"/>
          <p:cNvSpPr/>
          <p:nvPr/>
        </p:nvSpPr>
        <p:spPr>
          <a:xfrm>
            <a:off x="612648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708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100%</a:t>
            </a:r>
            <a:endParaRPr lang="es-V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Control de datos con historial de modificaciones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14"/>
          <p:cNvSpPr/>
          <p:nvPr/>
        </p:nvSpPr>
        <p:spPr>
          <a:xfrm>
            <a:off x="905256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708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800" b="1" u="none" strike="noStrike" dirty="0">
                <a:solidFill>
                  <a:srgbClr val="0066CC"/>
                </a:solidFill>
                <a:effectLst/>
                <a:uFillTx/>
                <a:latin typeface="Arial"/>
              </a:rPr>
              <a:t>24/7</a:t>
            </a:r>
            <a:endParaRPr lang="es-VE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Disponibilidad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para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Viajes de Usuario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El viaje describe el camino que sigue un usuario a través de una secuencia de pasos para alcanzar una meta.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4"/>
          <p:cNvSpPr/>
          <p:nvPr/>
        </p:nvSpPr>
        <p:spPr>
          <a:xfrm>
            <a:off x="182880" y="1280160"/>
            <a:ext cx="384012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Patrocinador (Presidente)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Rounded Rectangle 5"/>
          <p:cNvSpPr/>
          <p:nvPr/>
        </p:nvSpPr>
        <p:spPr>
          <a:xfrm>
            <a:off x="182880" y="1783080"/>
            <a:ext cx="3840120" cy="3654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🎯 Evaluar estado de la asociación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Oval 6"/>
          <p:cNvSpPr/>
          <p:nvPr/>
        </p:nvSpPr>
        <p:spPr>
          <a:xfrm>
            <a:off x="274320" y="224028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Rounded Rectangle 7"/>
          <p:cNvSpPr/>
          <p:nvPr/>
        </p:nvSpPr>
        <p:spPr>
          <a:xfrm>
            <a:off x="777240" y="224028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Iniciar sesión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Login seguro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Oval 8"/>
          <p:cNvSpPr/>
          <p:nvPr/>
        </p:nvSpPr>
        <p:spPr>
          <a:xfrm>
            <a:off x="274320" y="301752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ounded Rectangle 9"/>
          <p:cNvSpPr/>
          <p:nvPr/>
        </p:nvSpPr>
        <p:spPr>
          <a:xfrm>
            <a:off x="777240" y="301752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Navegar a reportes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Dashboard ejecutivo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Oval 10"/>
          <p:cNvSpPr/>
          <p:nvPr/>
        </p:nvSpPr>
        <p:spPr>
          <a:xfrm>
            <a:off x="274320" y="379476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Rounded Rectangle 11"/>
          <p:cNvSpPr/>
          <p:nvPr/>
        </p:nvSpPr>
        <p:spPr>
          <a:xfrm>
            <a:off x="777240" y="379476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Filtrar por período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Filtros avanzados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Oval 12"/>
          <p:cNvSpPr/>
          <p:nvPr/>
        </p:nvSpPr>
        <p:spPr>
          <a:xfrm>
            <a:off x="274320" y="457200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13"/>
          <p:cNvSpPr/>
          <p:nvPr/>
        </p:nvSpPr>
        <p:spPr>
          <a:xfrm>
            <a:off x="777240" y="457200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Analizar métricas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Gráficos y KPIs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Oval 14"/>
          <p:cNvSpPr/>
          <p:nvPr/>
        </p:nvSpPr>
        <p:spPr>
          <a:xfrm>
            <a:off x="274320" y="534924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ounded Rectangle 15"/>
          <p:cNvSpPr/>
          <p:nvPr/>
        </p:nvSpPr>
        <p:spPr>
          <a:xfrm>
            <a:off x="777240" y="534924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Exportar reporte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PDF/Excel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16"/>
          <p:cNvSpPr/>
          <p:nvPr/>
        </p:nvSpPr>
        <p:spPr>
          <a:xfrm>
            <a:off x="4069080" y="1280160"/>
            <a:ext cx="3840120" cy="4568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Secretaria (Administradora)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Rounded Rectangle 17"/>
          <p:cNvSpPr/>
          <p:nvPr/>
        </p:nvSpPr>
        <p:spPr>
          <a:xfrm>
            <a:off x="4069080" y="1783080"/>
            <a:ext cx="3840120" cy="3654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🎯 Registrar nuevo asociado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Oval 18"/>
          <p:cNvSpPr/>
          <p:nvPr/>
        </p:nvSpPr>
        <p:spPr>
          <a:xfrm>
            <a:off x="4160520" y="224028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19"/>
          <p:cNvSpPr/>
          <p:nvPr/>
        </p:nvSpPr>
        <p:spPr>
          <a:xfrm>
            <a:off x="4663440" y="224028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Acceder módulo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Navegación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Oval 20"/>
          <p:cNvSpPr/>
          <p:nvPr/>
        </p:nvSpPr>
        <p:spPr>
          <a:xfrm>
            <a:off x="4160520" y="301752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ounded Rectangle 21"/>
          <p:cNvSpPr/>
          <p:nvPr/>
        </p:nvSpPr>
        <p:spPr>
          <a:xfrm>
            <a:off x="4663440" y="301752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Completar formulario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Formulario con validaciones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Oval 22"/>
          <p:cNvSpPr/>
          <p:nvPr/>
        </p:nvSpPr>
        <p:spPr>
          <a:xfrm>
            <a:off x="4160520" y="379476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23"/>
          <p:cNvSpPr/>
          <p:nvPr/>
        </p:nvSpPr>
        <p:spPr>
          <a:xfrm>
            <a:off x="4663440" y="379476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Verificar duplicados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Detección IA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Oval 24"/>
          <p:cNvSpPr/>
          <p:nvPr/>
        </p:nvSpPr>
        <p:spPr>
          <a:xfrm>
            <a:off x="4160520" y="457200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Rounded Rectangle 25"/>
          <p:cNvSpPr/>
          <p:nvPr/>
        </p:nvSpPr>
        <p:spPr>
          <a:xfrm>
            <a:off x="4663440" y="457200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Guardar registro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Confirmación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26"/>
          <p:cNvSpPr/>
          <p:nvPr/>
        </p:nvSpPr>
        <p:spPr>
          <a:xfrm>
            <a:off x="4160520" y="534924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Rounded Rectangle 27"/>
          <p:cNvSpPr/>
          <p:nvPr/>
        </p:nvSpPr>
        <p:spPr>
          <a:xfrm>
            <a:off x="4663440" y="534924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Generar reporte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Exportación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28"/>
          <p:cNvSpPr/>
          <p:nvPr/>
        </p:nvSpPr>
        <p:spPr>
          <a:xfrm>
            <a:off x="7955280" y="1280160"/>
            <a:ext cx="3840120" cy="4568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Asociado (Jubilado)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Rounded Rectangle 29"/>
          <p:cNvSpPr/>
          <p:nvPr/>
        </p:nvSpPr>
        <p:spPr>
          <a:xfrm>
            <a:off x="7955280" y="1783080"/>
            <a:ext cx="3840120" cy="3654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🎯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Consultar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personal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Oval 30"/>
          <p:cNvSpPr/>
          <p:nvPr/>
        </p:nvSpPr>
        <p:spPr>
          <a:xfrm>
            <a:off x="8046720" y="224028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Rounded Rectangle 31"/>
          <p:cNvSpPr/>
          <p:nvPr/>
        </p:nvSpPr>
        <p:spPr>
          <a:xfrm>
            <a:off x="8549640" y="224028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Iniciar sesión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Login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32"/>
          <p:cNvSpPr/>
          <p:nvPr/>
        </p:nvSpPr>
        <p:spPr>
          <a:xfrm>
            <a:off x="8046720" y="301752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Rounded Rectangle 33"/>
          <p:cNvSpPr/>
          <p:nvPr/>
        </p:nvSpPr>
        <p:spPr>
          <a:xfrm>
            <a:off x="8549640" y="301752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Acceder portal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Dashboard personal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Oval 34"/>
          <p:cNvSpPr/>
          <p:nvPr/>
        </p:nvSpPr>
        <p:spPr>
          <a:xfrm>
            <a:off x="8046720" y="379476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35"/>
          <p:cNvSpPr/>
          <p:nvPr/>
        </p:nvSpPr>
        <p:spPr>
          <a:xfrm>
            <a:off x="8549640" y="379476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Ver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datos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Oval 36"/>
          <p:cNvSpPr/>
          <p:nvPr/>
        </p:nvSpPr>
        <p:spPr>
          <a:xfrm>
            <a:off x="8046720" y="457200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Rounded Rectangle 37"/>
          <p:cNvSpPr/>
          <p:nvPr/>
        </p:nvSpPr>
        <p:spPr>
          <a:xfrm>
            <a:off x="8549640" y="457200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Escanear documento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Cámara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Oval 38"/>
          <p:cNvSpPr/>
          <p:nvPr/>
        </p:nvSpPr>
        <p:spPr>
          <a:xfrm>
            <a:off x="8046720" y="534924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Rounded Rectangle 39"/>
          <p:cNvSpPr/>
          <p:nvPr/>
        </p:nvSpPr>
        <p:spPr>
          <a:xfrm>
            <a:off x="8549640" y="534924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Enviar documento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Email/Cloud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Brainstorming de Funcionalidades</a:t>
            </a:r>
            <a:endParaRPr lang="es-VE" sz="3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El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usuario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está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tratando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hacer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algo, por lo que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el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producto debe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tener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una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funcionalidad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para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. ¿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Qué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funcionalidad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sería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?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4"/>
          <p:cNvSpPr/>
          <p:nvPr/>
        </p:nvSpPr>
        <p:spPr>
          <a:xfrm>
            <a:off x="182880" y="1280160"/>
            <a:ext cx="2788560" cy="36540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Gestión de Asociados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Rounded Rectangle 5"/>
          <p:cNvSpPr/>
          <p:nvPr/>
        </p:nvSpPr>
        <p:spPr>
          <a:xfrm>
            <a:off x="18288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Registrar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Editar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Buscar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Eliminar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lógico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Gestionar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familiares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Gestionar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voceros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Gestionar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proveedores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6"/>
          <p:cNvSpPr/>
          <p:nvPr/>
        </p:nvSpPr>
        <p:spPr>
          <a:xfrm>
            <a:off x="3063240" y="1280160"/>
            <a:ext cx="2788560" cy="36540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Autenticación y Seguridad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Rounded Rectangle 7"/>
          <p:cNvSpPr/>
          <p:nvPr/>
        </p:nvSpPr>
        <p:spPr>
          <a:xfrm>
            <a:off x="306324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Inicio de sesión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Gestión de roles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Control de permisos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Bitácora de accesos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Bloqueo por intentos fallidos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8"/>
          <p:cNvSpPr/>
          <p:nvPr/>
        </p:nvSpPr>
        <p:spPr>
          <a:xfrm>
            <a:off x="5943600" y="1280160"/>
            <a:ext cx="2788560" cy="36540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IA y Automatización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9"/>
          <p:cNvSpPr/>
          <p:nvPr/>
        </p:nvSpPr>
        <p:spPr>
          <a:xfrm>
            <a:off x="594360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Detección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duplicados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Sugerencias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inteligentes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Autocompletado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10"/>
          <p:cNvSpPr/>
          <p:nvPr/>
        </p:nvSpPr>
        <p:spPr>
          <a:xfrm>
            <a:off x="8823960" y="1280160"/>
            <a:ext cx="2788560" cy="36540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Reportes y Análisis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Rounded Rectangle 11"/>
          <p:cNvSpPr/>
          <p:nvPr/>
        </p:nvSpPr>
        <p:spPr>
          <a:xfrm>
            <a:off x="882396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6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Reportes por edad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Crecimiento mensual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Distribución por tipo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Situación social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Exportar múltiples formatos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12"/>
          <p:cNvSpPr/>
          <p:nvPr/>
        </p:nvSpPr>
        <p:spPr>
          <a:xfrm>
            <a:off x="1554480" y="3931920"/>
            <a:ext cx="2788560" cy="365400"/>
          </a:xfrm>
          <a:prstGeom prst="rect">
            <a:avLst/>
          </a:prstGeom>
          <a:solidFill>
            <a:srgbClr val="00808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Documentos y Escaneo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Rounded Rectangle 13"/>
          <p:cNvSpPr/>
          <p:nvPr/>
        </p:nvSpPr>
        <p:spPr>
          <a:xfrm>
            <a:off x="1554480" y="4343400"/>
            <a:ext cx="2788560" cy="17370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80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Escaneo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Bandeja digital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Envío por email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Almacenamiento cloud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14"/>
          <p:cNvSpPr/>
          <p:nvPr/>
        </p:nvSpPr>
        <p:spPr>
          <a:xfrm>
            <a:off x="4572000" y="3931920"/>
            <a:ext cx="2788560" cy="36540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Importación/Exportación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15"/>
          <p:cNvSpPr/>
          <p:nvPr/>
        </p:nvSpPr>
        <p:spPr>
          <a:xfrm>
            <a:off x="4572000" y="4343400"/>
            <a:ext cx="2788560" cy="17370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495E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Importar Excel/PDF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Exportar Excel/PDF/CSV/JSON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Sincronización automática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16"/>
          <p:cNvSpPr/>
          <p:nvPr/>
        </p:nvSpPr>
        <p:spPr>
          <a:xfrm>
            <a:off x="7589520" y="3931920"/>
            <a:ext cx="2788560" cy="365400"/>
          </a:xfrm>
          <a:prstGeom prst="rect">
            <a:avLst/>
          </a:prstGeom>
          <a:solidFill>
            <a:srgbClr val="4682B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Web Pública y Notificaciones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Rounded Rectangle 17"/>
          <p:cNvSpPr/>
          <p:nvPr/>
        </p:nvSpPr>
        <p:spPr>
          <a:xfrm>
            <a:off x="7589520" y="4343400"/>
            <a:ext cx="2788560" cy="17370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4682B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Página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informativa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Misión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/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visión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/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valores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Notificaciones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push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Portal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Priorización</a:t>
            </a:r>
            <a:r>
              <a:rPr lang="en-US" sz="30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de Funcionalidades - </a:t>
            </a:r>
            <a:r>
              <a:rPr lang="en-US" sz="30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MoSCoW</a:t>
            </a:r>
            <a:endParaRPr lang="es-VE" sz="3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3"/>
          <p:cNvSpPr/>
          <p:nvPr/>
        </p:nvSpPr>
        <p:spPr>
          <a:xfrm>
            <a:off x="182880" y="1005840"/>
            <a:ext cx="2834280" cy="456840"/>
          </a:xfrm>
          <a:prstGeom prst="rect">
            <a:avLst/>
          </a:prstGeom>
          <a:solidFill>
            <a:srgbClr val="00994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MUST HAVE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4"/>
          <p:cNvSpPr/>
          <p:nvPr/>
        </p:nvSpPr>
        <p:spPr>
          <a:xfrm>
            <a:off x="18288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Imprescindibles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ounded Rectangle 5"/>
          <p:cNvSpPr/>
          <p:nvPr/>
        </p:nvSpPr>
        <p:spPr>
          <a:xfrm>
            <a:off x="182880" y="1783080"/>
            <a:ext cx="2834280" cy="3291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4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Autenticación y roles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(Seguridad)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Registrar asociado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(Asociados)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Consultar asociado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(Asociados)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Gestionar familiares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(Asociados)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Importar datos históricos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(Datos)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Página web pública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(Web)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6"/>
          <p:cNvSpPr/>
          <p:nvPr/>
        </p:nvSpPr>
        <p:spPr>
          <a:xfrm>
            <a:off x="3108960" y="1005840"/>
            <a:ext cx="2834280" cy="456840"/>
          </a:xfrm>
          <a:prstGeom prst="rect">
            <a:avLst/>
          </a:prstGeom>
          <a:solidFill>
            <a:srgbClr val="FFA5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SHOULD HAVE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ectangle 7"/>
          <p:cNvSpPr/>
          <p:nvPr/>
        </p:nvSpPr>
        <p:spPr>
          <a:xfrm>
            <a:off x="310896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Importantes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Rounded Rectangle 8"/>
          <p:cNvSpPr/>
          <p:nvPr/>
        </p:nvSpPr>
        <p:spPr>
          <a:xfrm>
            <a:off x="3108960" y="1783080"/>
            <a:ext cx="2834280" cy="27885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FFA5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</a:t>
            </a:r>
            <a:br>
              <a:rPr sz="1200" dirty="0"/>
            </a:b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  (IA)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Detección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duplicados</a:t>
            </a:r>
            <a:br>
              <a:rPr sz="1200" dirty="0"/>
            </a:b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  (IA)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Generar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reportes</a:t>
            </a:r>
            <a:br>
              <a:rPr sz="1200" dirty="0"/>
            </a:b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  (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Reportes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Escaneo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documentos</a:t>
            </a:r>
            <a:br>
              <a:rPr sz="1200" dirty="0"/>
            </a:b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  (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Documentos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Exportar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br>
              <a:rPr sz="1200" dirty="0"/>
            </a:b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  (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9"/>
          <p:cNvSpPr/>
          <p:nvPr/>
        </p:nvSpPr>
        <p:spPr>
          <a:xfrm>
            <a:off x="6035040" y="1005840"/>
            <a:ext cx="2834280" cy="45684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COULD HAVE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Rectangle 10"/>
          <p:cNvSpPr/>
          <p:nvPr/>
        </p:nvSpPr>
        <p:spPr>
          <a:xfrm>
            <a:off x="603504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Deseables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ounded Rectangle 11"/>
          <p:cNvSpPr/>
          <p:nvPr/>
        </p:nvSpPr>
        <p:spPr>
          <a:xfrm>
            <a:off x="6035040" y="1783080"/>
            <a:ext cx="2834280" cy="228564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495E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Sugerencias inteligentes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(IA)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Notificaciones push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(Notificaciones)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Bandeja digital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(Documentos)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Sincronización automática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(Datos)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ectangle 12"/>
          <p:cNvSpPr/>
          <p:nvPr/>
        </p:nvSpPr>
        <p:spPr>
          <a:xfrm>
            <a:off x="8961120" y="1005840"/>
            <a:ext cx="2834280" cy="456840"/>
          </a:xfrm>
          <a:prstGeom prst="rect">
            <a:avLst/>
          </a:prstGeom>
          <a:solidFill>
            <a:srgbClr val="C8505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WON'T HAVE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13"/>
          <p:cNvSpPr/>
          <p:nvPr/>
        </p:nvSpPr>
        <p:spPr>
          <a:xfrm>
            <a:off x="896112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Fuera de alcance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14"/>
          <p:cNvSpPr/>
          <p:nvPr/>
        </p:nvSpPr>
        <p:spPr>
          <a:xfrm>
            <a:off x="8961120" y="1783080"/>
            <a:ext cx="2834280" cy="228564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C8505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tIns="152280" rIns="101520" bIns="45000" anchor="ctr">
            <a:noAutofit/>
          </a:bodyPr>
          <a:lstStyle/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App móvil nativa (Fase 2)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Integración con CANTV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de salud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social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Revisión Técnica, de Negocio y UX</a:t>
            </a:r>
            <a:endParaRPr lang="es-VE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Esta revisión analiza cómo se siente el equipo con respecto a la comprensión técnica, de negocio y de experiencia de usuario de cada funcionalidad.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ounded Rectangle 4"/>
          <p:cNvSpPr/>
          <p:nvPr/>
        </p:nvSpPr>
        <p:spPr>
          <a:xfrm>
            <a:off x="274320" y="1234440"/>
            <a:ext cx="11612520" cy="365400"/>
          </a:xfrm>
          <a:prstGeom prst="roundRect">
            <a:avLst>
              <a:gd name="adj" fmla="val 16667"/>
            </a:avLst>
          </a:prstGeom>
          <a:solidFill>
            <a:srgbClr val="FFF8DC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$ = Valor de Negocio    |    E = Esfuerzo Técnico    |    ♥ = Valor de UX    |    El color y marcado ayudarán a priorizar, estimar y planificar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ounded Rectangle 5"/>
          <p:cNvSpPr/>
          <p:nvPr/>
        </p:nvSpPr>
        <p:spPr>
          <a:xfrm>
            <a:off x="182880" y="169164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7" name="Rectangle 6"/>
          <p:cNvSpPr/>
          <p:nvPr/>
        </p:nvSpPr>
        <p:spPr>
          <a:xfrm>
            <a:off x="182880" y="1691640"/>
            <a:ext cx="384012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Registro de asociados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7"/>
          <p:cNvSpPr/>
          <p:nvPr/>
        </p:nvSpPr>
        <p:spPr>
          <a:xfrm>
            <a:off x="274320" y="214884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6336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Permite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registrar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gestionar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básica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cada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ounded Rectangle 8"/>
          <p:cNvSpPr/>
          <p:nvPr/>
        </p:nvSpPr>
        <p:spPr>
          <a:xfrm>
            <a:off x="27432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ounded Rectangle 9"/>
          <p:cNvSpPr/>
          <p:nvPr/>
        </p:nvSpPr>
        <p:spPr>
          <a:xfrm>
            <a:off x="150876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10"/>
          <p:cNvSpPr/>
          <p:nvPr/>
        </p:nvSpPr>
        <p:spPr>
          <a:xfrm>
            <a:off x="274320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ounded Rectangle 11"/>
          <p:cNvSpPr/>
          <p:nvPr/>
        </p:nvSpPr>
        <p:spPr>
          <a:xfrm>
            <a:off x="4069080" y="169164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12"/>
          <p:cNvSpPr/>
          <p:nvPr/>
        </p:nvSpPr>
        <p:spPr>
          <a:xfrm>
            <a:off x="4069080" y="1691640"/>
            <a:ext cx="3840120" cy="41112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Autenticación y roles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Rectangle 13"/>
          <p:cNvSpPr/>
          <p:nvPr/>
        </p:nvSpPr>
        <p:spPr>
          <a:xfrm>
            <a:off x="4160520" y="214884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6336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Sistema de login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seguro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 control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acceso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basado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roles (RBAC)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Rounded Rectangle 14"/>
          <p:cNvSpPr/>
          <p:nvPr/>
        </p:nvSpPr>
        <p:spPr>
          <a:xfrm>
            <a:off x="416052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15"/>
          <p:cNvSpPr/>
          <p:nvPr/>
        </p:nvSpPr>
        <p:spPr>
          <a:xfrm>
            <a:off x="539496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ounded Rectangle 16"/>
          <p:cNvSpPr/>
          <p:nvPr/>
        </p:nvSpPr>
        <p:spPr>
          <a:xfrm>
            <a:off x="662940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ounded Rectangle 17"/>
          <p:cNvSpPr/>
          <p:nvPr/>
        </p:nvSpPr>
        <p:spPr>
          <a:xfrm>
            <a:off x="7955280" y="169164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9" name="Rectangle 18"/>
          <p:cNvSpPr/>
          <p:nvPr/>
        </p:nvSpPr>
        <p:spPr>
          <a:xfrm>
            <a:off x="7955280" y="1691640"/>
            <a:ext cx="3840120" cy="41112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Importación de datos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Rectangle 19"/>
          <p:cNvSpPr/>
          <p:nvPr/>
        </p:nvSpPr>
        <p:spPr>
          <a:xfrm>
            <a:off x="8046720" y="214884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6336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Importación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masiva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desde Excel y PDF con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validaciones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automáticas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20"/>
          <p:cNvSpPr/>
          <p:nvPr/>
        </p:nvSpPr>
        <p:spPr>
          <a:xfrm>
            <a:off x="804672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ounded Rectangle 21"/>
          <p:cNvSpPr/>
          <p:nvPr/>
        </p:nvSpPr>
        <p:spPr>
          <a:xfrm>
            <a:off x="928116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ounded Rectangle 22"/>
          <p:cNvSpPr/>
          <p:nvPr/>
        </p:nvSpPr>
        <p:spPr>
          <a:xfrm>
            <a:off x="1051560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Rounded Rectangle 23"/>
          <p:cNvSpPr/>
          <p:nvPr/>
        </p:nvSpPr>
        <p:spPr>
          <a:xfrm>
            <a:off x="182880" y="38404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24"/>
          <p:cNvSpPr/>
          <p:nvPr/>
        </p:nvSpPr>
        <p:spPr>
          <a:xfrm>
            <a:off x="182880" y="3840480"/>
            <a:ext cx="3840120" cy="41112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Agente</a:t>
            </a: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conversacional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25"/>
          <p:cNvSpPr/>
          <p:nvPr/>
        </p:nvSpPr>
        <p:spPr>
          <a:xfrm>
            <a:off x="274320" y="429768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6336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Chatbot con IA para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asistir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 adultos mayores con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preguntas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prediseñadas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ounded Rectangle 26"/>
          <p:cNvSpPr/>
          <p:nvPr/>
        </p:nvSpPr>
        <p:spPr>
          <a:xfrm>
            <a:off x="27432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ounded Rectangle 27"/>
          <p:cNvSpPr/>
          <p:nvPr/>
        </p:nvSpPr>
        <p:spPr>
          <a:xfrm>
            <a:off x="150876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ounded Rectangle 28"/>
          <p:cNvSpPr/>
          <p:nvPr/>
        </p:nvSpPr>
        <p:spPr>
          <a:xfrm>
            <a:off x="274320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ounded Rectangle 29"/>
          <p:cNvSpPr/>
          <p:nvPr/>
        </p:nvSpPr>
        <p:spPr>
          <a:xfrm>
            <a:off x="4069080" y="38404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66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11" name="Rectangle 30"/>
          <p:cNvSpPr/>
          <p:nvPr/>
        </p:nvSpPr>
        <p:spPr>
          <a:xfrm>
            <a:off x="4069080" y="3840480"/>
            <a:ext cx="3840120" cy="41112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Escaneo de documentos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31"/>
          <p:cNvSpPr/>
          <p:nvPr/>
        </p:nvSpPr>
        <p:spPr>
          <a:xfrm>
            <a:off x="4160520" y="429768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6336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Captura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mejora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imágenes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documentos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desde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cámara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móvil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ounded Rectangle 32"/>
          <p:cNvSpPr/>
          <p:nvPr/>
        </p:nvSpPr>
        <p:spPr>
          <a:xfrm>
            <a:off x="416052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ounded Rectangle 33"/>
          <p:cNvSpPr/>
          <p:nvPr/>
        </p:nvSpPr>
        <p:spPr>
          <a:xfrm>
            <a:off x="539496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ounded Rectangle 34"/>
          <p:cNvSpPr/>
          <p:nvPr/>
        </p:nvSpPr>
        <p:spPr>
          <a:xfrm>
            <a:off x="662940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35"/>
          <p:cNvSpPr/>
          <p:nvPr/>
        </p:nvSpPr>
        <p:spPr>
          <a:xfrm>
            <a:off x="7955280" y="38404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6495E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7955280" y="3840480"/>
            <a:ext cx="3840120" cy="41112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Reportes ejecutivos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8046720" y="429768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63360" rIns="10152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Generación de reportes estratégicos para la junta directiva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Rounded Rectangle 38"/>
          <p:cNvSpPr/>
          <p:nvPr/>
        </p:nvSpPr>
        <p:spPr>
          <a:xfrm>
            <a:off x="804672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ounded Rectangle 39"/>
          <p:cNvSpPr/>
          <p:nvPr/>
        </p:nvSpPr>
        <p:spPr>
          <a:xfrm>
            <a:off x="928116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Rounded Rectangle 40"/>
          <p:cNvSpPr/>
          <p:nvPr/>
        </p:nvSpPr>
        <p:spPr>
          <a:xfrm>
            <a:off x="1051560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Secuenciador</a:t>
            </a:r>
            <a:r>
              <a:rPr lang="en-US" sz="30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de Funcionalidades</a:t>
            </a:r>
            <a:endParaRPr lang="es-VE" sz="3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El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Secuenciador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organiza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las funcionalidades y la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secuencia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validación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incremental del producto.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4"/>
          <p:cNvSpPr/>
          <p:nvPr/>
        </p:nvSpPr>
        <p:spPr>
          <a:xfrm>
            <a:off x="457200" y="2560320"/>
            <a:ext cx="11246760" cy="727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7" name="Oval 5"/>
          <p:cNvSpPr/>
          <p:nvPr/>
        </p:nvSpPr>
        <p:spPr>
          <a:xfrm>
            <a:off x="1005840" y="2423160"/>
            <a:ext cx="365400" cy="365400"/>
          </a:xfrm>
          <a:prstGeom prst="ellipse">
            <a:avLst/>
          </a:prstGeom>
          <a:solidFill>
            <a:srgbClr val="0066CC"/>
          </a:solidFill>
          <a:ln w="38100"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8" name="Rounded Rectangle 6"/>
          <p:cNvSpPr/>
          <p:nvPr/>
        </p:nvSpPr>
        <p:spPr>
          <a:xfrm>
            <a:off x="27432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066CC"/>
                </a:solidFill>
                <a:effectLst/>
                <a:uFillTx/>
                <a:latin typeface="Arial"/>
              </a:rPr>
              <a:t>MVP Base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Marzo 2026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ounded Rectangle 7"/>
          <p:cNvSpPr/>
          <p:nvPr/>
        </p:nvSpPr>
        <p:spPr>
          <a:xfrm>
            <a:off x="27432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Autenticación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CRUD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Roles básicos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Web pública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Oval 8"/>
          <p:cNvSpPr/>
          <p:nvPr/>
        </p:nvSpPr>
        <p:spPr>
          <a:xfrm>
            <a:off x="3200400" y="2423160"/>
            <a:ext cx="365400" cy="365400"/>
          </a:xfrm>
          <a:prstGeom prst="ellipse">
            <a:avLst/>
          </a:prstGeom>
          <a:solidFill>
            <a:srgbClr val="0099CC"/>
          </a:solidFill>
          <a:ln w="38100"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9"/>
          <p:cNvSpPr/>
          <p:nvPr/>
        </p:nvSpPr>
        <p:spPr>
          <a:xfrm>
            <a:off x="246888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CC"/>
                </a:solidFill>
                <a:effectLst/>
                <a:uFillTx/>
                <a:latin typeface="Arial"/>
              </a:rPr>
              <a:t>Gestión Admin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Abril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ounded Rectangle 10"/>
          <p:cNvSpPr/>
          <p:nvPr/>
        </p:nvSpPr>
        <p:spPr>
          <a:xfrm>
            <a:off x="246888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Familiares/Voceros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Importación Excel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Reportes básicos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Proveedores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Oval 11"/>
          <p:cNvSpPr/>
          <p:nvPr/>
        </p:nvSpPr>
        <p:spPr>
          <a:xfrm>
            <a:off x="5394960" y="2423160"/>
            <a:ext cx="365400" cy="365400"/>
          </a:xfrm>
          <a:prstGeom prst="ellipse">
            <a:avLst/>
          </a:prstGeom>
          <a:solidFill>
            <a:srgbClr val="3399FF"/>
          </a:solidFill>
          <a:ln w="38100"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4" name="Rounded Rectangle 12"/>
          <p:cNvSpPr/>
          <p:nvPr/>
        </p:nvSpPr>
        <p:spPr>
          <a:xfrm>
            <a:off x="466344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3399FF"/>
                </a:solidFill>
                <a:effectLst/>
                <a:uFillTx/>
                <a:latin typeface="Arial"/>
              </a:rPr>
              <a:t>IA y Documentos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Mayo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ounded Rectangle 13"/>
          <p:cNvSpPr/>
          <p:nvPr/>
        </p:nvSpPr>
        <p:spPr>
          <a:xfrm>
            <a:off x="466344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Detección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duplicados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Escaneo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documentos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Exportación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Oval 14"/>
          <p:cNvSpPr/>
          <p:nvPr/>
        </p:nvSpPr>
        <p:spPr>
          <a:xfrm>
            <a:off x="7589520" y="2423160"/>
            <a:ext cx="365400" cy="365400"/>
          </a:xfrm>
          <a:prstGeom prst="ellipse">
            <a:avLst/>
          </a:prstGeom>
          <a:solidFill>
            <a:srgbClr val="009999"/>
          </a:solidFill>
          <a:ln w="38100"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7" name="Rounded Rectangle 15"/>
          <p:cNvSpPr/>
          <p:nvPr/>
        </p:nvSpPr>
        <p:spPr>
          <a:xfrm>
            <a:off x="685800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99"/>
                </a:solidFill>
                <a:effectLst/>
                <a:uFillTx/>
                <a:latin typeface="Arial"/>
              </a:rPr>
              <a:t>Portal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Junio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ounded Rectangle 16"/>
          <p:cNvSpPr/>
          <p:nvPr/>
        </p:nvSpPr>
        <p:spPr>
          <a:xfrm>
            <a:off x="685800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Portal personal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Notificaciones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Bandeja digital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Consulta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Oval 17"/>
          <p:cNvSpPr/>
          <p:nvPr/>
        </p:nvSpPr>
        <p:spPr>
          <a:xfrm>
            <a:off x="9784080" y="2423160"/>
            <a:ext cx="365400" cy="365400"/>
          </a:xfrm>
          <a:prstGeom prst="ellipse">
            <a:avLst/>
          </a:prstGeom>
          <a:solidFill>
            <a:srgbClr val="6666CC"/>
          </a:solidFill>
          <a:ln w="38100"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0" name="Rounded Rectangle 18"/>
          <p:cNvSpPr/>
          <p:nvPr/>
        </p:nvSpPr>
        <p:spPr>
          <a:xfrm>
            <a:off x="905256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66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6666CC"/>
                </a:solidFill>
                <a:effectLst/>
                <a:uFillTx/>
                <a:latin typeface="Arial"/>
              </a:rPr>
              <a:t>Despliegue</a:t>
            </a:r>
            <a:r>
              <a:rPr lang="en-US" sz="1200" b="1" u="none" strike="noStrike" dirty="0">
                <a:solidFill>
                  <a:srgbClr val="6666CC"/>
                </a:solidFill>
                <a:effectLst/>
                <a:uFillTx/>
                <a:latin typeface="Arial"/>
              </a:rPr>
              <a:t> Final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Julio 2026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19"/>
          <p:cNvSpPr/>
          <p:nvPr/>
        </p:nvSpPr>
        <p:spPr>
          <a:xfrm>
            <a:off x="905256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6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52280" rIns="10152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Pruebas finales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Entrega operativa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ight Arrow 20"/>
          <p:cNvSpPr/>
          <p:nvPr/>
        </p:nvSpPr>
        <p:spPr>
          <a:xfrm>
            <a:off x="5029200" y="5669280"/>
            <a:ext cx="2736000" cy="548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→ Progreso del Desarrollo →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Canvas MVP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Marco visual que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ayuda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al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equipo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alinear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definir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estrategia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MVP, la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versión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más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simple del producto.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4"/>
          <p:cNvSpPr/>
          <p:nvPr/>
        </p:nvSpPr>
        <p:spPr>
          <a:xfrm>
            <a:off x="182880" y="128016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Sistema web responsive que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centraliza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automatiza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la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gestión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datos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 IA para adultos mayores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Rectangle 5"/>
          <p:cNvSpPr/>
          <p:nvPr/>
        </p:nvSpPr>
        <p:spPr>
          <a:xfrm>
            <a:off x="182880" y="1280160"/>
            <a:ext cx="384012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1. Propuesta de Valor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Rounded Rectangle 6"/>
          <p:cNvSpPr/>
          <p:nvPr/>
        </p:nvSpPr>
        <p:spPr>
          <a:xfrm>
            <a:off x="4160520" y="128016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Asociados jubilados/pensionados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Personal administrativo operacional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Junta directiva (ejecutivos)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Familiares de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Rectangle 7"/>
          <p:cNvSpPr/>
          <p:nvPr/>
        </p:nvSpPr>
        <p:spPr>
          <a:xfrm>
            <a:off x="4160520" y="1280160"/>
            <a:ext cx="3840120" cy="31968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 Segmentos de Clientes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Rounded Rectangle 8"/>
          <p:cNvSpPr/>
          <p:nvPr/>
        </p:nvSpPr>
        <p:spPr>
          <a:xfrm>
            <a:off x="8138160" y="128016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Aplicación web responsive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Acceso móvil/tablet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 técnico presencial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Capacitaciones grupales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Rectangle 9"/>
          <p:cNvSpPr/>
          <p:nvPr/>
        </p:nvSpPr>
        <p:spPr>
          <a:xfrm>
            <a:off x="8138160" y="1280160"/>
            <a:ext cx="3840120" cy="31968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3. Canales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Rounded Rectangle 10"/>
          <p:cNvSpPr/>
          <p:nvPr/>
        </p:nvSpPr>
        <p:spPr>
          <a:xfrm>
            <a:off x="182880" y="283464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conversacional IA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Manuales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usuario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adaptados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Soporte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técnico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Capacitación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personalizada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ectangle 11"/>
          <p:cNvSpPr/>
          <p:nvPr/>
        </p:nvSpPr>
        <p:spPr>
          <a:xfrm>
            <a:off x="182880" y="2834640"/>
            <a:ext cx="3840120" cy="31968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4. Relaciones con Clientes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Rounded Rectangle 12"/>
          <p:cNvSpPr/>
          <p:nvPr/>
        </p:nvSpPr>
        <p:spPr>
          <a:xfrm>
            <a:off x="4160520" y="283464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66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Financiamiento institucional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Ahorro operativo (eficiencia)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Valor intangible (satisfacción)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Rectangle 13"/>
          <p:cNvSpPr/>
          <p:nvPr/>
        </p:nvSpPr>
        <p:spPr>
          <a:xfrm>
            <a:off x="4160520" y="2834640"/>
            <a:ext cx="3840120" cy="31968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5. Fuentes de Ingresos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Rounded Rectangle 14"/>
          <p:cNvSpPr/>
          <p:nvPr/>
        </p:nvSpPr>
        <p:spPr>
          <a:xfrm>
            <a:off x="8138160" y="283464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6495E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Equipo de desarrollo (4 personas)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VPS y almacenamiento cloud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Base de datos MySQL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Frameworks Angular/NestJS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Rectangle 15"/>
          <p:cNvSpPr/>
          <p:nvPr/>
        </p:nvSpPr>
        <p:spPr>
          <a:xfrm>
            <a:off x="8138160" y="2834640"/>
            <a:ext cx="3840120" cy="31968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6. Recursos Clave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Rounded Rectangle 16"/>
          <p:cNvSpPr/>
          <p:nvPr/>
        </p:nvSpPr>
        <p:spPr>
          <a:xfrm>
            <a:off x="182880" y="438912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4682B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Desarrollo de software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Migración de datos históricos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Capacitación de usuarios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 post-implementación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ectangle 17"/>
          <p:cNvSpPr/>
          <p:nvPr/>
        </p:nvSpPr>
        <p:spPr>
          <a:xfrm>
            <a:off x="182880" y="4389120"/>
            <a:ext cx="3840120" cy="319680"/>
          </a:xfrm>
          <a:prstGeom prst="rect">
            <a:avLst/>
          </a:prstGeom>
          <a:solidFill>
            <a:srgbClr val="4682B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7. Actividades Clave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Rounded Rectangle 18"/>
          <p:cNvSpPr/>
          <p:nvPr/>
        </p:nvSpPr>
        <p:spPr>
          <a:xfrm>
            <a:off x="4160520" y="438912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80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AJUPTEL Carabobo (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cliente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UNETI (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universidad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CANTV (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ente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externo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APS -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Atención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Primaria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Salud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Rectangle 19"/>
          <p:cNvSpPr/>
          <p:nvPr/>
        </p:nvSpPr>
        <p:spPr>
          <a:xfrm>
            <a:off x="4160520" y="4389120"/>
            <a:ext cx="3840120" cy="319680"/>
          </a:xfrm>
          <a:prstGeom prst="rect">
            <a:avLst/>
          </a:prstGeom>
          <a:solidFill>
            <a:srgbClr val="00808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8. Socios Clave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Rounded Rectangle 20"/>
          <p:cNvSpPr/>
          <p:nvPr/>
        </p:nvSpPr>
        <p:spPr>
          <a:xfrm>
            <a:off x="8138160" y="4389120"/>
            <a:ext cx="384012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49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25416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Servicios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profesionales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: $24,250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Hosting: $</a:t>
            </a:r>
            <a:r>
              <a:rPr lang="en-US" sz="1200" dirty="0">
                <a:solidFill>
                  <a:srgbClr val="002850"/>
                </a:solidFill>
                <a:latin typeface="Arial"/>
              </a:rPr>
              <a:t>76,80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/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año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Almacenamiento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cloud: $60/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año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Capacitación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: $300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• Contingencia (10%): $2,649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21"/>
          <p:cNvSpPr/>
          <p:nvPr/>
        </p:nvSpPr>
        <p:spPr>
          <a:xfrm>
            <a:off x="8138160" y="4389120"/>
            <a:ext cx="3840120" cy="319680"/>
          </a:xfrm>
          <a:prstGeom prst="rect">
            <a:avLst/>
          </a:prstGeom>
          <a:solidFill>
            <a:srgbClr val="00649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9. Estructura de Costos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Showcase - Lean Inception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Resultados del workshop y próximos pasos para el desarrollo del Sistema AJUPTEL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ectangle 4"/>
          <p:cNvSpPr/>
          <p:nvPr/>
        </p:nvSpPr>
        <p:spPr>
          <a:xfrm>
            <a:off x="274320" y="1280160"/>
            <a:ext cx="566892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Resultados del Workshop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Rounded Rectangle 5"/>
          <p:cNvSpPr/>
          <p:nvPr/>
        </p:nvSpPr>
        <p:spPr>
          <a:xfrm>
            <a:off x="274320" y="1737360"/>
            <a:ext cx="5668920" cy="25599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tIns="190440" rIns="12708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Visión del producto definida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Personas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identificadas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(5 stakeholders)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Objetivos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priorizados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(6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objetivos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Viajes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de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usuario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mapeados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(3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flujos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Funcionalidades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agrupadas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(7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grupos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Secuenciador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definido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(5 releases)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Canvas MVP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completado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✓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Priorización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MoSCoW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realizada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6217920" y="1280160"/>
            <a:ext cx="5668920" cy="41112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Próximos Pasos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Oval 7"/>
          <p:cNvSpPr/>
          <p:nvPr/>
        </p:nvSpPr>
        <p:spPr>
          <a:xfrm>
            <a:off x="6309360" y="1783080"/>
            <a:ext cx="456840" cy="45684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Rounded Rectangle 8"/>
          <p:cNvSpPr/>
          <p:nvPr/>
        </p:nvSpPr>
        <p:spPr>
          <a:xfrm>
            <a:off x="6858000" y="1783080"/>
            <a:ext cx="4937400" cy="7311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Desarrollo MVP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Implementar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funcionalidades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prioritarias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: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autenticación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, CRUD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asociados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y web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pública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Oval 9"/>
          <p:cNvSpPr/>
          <p:nvPr/>
        </p:nvSpPr>
        <p:spPr>
          <a:xfrm>
            <a:off x="6309360" y="2651760"/>
            <a:ext cx="456840" cy="45684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Rounded Rectangle 10"/>
          <p:cNvSpPr/>
          <p:nvPr/>
        </p:nvSpPr>
        <p:spPr>
          <a:xfrm>
            <a:off x="6858000" y="2651760"/>
            <a:ext cx="4937400" cy="7311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Pruebas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Piloto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Realizar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pruebas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con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usuarios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reales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en AJUPTEL Carabobo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Oval 11"/>
          <p:cNvSpPr/>
          <p:nvPr/>
        </p:nvSpPr>
        <p:spPr>
          <a:xfrm>
            <a:off x="6309360" y="3520440"/>
            <a:ext cx="456840" cy="45684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Rounded Rectangle 12"/>
          <p:cNvSpPr/>
          <p:nvPr/>
        </p:nvSpPr>
        <p:spPr>
          <a:xfrm>
            <a:off x="6858000" y="3520440"/>
            <a:ext cx="4937400" cy="7311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tIns="10152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Iteración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y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Mejora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Recopilar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feedback y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ajustar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funcionalidades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según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necesidades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reales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ectangle 13"/>
          <p:cNvSpPr/>
          <p:nvPr/>
        </p:nvSpPr>
        <p:spPr>
          <a:xfrm>
            <a:off x="274320" y="4434840"/>
            <a:ext cx="11612520" cy="41112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  <a:latin typeface="Arial"/>
              </a:rPr>
              <a:t>Cronograma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 Estimado</a:t>
            </a:r>
            <a:endParaRPr lang="es-VE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14"/>
          <p:cNvSpPr/>
          <p:nvPr/>
        </p:nvSpPr>
        <p:spPr>
          <a:xfrm>
            <a:off x="274320" y="48920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Marzo 2026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Rectangle 15"/>
          <p:cNvSpPr/>
          <p:nvPr/>
        </p:nvSpPr>
        <p:spPr>
          <a:xfrm>
            <a:off x="274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MVP Completo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ectangle 16"/>
          <p:cNvSpPr/>
          <p:nvPr/>
        </p:nvSpPr>
        <p:spPr>
          <a:xfrm>
            <a:off x="274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Funcionalidades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básicas</a:t>
            </a:r>
            <a:r>
              <a:rPr lang="en-US" sz="1200" b="0" u="none" strike="noStrike" dirty="0">
                <a:solidFill>
                  <a:srgbClr val="002850"/>
                </a:solidFill>
                <a:effectLst/>
                <a:uFillTx/>
                <a:latin typeface="Arial"/>
              </a:rPr>
              <a:t> </a:t>
            </a:r>
            <a:r>
              <a:rPr lang="en-US" sz="1200" b="0" u="none" strike="noStrike" dirty="0" err="1">
                <a:solidFill>
                  <a:srgbClr val="002850"/>
                </a:solidFill>
                <a:effectLst/>
                <a:uFillTx/>
                <a:latin typeface="Arial"/>
              </a:rPr>
              <a:t>operativas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Rectangle 17"/>
          <p:cNvSpPr/>
          <p:nvPr/>
        </p:nvSpPr>
        <p:spPr>
          <a:xfrm>
            <a:off x="2560320" y="4892040"/>
            <a:ext cx="2194200" cy="31968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Abril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Rectangle 18"/>
          <p:cNvSpPr/>
          <p:nvPr/>
        </p:nvSpPr>
        <p:spPr>
          <a:xfrm>
            <a:off x="2560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Incremento 1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Rectangle 19"/>
          <p:cNvSpPr/>
          <p:nvPr/>
        </p:nvSpPr>
        <p:spPr>
          <a:xfrm>
            <a:off x="2560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9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administrativa completa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Rectangle 20"/>
          <p:cNvSpPr/>
          <p:nvPr/>
        </p:nvSpPr>
        <p:spPr>
          <a:xfrm>
            <a:off x="4846320" y="4892040"/>
            <a:ext cx="2194200" cy="31968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Mayo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21"/>
          <p:cNvSpPr/>
          <p:nvPr/>
        </p:nvSpPr>
        <p:spPr>
          <a:xfrm>
            <a:off x="4846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Incremento 2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Rectangle 22"/>
          <p:cNvSpPr/>
          <p:nvPr/>
        </p:nvSpPr>
        <p:spPr>
          <a:xfrm>
            <a:off x="4846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IA y escaneo de documentos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23"/>
          <p:cNvSpPr/>
          <p:nvPr/>
        </p:nvSpPr>
        <p:spPr>
          <a:xfrm>
            <a:off x="7132320" y="4892040"/>
            <a:ext cx="2194200" cy="31968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Junio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Rectangle 24"/>
          <p:cNvSpPr/>
          <p:nvPr/>
        </p:nvSpPr>
        <p:spPr>
          <a:xfrm>
            <a:off x="7132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Incremento 3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Rectangle 25"/>
          <p:cNvSpPr/>
          <p:nvPr/>
        </p:nvSpPr>
        <p:spPr>
          <a:xfrm>
            <a:off x="7132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999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Portal asociados y notificaciones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Rectangle 26"/>
          <p:cNvSpPr/>
          <p:nvPr/>
        </p:nvSpPr>
        <p:spPr>
          <a:xfrm>
            <a:off x="9418320" y="4892040"/>
            <a:ext cx="2194200" cy="31968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Julio 2026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Rectangle 27"/>
          <p:cNvSpPr/>
          <p:nvPr/>
        </p:nvSpPr>
        <p:spPr>
          <a:xfrm>
            <a:off x="9418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66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Versión Final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Rectangle 28"/>
          <p:cNvSpPr/>
          <p:nvPr/>
        </p:nvSpPr>
        <p:spPr>
          <a:xfrm>
            <a:off x="9418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Despliegue y entrega operativa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ounded Rectangle 29"/>
          <p:cNvSpPr/>
          <p:nvPr/>
        </p:nvSpPr>
        <p:spPr>
          <a:xfrm>
            <a:off x="457200" y="6172200"/>
            <a:ext cx="11277000" cy="365400"/>
          </a:xfrm>
          <a:prstGeom prst="roundRect">
            <a:avLst>
              <a:gd name="adj" fmla="val 16667"/>
            </a:avLst>
          </a:prstGeom>
          <a:solidFill>
            <a:srgbClr val="FFF8DC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El Lean Inception ha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permitido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definir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claramente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el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MVP y la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estrategia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de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desarrollo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para AJUPTEL,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asegurando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que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el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producto final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satisfaga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las necesidades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reales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de los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usuarios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y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genere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 valor para la </a:t>
            </a:r>
            <a:r>
              <a:rPr lang="en-US" sz="1200" b="1" u="none" strike="noStrike" dirty="0" err="1">
                <a:solidFill>
                  <a:srgbClr val="003366"/>
                </a:solidFill>
                <a:effectLst/>
                <a:uFillTx/>
                <a:latin typeface="Arial"/>
              </a:rPr>
              <a:t>asociación</a:t>
            </a:r>
            <a:r>
              <a:rPr lang="en-US" sz="1200" b="1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.</a:t>
            </a:r>
            <a:endParaRPr lang="es-VE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4"/>
          <p:cNvSpPr/>
          <p:nvPr/>
        </p:nvSpPr>
        <p:spPr>
          <a:xfrm>
            <a:off x="805320" y="822960"/>
            <a:ext cx="10362600" cy="54828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Lean Inception - Sistema de Información Web Responsive para AJUPTEL, Región Carabobo</a:t>
            </a:r>
            <a:endParaRPr lang="es-VE" sz="1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Rounded Rectangle 5"/>
          <p:cNvSpPr/>
          <p:nvPr/>
        </p:nvSpPr>
        <p:spPr>
          <a:xfrm>
            <a:off x="618840" y="1439280"/>
            <a:ext cx="4974120" cy="4335480"/>
          </a:xfrm>
          <a:prstGeom prst="roundRect">
            <a:avLst>
              <a:gd name="adj" fmla="val 14080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254160" rIns="254160" bIns="4500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✓ Visión del producto alineada con las necesidades de AJUPTEL Carabobo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✓ Stakeholders clave identificados y estrategias de comunicación definidas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✓ MVP claramente delimitado con funcionalidades Must Have priorizadas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✓ Arquitectura tecnológica definida: Laravel + Vue.js+ MySQL 8.0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✓ Roadmap de 5 releases desde marzo hasta julio de 2026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✓ Presupuesto estimado: $29,139.00 USD con contingencia del 10%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 dirty="0">
                <a:solidFill>
                  <a:srgbClr val="003366"/>
                </a:solidFill>
                <a:effectLst/>
                <a:uFillTx/>
                <a:latin typeface="Arial"/>
              </a:rPr>
              <a:t>✓ Enfoque en inclusión digital para adultos mayores con IA conversacional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ounded Rectangle 6"/>
          <p:cNvSpPr/>
          <p:nvPr/>
        </p:nvSpPr>
        <p:spPr>
          <a:xfrm>
            <a:off x="5887440" y="1480680"/>
            <a:ext cx="6175800" cy="3358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0066CC"/>
                </a:solidFill>
                <a:effectLst/>
                <a:uFillTx/>
                <a:latin typeface="Arial"/>
              </a:rPr>
              <a:t>PRÓXIMOS PASOS INMEDIATOS</a:t>
            </a:r>
            <a:endParaRPr lang="es-VE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s-MX" sz="40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Conclusiones y Próximos Pasos</a:t>
            </a:r>
            <a:endParaRPr lang="es-VE" sz="4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1" name="Diagram1"/>
          <p:cNvGraphicFramePr/>
          <p:nvPr>
            <p:extLst>
              <p:ext uri="{D42A27DB-BD31-4B8C-83A1-F6EECF244321}">
                <p14:modId xmlns:p14="http://schemas.microsoft.com/office/powerpoint/2010/main" val="1748941990"/>
              </p:ext>
            </p:extLst>
          </p:nvPr>
        </p:nvGraphicFramePr>
        <p:xfrm>
          <a:off x="4925160" y="1816920"/>
          <a:ext cx="7673040" cy="476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2415</Words>
  <Application>Microsoft Office PowerPoint</Application>
  <PresentationFormat>Panorámica</PresentationFormat>
  <Paragraphs>503</Paragraphs>
  <Slides>14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dc:description>generated using python-pptx</dc:description>
  <cp:lastModifiedBy>natty dugarte</cp:lastModifiedBy>
  <cp:revision>14</cp:revision>
  <dcterms:created xsi:type="dcterms:W3CDTF">2013-01-27T09:14:16Z</dcterms:created>
  <dcterms:modified xsi:type="dcterms:W3CDTF">2026-05-26T10:13:07Z</dcterms:modified>
  <dc:language>es-VE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Panorámica</vt:lpwstr>
  </property>
  <property fmtid="{D5CDD505-2E9C-101B-9397-08002B2CF9AE}" pid="4" name="Slides">
    <vt:i4>14</vt:i4>
  </property>
</Properties>
</file>