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1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rawing1.xml" ContentType="application/vnd.ms-office.drawingml.diagramDrawing+xml"/>
  <Override PartName="/ppt/diagrams/data1.xml" ContentType="application/vnd.openxmlformats-officedocument.drawingml.diagramData+xml"/>
  <Override PartName="/ppt/diagrams/colors1.xml" ContentType="application/vnd.openxmlformats-officedocument.drawingml.diagramColors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B8922C1-3B63-48F0-9578-87AD9D7DC425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</dgm:pt>
    <dgm:pt modelId="{61493317-CF6A-4778-B55D-03EBB8935657}">
      <dgm:prSet phldrT="[Texto]"/>
      <dgm:spPr/>
      <dgm:t>
        <a:bodyPr/>
        <a:lstStyle/>
        <a:p>
          <a:r>
            <a:rPr lang="pt-BR" dirty="0"/>
            <a:t>Configurar entorno Docker</a:t>
          </a:r>
          <a:endParaRPr lang="es-MX" dirty="0"/>
        </a:p>
      </dgm:t>
    </dgm:pt>
    <dgm:pt modelId="{78B80C3B-8837-40FC-8980-E4AAEFFB1735}" type="parTrans" cxnId="{89F511E0-0800-4E92-B83E-CC4C3432BC83}">
      <dgm:prSet/>
      <dgm:spPr/>
      <dgm:t>
        <a:bodyPr/>
        <a:lstStyle/>
        <a:p>
          <a:endParaRPr lang="es-MX"/>
        </a:p>
      </dgm:t>
    </dgm:pt>
    <dgm:pt modelId="{349DAE77-B8B5-442A-B4C1-AB08F3B48BEF}" type="sibTrans" cxnId="{89F511E0-0800-4E92-B83E-CC4C3432BC83}">
      <dgm:prSet/>
      <dgm:spPr/>
      <dgm:t>
        <a:bodyPr/>
        <a:lstStyle/>
        <a:p>
          <a:endParaRPr lang="es-MX"/>
        </a:p>
      </dgm:t>
    </dgm:pt>
    <dgm:pt modelId="{3C8F2F3D-86EA-4EDF-BC7E-883866287D65}">
      <dgm:prSet phldrT="[Texto]"/>
      <dgm:spPr/>
      <dgm:t>
        <a:bodyPr/>
        <a:lstStyle/>
        <a:p>
          <a:r>
            <a:rPr lang="pt-BR" dirty="0" err="1"/>
            <a:t>Proyecto</a:t>
          </a:r>
          <a:r>
            <a:rPr lang="pt-BR" dirty="0"/>
            <a:t> base </a:t>
          </a:r>
          <a:r>
            <a:rPr lang="pt-BR" dirty="0" err="1"/>
            <a:t>NestJS</a:t>
          </a:r>
          <a:r>
            <a:rPr lang="pt-BR" dirty="0"/>
            <a:t> </a:t>
          </a:r>
          <a:endParaRPr lang="es-MX" dirty="0"/>
        </a:p>
      </dgm:t>
    </dgm:pt>
    <dgm:pt modelId="{749240DD-DD36-4DD3-B344-7F1F0E813FC4}" type="parTrans" cxnId="{C03D4C87-8ABF-4FA7-9F92-2729C5EC675A}">
      <dgm:prSet/>
      <dgm:spPr/>
      <dgm:t>
        <a:bodyPr/>
        <a:lstStyle/>
        <a:p>
          <a:endParaRPr lang="es-MX"/>
        </a:p>
      </dgm:t>
    </dgm:pt>
    <dgm:pt modelId="{BB1686C4-8F85-4D89-9CDE-634C34B91CC5}" type="sibTrans" cxnId="{C03D4C87-8ABF-4FA7-9F92-2729C5EC675A}">
      <dgm:prSet/>
      <dgm:spPr/>
      <dgm:t>
        <a:bodyPr/>
        <a:lstStyle/>
        <a:p>
          <a:endParaRPr lang="es-MX"/>
        </a:p>
      </dgm:t>
    </dgm:pt>
    <dgm:pt modelId="{8DF2DBCA-1673-471F-B112-69C7C3C65ED7}">
      <dgm:prSet/>
      <dgm:spPr/>
      <dgm:t>
        <a:bodyPr/>
        <a:lstStyle/>
        <a:p>
          <a:r>
            <a:rPr lang="es-MX" dirty="0"/>
            <a:t>POC Agente Conversacional </a:t>
          </a:r>
        </a:p>
      </dgm:t>
    </dgm:pt>
    <dgm:pt modelId="{FD787FD2-678A-4958-8CBC-97F17F1C4391}" type="parTrans" cxnId="{C4C8E8E9-5BDB-41BE-9FE3-F9448AC625C6}">
      <dgm:prSet/>
      <dgm:spPr/>
      <dgm:t>
        <a:bodyPr/>
        <a:lstStyle/>
        <a:p>
          <a:endParaRPr lang="es-MX"/>
        </a:p>
      </dgm:t>
    </dgm:pt>
    <dgm:pt modelId="{F3E50554-42E3-4CC7-B9E7-E973F966AD29}" type="sibTrans" cxnId="{C4C8E8E9-5BDB-41BE-9FE3-F9448AC625C6}">
      <dgm:prSet/>
      <dgm:spPr/>
      <dgm:t>
        <a:bodyPr/>
        <a:lstStyle/>
        <a:p>
          <a:endParaRPr lang="es-MX"/>
        </a:p>
      </dgm:t>
    </dgm:pt>
    <dgm:pt modelId="{F5BBFD1C-740E-44F9-AF02-AF03924750C4}">
      <dgm:prSet phldrT="[Texto]"/>
      <dgm:spPr/>
      <dgm:t>
        <a:bodyPr/>
        <a:lstStyle/>
        <a:p>
          <a:r>
            <a:rPr lang="es-VE" dirty="0"/>
            <a:t>Proyecto </a:t>
          </a:r>
          <a:r>
            <a:rPr lang="es-VE" dirty="0" err="1"/>
            <a:t>Angular+Ionic</a:t>
          </a:r>
          <a:r>
            <a:rPr lang="es-VE" dirty="0"/>
            <a:t> </a:t>
          </a:r>
          <a:endParaRPr lang="es-MX" dirty="0"/>
        </a:p>
      </dgm:t>
    </dgm:pt>
    <dgm:pt modelId="{2BE143BC-5918-4CD2-823A-FBCB00B819B4}" type="sibTrans" cxnId="{344AD1B3-7121-481D-AB81-F4B6A0397AF2}">
      <dgm:prSet/>
      <dgm:spPr/>
      <dgm:t>
        <a:bodyPr/>
        <a:lstStyle/>
        <a:p>
          <a:endParaRPr lang="es-MX"/>
        </a:p>
      </dgm:t>
    </dgm:pt>
    <dgm:pt modelId="{4B3B1FFF-CF70-441A-A686-83208459DD9E}" type="parTrans" cxnId="{344AD1B3-7121-481D-AB81-F4B6A0397AF2}">
      <dgm:prSet/>
      <dgm:spPr/>
      <dgm:t>
        <a:bodyPr/>
        <a:lstStyle/>
        <a:p>
          <a:endParaRPr lang="es-MX"/>
        </a:p>
      </dgm:t>
    </dgm:pt>
    <dgm:pt modelId="{668C33A3-BB43-4DEB-A238-8E69DE0C00A2}">
      <dgm:prSet/>
      <dgm:spPr/>
      <dgm:t>
        <a:bodyPr/>
        <a:lstStyle/>
        <a:p>
          <a:r>
            <a:rPr lang="es-MX" dirty="0"/>
            <a:t>Definir estándares de código </a:t>
          </a:r>
        </a:p>
      </dgm:t>
    </dgm:pt>
    <dgm:pt modelId="{D3613E99-8EF1-47E8-AF3E-F93B04C0F718}" type="parTrans" cxnId="{1F1CFB1A-968F-4112-8C7C-3BDF490A648B}">
      <dgm:prSet/>
      <dgm:spPr/>
      <dgm:t>
        <a:bodyPr/>
        <a:lstStyle/>
        <a:p>
          <a:endParaRPr lang="es-MX"/>
        </a:p>
      </dgm:t>
    </dgm:pt>
    <dgm:pt modelId="{98226819-1BE0-442C-B464-E61C22EF5612}" type="sibTrans" cxnId="{1F1CFB1A-968F-4112-8C7C-3BDF490A648B}">
      <dgm:prSet/>
      <dgm:spPr/>
      <dgm:t>
        <a:bodyPr/>
        <a:lstStyle/>
        <a:p>
          <a:endParaRPr lang="es-MX"/>
        </a:p>
      </dgm:t>
    </dgm:pt>
    <dgm:pt modelId="{58110DA2-69F2-4961-BDF4-C5EB75B1AC6D}">
      <dgm:prSet/>
      <dgm:spPr/>
      <dgm:t>
        <a:bodyPr/>
        <a:lstStyle/>
        <a:p>
          <a:r>
            <a:rPr lang="en-US" dirty="0" err="1"/>
            <a:t>Modulos</a:t>
          </a:r>
          <a:r>
            <a:rPr lang="en-US" dirty="0"/>
            <a:t> </a:t>
          </a:r>
          <a:r>
            <a:rPr lang="en-US" dirty="0" err="1"/>
            <a:t>funcionales</a:t>
          </a:r>
          <a:endParaRPr lang="es-MX" dirty="0"/>
        </a:p>
      </dgm:t>
    </dgm:pt>
    <dgm:pt modelId="{3620FA00-0485-4415-9C07-B72A8A6F3AC5}" type="parTrans" cxnId="{930658A0-8224-4545-8F8C-F908FC4DB558}">
      <dgm:prSet/>
      <dgm:spPr/>
      <dgm:t>
        <a:bodyPr/>
        <a:lstStyle/>
        <a:p>
          <a:endParaRPr lang="es-MX"/>
        </a:p>
      </dgm:t>
    </dgm:pt>
    <dgm:pt modelId="{7AE88F92-7E90-4E48-8284-96B7C9133560}" type="sibTrans" cxnId="{930658A0-8224-4545-8F8C-F908FC4DB558}">
      <dgm:prSet/>
      <dgm:spPr/>
      <dgm:t>
        <a:bodyPr/>
        <a:lstStyle/>
        <a:p>
          <a:endParaRPr lang="es-MX"/>
        </a:p>
      </dgm:t>
    </dgm:pt>
    <dgm:pt modelId="{40B01F17-3C9A-4D61-949F-B8A7BC56A7FF}" type="pres">
      <dgm:prSet presAssocID="{0B8922C1-3B63-48F0-9578-87AD9D7DC425}" presName="rootnode" presStyleCnt="0">
        <dgm:presLayoutVars>
          <dgm:chMax/>
          <dgm:chPref/>
          <dgm:dir/>
          <dgm:animLvl val="lvl"/>
        </dgm:presLayoutVars>
      </dgm:prSet>
      <dgm:spPr/>
    </dgm:pt>
    <dgm:pt modelId="{D534F053-C9B6-4261-8E98-747DC8C5D685}" type="pres">
      <dgm:prSet presAssocID="{61493317-CF6A-4778-B55D-03EBB8935657}" presName="composite" presStyleCnt="0"/>
      <dgm:spPr/>
    </dgm:pt>
    <dgm:pt modelId="{93A9EDFE-4DF2-4681-BAC1-7BA45AA2A8AA}" type="pres">
      <dgm:prSet presAssocID="{61493317-CF6A-4778-B55D-03EBB8935657}" presName="bentUpArrow1" presStyleLbl="alignImgPlace1" presStyleIdx="0" presStyleCnt="5"/>
      <dgm:spPr/>
    </dgm:pt>
    <dgm:pt modelId="{FD08C5E8-BACE-4E50-89BD-CF78CC68860F}" type="pres">
      <dgm:prSet presAssocID="{61493317-CF6A-4778-B55D-03EBB8935657}" presName="ParentText" presStyleLbl="node1" presStyleIdx="0" presStyleCnt="6">
        <dgm:presLayoutVars>
          <dgm:chMax val="1"/>
          <dgm:chPref val="1"/>
          <dgm:bulletEnabled val="1"/>
        </dgm:presLayoutVars>
      </dgm:prSet>
      <dgm:spPr/>
    </dgm:pt>
    <dgm:pt modelId="{B288EE2B-9E27-4054-9B41-5F8B77BC95CF}" type="pres">
      <dgm:prSet presAssocID="{61493317-CF6A-4778-B55D-03EBB8935657}" presName="ChildText" presStyleLbl="revTx" presStyleIdx="0" presStyleCnt="5">
        <dgm:presLayoutVars>
          <dgm:chMax val="0"/>
          <dgm:chPref val="0"/>
          <dgm:bulletEnabled val="1"/>
        </dgm:presLayoutVars>
      </dgm:prSet>
      <dgm:spPr/>
    </dgm:pt>
    <dgm:pt modelId="{D57776D0-9285-4133-97B2-A124C183C263}" type="pres">
      <dgm:prSet presAssocID="{349DAE77-B8B5-442A-B4C1-AB08F3B48BEF}" presName="sibTrans" presStyleCnt="0"/>
      <dgm:spPr/>
    </dgm:pt>
    <dgm:pt modelId="{B68D25BC-4ED8-4EAD-9BF8-E9C96887E538}" type="pres">
      <dgm:prSet presAssocID="{3C8F2F3D-86EA-4EDF-BC7E-883866287D65}" presName="composite" presStyleCnt="0"/>
      <dgm:spPr/>
    </dgm:pt>
    <dgm:pt modelId="{76E6B792-C077-44B1-AD4A-5212FDE094BC}" type="pres">
      <dgm:prSet presAssocID="{3C8F2F3D-86EA-4EDF-BC7E-883866287D65}" presName="bentUpArrow1" presStyleLbl="alignImgPlace1" presStyleIdx="1" presStyleCnt="5"/>
      <dgm:spPr/>
    </dgm:pt>
    <dgm:pt modelId="{BC26239C-9B06-4F73-B0A4-EC47CA343243}" type="pres">
      <dgm:prSet presAssocID="{3C8F2F3D-86EA-4EDF-BC7E-883866287D65}" presName="ParentText" presStyleLbl="node1" presStyleIdx="1" presStyleCnt="6">
        <dgm:presLayoutVars>
          <dgm:chMax val="1"/>
          <dgm:chPref val="1"/>
          <dgm:bulletEnabled val="1"/>
        </dgm:presLayoutVars>
      </dgm:prSet>
      <dgm:spPr/>
    </dgm:pt>
    <dgm:pt modelId="{E51FD835-C90B-4BD2-9B3F-452CA57264F2}" type="pres">
      <dgm:prSet presAssocID="{3C8F2F3D-86EA-4EDF-BC7E-883866287D65}" presName="ChildText" presStyleLbl="revTx" presStyleIdx="1" presStyleCnt="5">
        <dgm:presLayoutVars>
          <dgm:chMax val="0"/>
          <dgm:chPref val="0"/>
          <dgm:bulletEnabled val="1"/>
        </dgm:presLayoutVars>
      </dgm:prSet>
      <dgm:spPr/>
    </dgm:pt>
    <dgm:pt modelId="{FB935DC9-F818-444F-8578-4FEC9C0D1470}" type="pres">
      <dgm:prSet presAssocID="{BB1686C4-8F85-4D89-9CDE-634C34B91CC5}" presName="sibTrans" presStyleCnt="0"/>
      <dgm:spPr/>
    </dgm:pt>
    <dgm:pt modelId="{86AC0F16-57BC-4B27-B437-A6E6C5CD5265}" type="pres">
      <dgm:prSet presAssocID="{F5BBFD1C-740E-44F9-AF02-AF03924750C4}" presName="composite" presStyleCnt="0"/>
      <dgm:spPr/>
    </dgm:pt>
    <dgm:pt modelId="{CE96F3EF-782F-4D60-AB76-B51CB6E06AF3}" type="pres">
      <dgm:prSet presAssocID="{F5BBFD1C-740E-44F9-AF02-AF03924750C4}" presName="bentUpArrow1" presStyleLbl="alignImgPlace1" presStyleIdx="2" presStyleCnt="5"/>
      <dgm:spPr/>
    </dgm:pt>
    <dgm:pt modelId="{36E49400-D20A-4618-9BD8-E9632593BF0C}" type="pres">
      <dgm:prSet presAssocID="{F5BBFD1C-740E-44F9-AF02-AF03924750C4}" presName="ParentText" presStyleLbl="node1" presStyleIdx="2" presStyleCnt="6">
        <dgm:presLayoutVars>
          <dgm:chMax val="1"/>
          <dgm:chPref val="1"/>
          <dgm:bulletEnabled val="1"/>
        </dgm:presLayoutVars>
      </dgm:prSet>
      <dgm:spPr/>
    </dgm:pt>
    <dgm:pt modelId="{0ED61067-FB76-4CC9-BD5C-A8FA8271E1F9}" type="pres">
      <dgm:prSet presAssocID="{F5BBFD1C-740E-44F9-AF02-AF03924750C4}" presName="ChildText" presStyleLbl="revTx" presStyleIdx="2" presStyleCnt="5">
        <dgm:presLayoutVars>
          <dgm:chMax val="0"/>
          <dgm:chPref val="0"/>
          <dgm:bulletEnabled val="1"/>
        </dgm:presLayoutVars>
      </dgm:prSet>
      <dgm:spPr/>
    </dgm:pt>
    <dgm:pt modelId="{2FA50507-4E7F-403D-8055-8C33BC5AFA8C}" type="pres">
      <dgm:prSet presAssocID="{2BE143BC-5918-4CD2-823A-FBCB00B819B4}" presName="sibTrans" presStyleCnt="0"/>
      <dgm:spPr/>
    </dgm:pt>
    <dgm:pt modelId="{8AABE713-0495-40E8-BD6A-C8D6F1C8D664}" type="pres">
      <dgm:prSet presAssocID="{8DF2DBCA-1673-471F-B112-69C7C3C65ED7}" presName="composite" presStyleCnt="0"/>
      <dgm:spPr/>
    </dgm:pt>
    <dgm:pt modelId="{FD4A8EE4-829F-4AF9-943A-95C29895A879}" type="pres">
      <dgm:prSet presAssocID="{8DF2DBCA-1673-471F-B112-69C7C3C65ED7}" presName="bentUpArrow1" presStyleLbl="alignImgPlace1" presStyleIdx="3" presStyleCnt="5"/>
      <dgm:spPr/>
    </dgm:pt>
    <dgm:pt modelId="{8626791E-2445-4881-9687-DCE63187F898}" type="pres">
      <dgm:prSet presAssocID="{8DF2DBCA-1673-471F-B112-69C7C3C65ED7}" presName="ParentText" presStyleLbl="node1" presStyleIdx="3" presStyleCnt="6">
        <dgm:presLayoutVars>
          <dgm:chMax val="1"/>
          <dgm:chPref val="1"/>
          <dgm:bulletEnabled val="1"/>
        </dgm:presLayoutVars>
      </dgm:prSet>
      <dgm:spPr/>
    </dgm:pt>
    <dgm:pt modelId="{1F59196F-330A-4B5D-9958-AC4D67DE38EA}" type="pres">
      <dgm:prSet presAssocID="{8DF2DBCA-1673-471F-B112-69C7C3C65ED7}" presName="ChildText" presStyleLbl="revTx" presStyleIdx="3" presStyleCnt="5">
        <dgm:presLayoutVars>
          <dgm:chMax val="0"/>
          <dgm:chPref val="0"/>
          <dgm:bulletEnabled val="1"/>
        </dgm:presLayoutVars>
      </dgm:prSet>
      <dgm:spPr/>
    </dgm:pt>
    <dgm:pt modelId="{C842901A-E389-45B5-8C0A-786847B06448}" type="pres">
      <dgm:prSet presAssocID="{F3E50554-42E3-4CC7-B9E7-E973F966AD29}" presName="sibTrans" presStyleCnt="0"/>
      <dgm:spPr/>
    </dgm:pt>
    <dgm:pt modelId="{09F63EEE-2252-4A02-B62E-3081C3F0F2D9}" type="pres">
      <dgm:prSet presAssocID="{668C33A3-BB43-4DEB-A238-8E69DE0C00A2}" presName="composite" presStyleCnt="0"/>
      <dgm:spPr/>
    </dgm:pt>
    <dgm:pt modelId="{B4B39C2B-D3F0-46E5-8C88-5BEA82AF110A}" type="pres">
      <dgm:prSet presAssocID="{668C33A3-BB43-4DEB-A238-8E69DE0C00A2}" presName="bentUpArrow1" presStyleLbl="alignImgPlace1" presStyleIdx="4" presStyleCnt="5"/>
      <dgm:spPr/>
    </dgm:pt>
    <dgm:pt modelId="{E476ED43-9937-459A-B601-B1710F8F14F9}" type="pres">
      <dgm:prSet presAssocID="{668C33A3-BB43-4DEB-A238-8E69DE0C00A2}" presName="ParentText" presStyleLbl="node1" presStyleIdx="4" presStyleCnt="6">
        <dgm:presLayoutVars>
          <dgm:chMax val="1"/>
          <dgm:chPref val="1"/>
          <dgm:bulletEnabled val="1"/>
        </dgm:presLayoutVars>
      </dgm:prSet>
      <dgm:spPr/>
    </dgm:pt>
    <dgm:pt modelId="{6EAB7A80-3555-4703-9C1F-8FDC51DD3EF0}" type="pres">
      <dgm:prSet presAssocID="{668C33A3-BB43-4DEB-A238-8E69DE0C00A2}" presName="ChildText" presStyleLbl="revTx" presStyleIdx="4" presStyleCnt="5">
        <dgm:presLayoutVars>
          <dgm:chMax val="0"/>
          <dgm:chPref val="0"/>
          <dgm:bulletEnabled val="1"/>
        </dgm:presLayoutVars>
      </dgm:prSet>
      <dgm:spPr/>
    </dgm:pt>
    <dgm:pt modelId="{3792267E-DFCE-45DB-A62A-F414F4EAA853}" type="pres">
      <dgm:prSet presAssocID="{98226819-1BE0-442C-B464-E61C22EF5612}" presName="sibTrans" presStyleCnt="0"/>
      <dgm:spPr/>
    </dgm:pt>
    <dgm:pt modelId="{76D030F4-2597-4963-BA17-DD1668600392}" type="pres">
      <dgm:prSet presAssocID="{58110DA2-69F2-4961-BDF4-C5EB75B1AC6D}" presName="composite" presStyleCnt="0"/>
      <dgm:spPr/>
    </dgm:pt>
    <dgm:pt modelId="{1EFE870D-5A33-4DB3-B00A-3A022D58B4F2}" type="pres">
      <dgm:prSet presAssocID="{58110DA2-69F2-4961-BDF4-C5EB75B1AC6D}" presName="ParentText" presStyleLbl="node1" presStyleIdx="5" presStyleCnt="6">
        <dgm:presLayoutVars>
          <dgm:chMax val="1"/>
          <dgm:chPref val="1"/>
          <dgm:bulletEnabled val="1"/>
        </dgm:presLayoutVars>
      </dgm:prSet>
      <dgm:spPr/>
    </dgm:pt>
  </dgm:ptLst>
  <dgm:cxnLst>
    <dgm:cxn modelId="{CDF1800B-B50A-44BB-8651-DF3C53866799}" type="presOf" srcId="{3C8F2F3D-86EA-4EDF-BC7E-883866287D65}" destId="{BC26239C-9B06-4F73-B0A4-EC47CA343243}" srcOrd="0" destOrd="0" presId="urn:microsoft.com/office/officeart/2005/8/layout/StepDownProcess"/>
    <dgm:cxn modelId="{1F1CFB1A-968F-4112-8C7C-3BDF490A648B}" srcId="{0B8922C1-3B63-48F0-9578-87AD9D7DC425}" destId="{668C33A3-BB43-4DEB-A238-8E69DE0C00A2}" srcOrd="4" destOrd="0" parTransId="{D3613E99-8EF1-47E8-AF3E-F93B04C0F718}" sibTransId="{98226819-1BE0-442C-B464-E61C22EF5612}"/>
    <dgm:cxn modelId="{0B639B24-8877-44C0-A273-FFE092C70522}" type="presOf" srcId="{0B8922C1-3B63-48F0-9578-87AD9D7DC425}" destId="{40B01F17-3C9A-4D61-949F-B8A7BC56A7FF}" srcOrd="0" destOrd="0" presId="urn:microsoft.com/office/officeart/2005/8/layout/StepDownProcess"/>
    <dgm:cxn modelId="{95670040-9EBA-4FC1-BF16-CAC3394584B3}" type="presOf" srcId="{668C33A3-BB43-4DEB-A238-8E69DE0C00A2}" destId="{E476ED43-9937-459A-B601-B1710F8F14F9}" srcOrd="0" destOrd="0" presId="urn:microsoft.com/office/officeart/2005/8/layout/StepDownProcess"/>
    <dgm:cxn modelId="{CC832C5B-209E-4D7A-8DB7-31266AE0567F}" type="presOf" srcId="{61493317-CF6A-4778-B55D-03EBB8935657}" destId="{FD08C5E8-BACE-4E50-89BD-CF78CC68860F}" srcOrd="0" destOrd="0" presId="urn:microsoft.com/office/officeart/2005/8/layout/StepDownProcess"/>
    <dgm:cxn modelId="{C03D4C87-8ABF-4FA7-9F92-2729C5EC675A}" srcId="{0B8922C1-3B63-48F0-9578-87AD9D7DC425}" destId="{3C8F2F3D-86EA-4EDF-BC7E-883866287D65}" srcOrd="1" destOrd="0" parTransId="{749240DD-DD36-4DD3-B344-7F1F0E813FC4}" sibTransId="{BB1686C4-8F85-4D89-9CDE-634C34B91CC5}"/>
    <dgm:cxn modelId="{C757F487-1FEA-4E4F-8A52-74A89F7EDECE}" type="presOf" srcId="{8DF2DBCA-1673-471F-B112-69C7C3C65ED7}" destId="{8626791E-2445-4881-9687-DCE63187F898}" srcOrd="0" destOrd="0" presId="urn:microsoft.com/office/officeart/2005/8/layout/StepDownProcess"/>
    <dgm:cxn modelId="{930658A0-8224-4545-8F8C-F908FC4DB558}" srcId="{0B8922C1-3B63-48F0-9578-87AD9D7DC425}" destId="{58110DA2-69F2-4961-BDF4-C5EB75B1AC6D}" srcOrd="5" destOrd="0" parTransId="{3620FA00-0485-4415-9C07-B72A8A6F3AC5}" sibTransId="{7AE88F92-7E90-4E48-8284-96B7C9133560}"/>
    <dgm:cxn modelId="{344AD1B3-7121-481D-AB81-F4B6A0397AF2}" srcId="{0B8922C1-3B63-48F0-9578-87AD9D7DC425}" destId="{F5BBFD1C-740E-44F9-AF02-AF03924750C4}" srcOrd="2" destOrd="0" parTransId="{4B3B1FFF-CF70-441A-A686-83208459DD9E}" sibTransId="{2BE143BC-5918-4CD2-823A-FBCB00B819B4}"/>
    <dgm:cxn modelId="{338935C7-0415-41F2-BC25-3FAEDEF479E5}" type="presOf" srcId="{F5BBFD1C-740E-44F9-AF02-AF03924750C4}" destId="{36E49400-D20A-4618-9BD8-E9632593BF0C}" srcOrd="0" destOrd="0" presId="urn:microsoft.com/office/officeart/2005/8/layout/StepDownProcess"/>
    <dgm:cxn modelId="{89F511E0-0800-4E92-B83E-CC4C3432BC83}" srcId="{0B8922C1-3B63-48F0-9578-87AD9D7DC425}" destId="{61493317-CF6A-4778-B55D-03EBB8935657}" srcOrd="0" destOrd="0" parTransId="{78B80C3B-8837-40FC-8980-E4AAEFFB1735}" sibTransId="{349DAE77-B8B5-442A-B4C1-AB08F3B48BEF}"/>
    <dgm:cxn modelId="{5B9E12E5-629D-4AF7-8B18-1E8511772AEC}" type="presOf" srcId="{58110DA2-69F2-4961-BDF4-C5EB75B1AC6D}" destId="{1EFE870D-5A33-4DB3-B00A-3A022D58B4F2}" srcOrd="0" destOrd="0" presId="urn:microsoft.com/office/officeart/2005/8/layout/StepDownProcess"/>
    <dgm:cxn modelId="{C4C8E8E9-5BDB-41BE-9FE3-F9448AC625C6}" srcId="{0B8922C1-3B63-48F0-9578-87AD9D7DC425}" destId="{8DF2DBCA-1673-471F-B112-69C7C3C65ED7}" srcOrd="3" destOrd="0" parTransId="{FD787FD2-678A-4958-8CBC-97F17F1C4391}" sibTransId="{F3E50554-42E3-4CC7-B9E7-E973F966AD29}"/>
    <dgm:cxn modelId="{2C5FEEEE-3BF3-4607-AA03-1758F92E4167}" type="presParOf" srcId="{40B01F17-3C9A-4D61-949F-B8A7BC56A7FF}" destId="{D534F053-C9B6-4261-8E98-747DC8C5D685}" srcOrd="0" destOrd="0" presId="urn:microsoft.com/office/officeart/2005/8/layout/StepDownProcess"/>
    <dgm:cxn modelId="{830689D6-D843-48F2-874F-9F9C81A768CE}" type="presParOf" srcId="{D534F053-C9B6-4261-8E98-747DC8C5D685}" destId="{93A9EDFE-4DF2-4681-BAC1-7BA45AA2A8AA}" srcOrd="0" destOrd="0" presId="urn:microsoft.com/office/officeart/2005/8/layout/StepDownProcess"/>
    <dgm:cxn modelId="{2C3AEEF5-2872-4C62-9E78-097E64B65FF6}" type="presParOf" srcId="{D534F053-C9B6-4261-8E98-747DC8C5D685}" destId="{FD08C5E8-BACE-4E50-89BD-CF78CC68860F}" srcOrd="1" destOrd="0" presId="urn:microsoft.com/office/officeart/2005/8/layout/StepDownProcess"/>
    <dgm:cxn modelId="{85B60BF0-8B82-4FEA-B768-4B679A2678AD}" type="presParOf" srcId="{D534F053-C9B6-4261-8E98-747DC8C5D685}" destId="{B288EE2B-9E27-4054-9B41-5F8B77BC95CF}" srcOrd="2" destOrd="0" presId="urn:microsoft.com/office/officeart/2005/8/layout/StepDownProcess"/>
    <dgm:cxn modelId="{929F053E-41C2-4A7A-9BB2-3FD0B1FD599A}" type="presParOf" srcId="{40B01F17-3C9A-4D61-949F-B8A7BC56A7FF}" destId="{D57776D0-9285-4133-97B2-A124C183C263}" srcOrd="1" destOrd="0" presId="urn:microsoft.com/office/officeart/2005/8/layout/StepDownProcess"/>
    <dgm:cxn modelId="{E71EF73C-240E-43F1-B7D5-4ACA42C8C31C}" type="presParOf" srcId="{40B01F17-3C9A-4D61-949F-B8A7BC56A7FF}" destId="{B68D25BC-4ED8-4EAD-9BF8-E9C96887E538}" srcOrd="2" destOrd="0" presId="urn:microsoft.com/office/officeart/2005/8/layout/StepDownProcess"/>
    <dgm:cxn modelId="{94A9E0D9-411E-4C6A-9A56-6A5B34F005A0}" type="presParOf" srcId="{B68D25BC-4ED8-4EAD-9BF8-E9C96887E538}" destId="{76E6B792-C077-44B1-AD4A-5212FDE094BC}" srcOrd="0" destOrd="0" presId="urn:microsoft.com/office/officeart/2005/8/layout/StepDownProcess"/>
    <dgm:cxn modelId="{89B096D7-B767-48F5-AFEE-0DA41F7C65BA}" type="presParOf" srcId="{B68D25BC-4ED8-4EAD-9BF8-E9C96887E538}" destId="{BC26239C-9B06-4F73-B0A4-EC47CA343243}" srcOrd="1" destOrd="0" presId="urn:microsoft.com/office/officeart/2005/8/layout/StepDownProcess"/>
    <dgm:cxn modelId="{DD9D2447-6FDB-453E-AF91-1019651FA28A}" type="presParOf" srcId="{B68D25BC-4ED8-4EAD-9BF8-E9C96887E538}" destId="{E51FD835-C90B-4BD2-9B3F-452CA57264F2}" srcOrd="2" destOrd="0" presId="urn:microsoft.com/office/officeart/2005/8/layout/StepDownProcess"/>
    <dgm:cxn modelId="{B81173CB-71EE-4A12-B8E9-2CF3E949F3D3}" type="presParOf" srcId="{40B01F17-3C9A-4D61-949F-B8A7BC56A7FF}" destId="{FB935DC9-F818-444F-8578-4FEC9C0D1470}" srcOrd="3" destOrd="0" presId="urn:microsoft.com/office/officeart/2005/8/layout/StepDownProcess"/>
    <dgm:cxn modelId="{919A83AC-60C2-4654-91AA-A3791BDAD2C5}" type="presParOf" srcId="{40B01F17-3C9A-4D61-949F-B8A7BC56A7FF}" destId="{86AC0F16-57BC-4B27-B437-A6E6C5CD5265}" srcOrd="4" destOrd="0" presId="urn:microsoft.com/office/officeart/2005/8/layout/StepDownProcess"/>
    <dgm:cxn modelId="{7B185AE3-0EBD-4DEF-B427-BCDE96118D65}" type="presParOf" srcId="{86AC0F16-57BC-4B27-B437-A6E6C5CD5265}" destId="{CE96F3EF-782F-4D60-AB76-B51CB6E06AF3}" srcOrd="0" destOrd="0" presId="urn:microsoft.com/office/officeart/2005/8/layout/StepDownProcess"/>
    <dgm:cxn modelId="{AE0B3A9D-6962-4A10-AD10-905AA18F8769}" type="presParOf" srcId="{86AC0F16-57BC-4B27-B437-A6E6C5CD5265}" destId="{36E49400-D20A-4618-9BD8-E9632593BF0C}" srcOrd="1" destOrd="0" presId="urn:microsoft.com/office/officeart/2005/8/layout/StepDownProcess"/>
    <dgm:cxn modelId="{D91B3974-C8CE-4B26-A53D-FBA083804BB6}" type="presParOf" srcId="{86AC0F16-57BC-4B27-B437-A6E6C5CD5265}" destId="{0ED61067-FB76-4CC9-BD5C-A8FA8271E1F9}" srcOrd="2" destOrd="0" presId="urn:microsoft.com/office/officeart/2005/8/layout/StepDownProcess"/>
    <dgm:cxn modelId="{3408DEAB-23F1-4BA8-9208-167F126CDABB}" type="presParOf" srcId="{40B01F17-3C9A-4D61-949F-B8A7BC56A7FF}" destId="{2FA50507-4E7F-403D-8055-8C33BC5AFA8C}" srcOrd="5" destOrd="0" presId="urn:microsoft.com/office/officeart/2005/8/layout/StepDownProcess"/>
    <dgm:cxn modelId="{973B9E60-E5CC-4A7E-B124-0EE9DAC83646}" type="presParOf" srcId="{40B01F17-3C9A-4D61-949F-B8A7BC56A7FF}" destId="{8AABE713-0495-40E8-BD6A-C8D6F1C8D664}" srcOrd="6" destOrd="0" presId="urn:microsoft.com/office/officeart/2005/8/layout/StepDownProcess"/>
    <dgm:cxn modelId="{6C0D6985-9A2D-4108-8FC2-336C5823BC8C}" type="presParOf" srcId="{8AABE713-0495-40E8-BD6A-C8D6F1C8D664}" destId="{FD4A8EE4-829F-4AF9-943A-95C29895A879}" srcOrd="0" destOrd="0" presId="urn:microsoft.com/office/officeart/2005/8/layout/StepDownProcess"/>
    <dgm:cxn modelId="{7488DA3B-87D6-4214-8A88-E618B4C4D169}" type="presParOf" srcId="{8AABE713-0495-40E8-BD6A-C8D6F1C8D664}" destId="{8626791E-2445-4881-9687-DCE63187F898}" srcOrd="1" destOrd="0" presId="urn:microsoft.com/office/officeart/2005/8/layout/StepDownProcess"/>
    <dgm:cxn modelId="{371B2297-FFDF-455D-A8AC-4129737DAE16}" type="presParOf" srcId="{8AABE713-0495-40E8-BD6A-C8D6F1C8D664}" destId="{1F59196F-330A-4B5D-9958-AC4D67DE38EA}" srcOrd="2" destOrd="0" presId="urn:microsoft.com/office/officeart/2005/8/layout/StepDownProcess"/>
    <dgm:cxn modelId="{00A96256-29D1-44B5-9266-13CD0FD6E488}" type="presParOf" srcId="{40B01F17-3C9A-4D61-949F-B8A7BC56A7FF}" destId="{C842901A-E389-45B5-8C0A-786847B06448}" srcOrd="7" destOrd="0" presId="urn:microsoft.com/office/officeart/2005/8/layout/StepDownProcess"/>
    <dgm:cxn modelId="{2B06DABC-4A0B-4FE3-B7CF-6BA137B11CF8}" type="presParOf" srcId="{40B01F17-3C9A-4D61-949F-B8A7BC56A7FF}" destId="{09F63EEE-2252-4A02-B62E-3081C3F0F2D9}" srcOrd="8" destOrd="0" presId="urn:microsoft.com/office/officeart/2005/8/layout/StepDownProcess"/>
    <dgm:cxn modelId="{91CDA3C3-8F6F-4522-AAF4-A19948333053}" type="presParOf" srcId="{09F63EEE-2252-4A02-B62E-3081C3F0F2D9}" destId="{B4B39C2B-D3F0-46E5-8C88-5BEA82AF110A}" srcOrd="0" destOrd="0" presId="urn:microsoft.com/office/officeart/2005/8/layout/StepDownProcess"/>
    <dgm:cxn modelId="{B8701300-5D47-4646-83AE-D4F8F942DDB4}" type="presParOf" srcId="{09F63EEE-2252-4A02-B62E-3081C3F0F2D9}" destId="{E476ED43-9937-459A-B601-B1710F8F14F9}" srcOrd="1" destOrd="0" presId="urn:microsoft.com/office/officeart/2005/8/layout/StepDownProcess"/>
    <dgm:cxn modelId="{721E9D13-2CFC-4986-9065-0B28D1C2C6BA}" type="presParOf" srcId="{09F63EEE-2252-4A02-B62E-3081C3F0F2D9}" destId="{6EAB7A80-3555-4703-9C1F-8FDC51DD3EF0}" srcOrd="2" destOrd="0" presId="urn:microsoft.com/office/officeart/2005/8/layout/StepDownProcess"/>
    <dgm:cxn modelId="{CE61DB2C-FC89-4160-AA02-9FD10FC5A586}" type="presParOf" srcId="{40B01F17-3C9A-4D61-949F-B8A7BC56A7FF}" destId="{3792267E-DFCE-45DB-A62A-F414F4EAA853}" srcOrd="9" destOrd="0" presId="urn:microsoft.com/office/officeart/2005/8/layout/StepDownProcess"/>
    <dgm:cxn modelId="{BAB4C3F1-5F27-44FE-8F9F-1FCF0377BC51}" type="presParOf" srcId="{40B01F17-3C9A-4D61-949F-B8A7BC56A7FF}" destId="{76D030F4-2597-4963-BA17-DD1668600392}" srcOrd="10" destOrd="0" presId="urn:microsoft.com/office/officeart/2005/8/layout/StepDownProcess"/>
    <dgm:cxn modelId="{3FBD611D-EE92-4FED-8D76-D775D920FB17}" type="presParOf" srcId="{76D030F4-2597-4963-BA17-DD1668600392}" destId="{1EFE870D-5A33-4DB3-B00A-3A022D58B4F2}" srcOrd="0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5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3A9EDFE-4DF2-4681-BAC1-7BA45AA2A8AA}">
      <dsp:nvSpPr>
        <dsp:cNvPr id="0" name=""/>
        <dsp:cNvSpPr/>
      </dsp:nvSpPr>
      <dsp:spPr>
        <a:xfrm rot="5400000">
          <a:off x="1384278" y="700705"/>
          <a:ext cx="603150" cy="68666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08C5E8-BACE-4E50-89BD-CF78CC68860F}">
      <dsp:nvSpPr>
        <dsp:cNvPr id="0" name=""/>
        <dsp:cNvSpPr/>
      </dsp:nvSpPr>
      <dsp:spPr>
        <a:xfrm>
          <a:off x="1224480" y="32101"/>
          <a:ext cx="1015349" cy="710711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 dirty="0"/>
            <a:t>Configurar entorno Docker</a:t>
          </a:r>
          <a:endParaRPr lang="es-MX" sz="1100" kern="1200" dirty="0"/>
        </a:p>
      </dsp:txBody>
      <dsp:txXfrm>
        <a:off x="1259180" y="66801"/>
        <a:ext cx="945949" cy="641311"/>
      </dsp:txXfrm>
    </dsp:sp>
    <dsp:sp modelId="{B288EE2B-9E27-4054-9B41-5F8B77BC95CF}">
      <dsp:nvSpPr>
        <dsp:cNvPr id="0" name=""/>
        <dsp:cNvSpPr/>
      </dsp:nvSpPr>
      <dsp:spPr>
        <a:xfrm>
          <a:off x="2239829" y="99883"/>
          <a:ext cx="738468" cy="5744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6E6B792-C077-44B1-AD4A-5212FDE094BC}">
      <dsp:nvSpPr>
        <dsp:cNvPr id="0" name=""/>
        <dsp:cNvSpPr/>
      </dsp:nvSpPr>
      <dsp:spPr>
        <a:xfrm rot="5400000">
          <a:off x="2226111" y="1499069"/>
          <a:ext cx="603150" cy="68666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C26239C-9B06-4F73-B0A4-EC47CA343243}">
      <dsp:nvSpPr>
        <dsp:cNvPr id="0" name=""/>
        <dsp:cNvSpPr/>
      </dsp:nvSpPr>
      <dsp:spPr>
        <a:xfrm>
          <a:off x="2066312" y="830465"/>
          <a:ext cx="1015349" cy="710711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100" kern="1200" dirty="0" err="1"/>
            <a:t>Proyecto</a:t>
          </a:r>
          <a:r>
            <a:rPr lang="pt-BR" sz="1100" kern="1200" dirty="0"/>
            <a:t> base </a:t>
          </a:r>
          <a:r>
            <a:rPr lang="pt-BR" sz="1100" kern="1200" dirty="0" err="1"/>
            <a:t>NestJS</a:t>
          </a:r>
          <a:r>
            <a:rPr lang="pt-BR" sz="1100" kern="1200" dirty="0"/>
            <a:t> </a:t>
          </a:r>
          <a:endParaRPr lang="es-MX" sz="1100" kern="1200" dirty="0"/>
        </a:p>
      </dsp:txBody>
      <dsp:txXfrm>
        <a:off x="2101012" y="865165"/>
        <a:ext cx="945949" cy="641311"/>
      </dsp:txXfrm>
    </dsp:sp>
    <dsp:sp modelId="{E51FD835-C90B-4BD2-9B3F-452CA57264F2}">
      <dsp:nvSpPr>
        <dsp:cNvPr id="0" name=""/>
        <dsp:cNvSpPr/>
      </dsp:nvSpPr>
      <dsp:spPr>
        <a:xfrm>
          <a:off x="3081662" y="898247"/>
          <a:ext cx="738468" cy="5744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E96F3EF-782F-4D60-AB76-B51CB6E06AF3}">
      <dsp:nvSpPr>
        <dsp:cNvPr id="0" name=""/>
        <dsp:cNvSpPr/>
      </dsp:nvSpPr>
      <dsp:spPr>
        <a:xfrm rot="5400000">
          <a:off x="3067943" y="2297433"/>
          <a:ext cx="603150" cy="68666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6E49400-D20A-4618-9BD8-E9632593BF0C}">
      <dsp:nvSpPr>
        <dsp:cNvPr id="0" name=""/>
        <dsp:cNvSpPr/>
      </dsp:nvSpPr>
      <dsp:spPr>
        <a:xfrm>
          <a:off x="2908145" y="1628829"/>
          <a:ext cx="1015349" cy="710711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VE" sz="1100" kern="1200" dirty="0"/>
            <a:t>Proyecto </a:t>
          </a:r>
          <a:r>
            <a:rPr lang="es-VE" sz="1100" kern="1200" dirty="0" err="1"/>
            <a:t>Angular+Ionic</a:t>
          </a:r>
          <a:r>
            <a:rPr lang="es-VE" sz="1100" kern="1200" dirty="0"/>
            <a:t> </a:t>
          </a:r>
          <a:endParaRPr lang="es-MX" sz="1100" kern="1200" dirty="0"/>
        </a:p>
      </dsp:txBody>
      <dsp:txXfrm>
        <a:off x="2942845" y="1663529"/>
        <a:ext cx="945949" cy="641311"/>
      </dsp:txXfrm>
    </dsp:sp>
    <dsp:sp modelId="{0ED61067-FB76-4CC9-BD5C-A8FA8271E1F9}">
      <dsp:nvSpPr>
        <dsp:cNvPr id="0" name=""/>
        <dsp:cNvSpPr/>
      </dsp:nvSpPr>
      <dsp:spPr>
        <a:xfrm>
          <a:off x="3923495" y="1696611"/>
          <a:ext cx="738468" cy="5744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D4A8EE4-829F-4AF9-943A-95C29895A879}">
      <dsp:nvSpPr>
        <dsp:cNvPr id="0" name=""/>
        <dsp:cNvSpPr/>
      </dsp:nvSpPr>
      <dsp:spPr>
        <a:xfrm rot="5400000">
          <a:off x="3909776" y="3095797"/>
          <a:ext cx="603150" cy="68666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26791E-2445-4881-9687-DCE63187F898}">
      <dsp:nvSpPr>
        <dsp:cNvPr id="0" name=""/>
        <dsp:cNvSpPr/>
      </dsp:nvSpPr>
      <dsp:spPr>
        <a:xfrm>
          <a:off x="3749978" y="2427193"/>
          <a:ext cx="1015349" cy="710711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100" kern="1200" dirty="0"/>
            <a:t>POC Agente Conversacional </a:t>
          </a:r>
        </a:p>
      </dsp:txBody>
      <dsp:txXfrm>
        <a:off x="3784678" y="2461893"/>
        <a:ext cx="945949" cy="641311"/>
      </dsp:txXfrm>
    </dsp:sp>
    <dsp:sp modelId="{1F59196F-330A-4B5D-9958-AC4D67DE38EA}">
      <dsp:nvSpPr>
        <dsp:cNvPr id="0" name=""/>
        <dsp:cNvSpPr/>
      </dsp:nvSpPr>
      <dsp:spPr>
        <a:xfrm>
          <a:off x="4765328" y="2494975"/>
          <a:ext cx="738468" cy="5744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4B39C2B-D3F0-46E5-8C88-5BEA82AF110A}">
      <dsp:nvSpPr>
        <dsp:cNvPr id="0" name=""/>
        <dsp:cNvSpPr/>
      </dsp:nvSpPr>
      <dsp:spPr>
        <a:xfrm rot="5400000">
          <a:off x="4751609" y="3894161"/>
          <a:ext cx="603150" cy="686665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76ED43-9937-459A-B601-B1710F8F14F9}">
      <dsp:nvSpPr>
        <dsp:cNvPr id="0" name=""/>
        <dsp:cNvSpPr/>
      </dsp:nvSpPr>
      <dsp:spPr>
        <a:xfrm>
          <a:off x="4591811" y="3225557"/>
          <a:ext cx="1015349" cy="710711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MX" sz="1100" kern="1200" dirty="0"/>
            <a:t>Definir estándares de código </a:t>
          </a:r>
        </a:p>
      </dsp:txBody>
      <dsp:txXfrm>
        <a:off x="4626511" y="3260257"/>
        <a:ext cx="945949" cy="641311"/>
      </dsp:txXfrm>
    </dsp:sp>
    <dsp:sp modelId="{6EAB7A80-3555-4703-9C1F-8FDC51DD3EF0}">
      <dsp:nvSpPr>
        <dsp:cNvPr id="0" name=""/>
        <dsp:cNvSpPr/>
      </dsp:nvSpPr>
      <dsp:spPr>
        <a:xfrm>
          <a:off x="5607161" y="3293339"/>
          <a:ext cx="738468" cy="5744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EFE870D-5A33-4DB3-B00A-3A022D58B4F2}">
      <dsp:nvSpPr>
        <dsp:cNvPr id="0" name=""/>
        <dsp:cNvSpPr/>
      </dsp:nvSpPr>
      <dsp:spPr>
        <a:xfrm>
          <a:off x="5433644" y="4023920"/>
          <a:ext cx="1015349" cy="710711"/>
        </a:xfrm>
        <a:prstGeom prst="roundRect">
          <a:avLst>
            <a:gd name="adj" fmla="val 1667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 err="1"/>
            <a:t>Modulos</a:t>
          </a:r>
          <a:r>
            <a:rPr lang="en-US" sz="1100" kern="1200" dirty="0"/>
            <a:t> </a:t>
          </a:r>
          <a:r>
            <a:rPr lang="en-US" sz="1100" kern="1200" dirty="0" err="1"/>
            <a:t>funcionales</a:t>
          </a:r>
          <a:endParaRPr lang="es-MX" sz="1100" kern="1200" dirty="0"/>
        </a:p>
      </dsp:txBody>
      <dsp:txXfrm>
        <a:off x="5468344" y="4058620"/>
        <a:ext cx="945949" cy="64131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desplazar la diapositiva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s-V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las notas</a:t>
            </a:r>
            <a:endParaRPr lang="es-V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&lt;cabecera&gt;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&lt;fecha/hora&gt;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9430BDD-CD30-4A27-B9EA-6B8F3BD828B4}" type="slidenum"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4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lang="es-V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0695950-ABC1-4D7D-8191-9E7661168910}" type="slidenum">
              <a:rPr lang="es-MX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A3B172-70AC-442C-AF65-8249528C101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7472278-0503-4E8A-8D69-BBEF2EA2DE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6068880-3963-4036-9F90-6883B899EBB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6FFACA3-42B8-4C1F-9B13-72580930B7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68C54F9-7407-406E-AD11-04B9DFA287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63C8189-3A01-4BD8-9D51-77FB33CA38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8981BE2-7CBA-4D34-8BFD-FBD0CA2529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C91EA0B-318A-4DAA-8445-48DA3BFABF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32B5B2-6C7F-43D1-BBD2-ADC89F5E16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del texto de título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166BE84-AF9E-4670-96E8-9F9C23BE5B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s-V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FD34936-4F77-4E58-AAAA-9D7D46E5787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V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diagramData" Target="../diagrams/data1.xml"/><Relationship Id="rId2" Type="http://schemas.openxmlformats.org/officeDocument/2006/relationships/diagramLayout" Target="../diagrams/layout1.xml"/><Relationship Id="rId3" Type="http://schemas.openxmlformats.org/officeDocument/2006/relationships/diagramQuickStyle" Target="../diagrams/quickStyle1.xml"/><Relationship Id="rId4" Type="http://schemas.openxmlformats.org/officeDocument/2006/relationships/diagramColors" Target="../diagrams/colors1.xml"/><Relationship Id="rId5" Type="http://schemas.microsoft.com/office/2007/relationships/diagramDrawing" Target="../diagrams/drawing1.xml"/><Relationship Id="rId6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Imagen 8"/>
          <p:cNvPicPr/>
          <p:nvPr/>
        </p:nvPicPr>
        <p:blipFill>
          <a:blip r:embed="rId1">
            <a:alphaModFix amt="70000"/>
          </a:blip>
          <a:stretch/>
        </p:blipFill>
        <p:spPr>
          <a:xfrm>
            <a:off x="-8280" y="1348920"/>
            <a:ext cx="12251520" cy="233640"/>
          </a:xfrm>
          <a:prstGeom prst="rect">
            <a:avLst/>
          </a:prstGeom>
          <a:noFill/>
          <a:ln w="0">
            <a:noFill/>
          </a:ln>
          <a:scene3d>
            <a:camera prst="orthographicFront"/>
            <a:lightRig dir="t" rig="threePt"/>
          </a:scene3d>
          <a:sp3d>
            <a:bevelT prst="artDeco" w="114300"/>
          </a:sp3d>
        </p:spPr>
      </p:pic>
      <p:pic>
        <p:nvPicPr>
          <p:cNvPr id="68" name="Imagen 9"/>
          <p:cNvPicPr/>
          <p:nvPr/>
        </p:nvPicPr>
        <p:blipFill>
          <a:blip r:embed="rId2"/>
          <a:stretch/>
        </p:blipFill>
        <p:spPr>
          <a:xfrm>
            <a:off x="9328680" y="426600"/>
            <a:ext cx="855720" cy="841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" name="TextBox 15"/>
          <p:cNvSpPr/>
          <p:nvPr/>
        </p:nvSpPr>
        <p:spPr>
          <a:xfrm>
            <a:off x="2784600" y="372240"/>
            <a:ext cx="633852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REPÚBLICA BOLIVARIANA DE VENEZUELA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UNIVERSIDAD NACIONAL EXPERIMENTAL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 LAS TELECOMUNICACIONES E INFORMÁTICA (UNETI)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VICERRECTORADO ACADEMICO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s-E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PROGRAMA NACIONAL DE FORMACIÓN EN INFORMÁTICA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CuadroTexto 11"/>
          <p:cNvSpPr/>
          <p:nvPr/>
        </p:nvSpPr>
        <p:spPr>
          <a:xfrm>
            <a:off x="2177280" y="2314800"/>
            <a:ext cx="7836840" cy="11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lang="es-VE" sz="1800" b="1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DESARROLLAR UN SISTEMA, PARA OPTIMIZAR LA GESTIÓN DE DATOS, DE LA ASOCIACIÓN CIVIL DE TRABAJADORES DE TELECOMUNICACIONES JUBILADOS Y PENSIONADOS (AJUPTEL), REGIÓN CARABOBO</a:t>
            </a:r>
            <a:endParaRPr lang="es-V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  <a:tabLst>
                <a:tab algn="l" pos="0"/>
              </a:tabLst>
            </a:pPr>
            <a:r>
              <a:rPr lang="es-VE" sz="1400" b="1" u="none" strike="noStrik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.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1" name="Tabla 12"/>
          <p:cNvGraphicFramePr/>
          <p:nvPr/>
        </p:nvGraphicFramePr>
        <p:xfrm>
          <a:off x="3139560" y="3934080"/>
          <a:ext cx="6016320" cy="1600920"/>
        </p:xfrm>
        <a:graphic>
          <a:graphicData uri="http://schemas.openxmlformats.org/drawingml/2006/table">
            <a:tbl>
              <a:tblPr/>
              <a:tblGrid>
                <a:gridCol w="2735280"/>
                <a:gridCol w="3281040"/>
              </a:tblGrid>
              <a:tr h="23868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Tutor Académico:</a:t>
                      </a:r>
                      <a:endParaRPr lang="es-V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Autores:</a:t>
                      </a:r>
                      <a:endParaRPr lang="es-V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>
                        <a:alpha val="70000"/>
                      </a:srgbClr>
                    </a:solidFill>
                  </a:tcPr>
                </a:tc>
              </a:tr>
              <a:tr h="781200"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Dr. Luis Rivas Algueida</a:t>
                      </a:r>
                      <a:endParaRPr lang="es-V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es-VE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Tutor Institucional:</a:t>
                      </a:r>
                      <a:endParaRPr lang="es-V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es-VE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Ing. Gabriel Falcón</a:t>
                      </a:r>
                      <a:endParaRPr lang="es-V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>
                        <a:alpha val="70000"/>
                      </a:srgbClr>
                    </a:solidFill>
                  </a:tcPr>
                </a:tc>
                <a:tc>
                  <a:txBody>
                    <a:bodyPr lIns="68400" rIns="68400" tIns="0" bIns="0" anchor="t">
                      <a:noAutofit/>
                    </a:bodyPr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es-VE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Caraballo, Nattier  C.I.- 16.225.080</a:t>
                      </a:r>
                      <a:endParaRPr lang="es-V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fr-FR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Linares Jorge Luis C.I.- 4.857.936</a:t>
                      </a:r>
                      <a:endParaRPr lang="es-V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fr-FR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López, Cindia C.I.- 13.019.951</a:t>
                      </a:r>
                      <a:endParaRPr lang="es-V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just" defTabSz="457200">
                        <a:lnSpc>
                          <a:spcPct val="150000"/>
                        </a:lnSpc>
                      </a:pPr>
                      <a:r>
                        <a:rPr lang="es-VE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Times New Roman"/>
                        </a:rPr>
                        <a:t>Mujica Luis Francisco C.I.- 7.090.613</a:t>
                      </a:r>
                      <a:endParaRPr lang="es-V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just" defTabSz="457200">
                        <a:lnSpc>
                          <a:spcPct val="150000"/>
                        </a:lnSpc>
                      </a:pPr>
                      <a:endParaRPr lang="es-VE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68400" marR="68400" marT="0" marB="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ffffff">
                        <a:alpha val="7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2" name="Rectángulo 13"/>
          <p:cNvSpPr/>
          <p:nvPr/>
        </p:nvSpPr>
        <p:spPr>
          <a:xfrm>
            <a:off x="4902480" y="6015960"/>
            <a:ext cx="1963080" cy="335880"/>
          </a:xfrm>
          <a:prstGeom prst="rect">
            <a:avLst/>
          </a:prstGeom>
          <a:solidFill>
            <a:srgbClr val="ffffff">
              <a:alpha val="29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Julio 2026</a:t>
            </a:r>
            <a:endParaRPr lang="es-V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Imagen 14"/>
          <p:cNvPicPr/>
          <p:nvPr/>
        </p:nvPicPr>
        <p:blipFill>
          <a:blip r:embed="rId3"/>
          <a:srcRect l="0" t="0" r="4399" b="7205"/>
          <a:stretch/>
        </p:blipFill>
        <p:spPr>
          <a:xfrm>
            <a:off x="1699200" y="351000"/>
            <a:ext cx="1277280" cy="671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Rectangle 30"/>
          <p:cNvSpPr/>
          <p:nvPr/>
        </p:nvSpPr>
        <p:spPr>
          <a:xfrm>
            <a:off x="52200" y="-1152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Kick-off - Lean Inception</a:t>
            </a:r>
            <a:endParaRPr lang="es-V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3"/>
          <p:cNvSpPr/>
          <p:nvPr/>
        </p:nvSpPr>
        <p:spPr>
          <a:xfrm>
            <a:off x="274320" y="1005840"/>
            <a:ext cx="5486040" cy="45684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Información del Proyecto</a:t>
            </a:r>
            <a:endParaRPr lang="es-V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4"/>
          <p:cNvSpPr/>
          <p:nvPr/>
        </p:nvSpPr>
        <p:spPr>
          <a:xfrm>
            <a:off x="274320" y="1554480"/>
            <a:ext cx="1645560" cy="36540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Nombre: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5"/>
          <p:cNvSpPr/>
          <p:nvPr/>
        </p:nvSpPr>
        <p:spPr>
          <a:xfrm>
            <a:off x="2011680" y="1554480"/>
            <a:ext cx="3748680" cy="36540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Sistema de Información Web Responsive para AJUPTEL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6"/>
          <p:cNvSpPr/>
          <p:nvPr/>
        </p:nvSpPr>
        <p:spPr>
          <a:xfrm>
            <a:off x="274320" y="2011680"/>
            <a:ext cx="1645560" cy="36540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Cliente: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 7"/>
          <p:cNvSpPr/>
          <p:nvPr/>
        </p:nvSpPr>
        <p:spPr>
          <a:xfrm>
            <a:off x="2011680" y="2011680"/>
            <a:ext cx="3748680" cy="36540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AJUPTEL Carabobo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ectangle 8"/>
          <p:cNvSpPr/>
          <p:nvPr/>
        </p:nvSpPr>
        <p:spPr>
          <a:xfrm>
            <a:off x="274320" y="2468880"/>
            <a:ext cx="1645560" cy="36540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Inicio: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Rectangle 9"/>
          <p:cNvSpPr/>
          <p:nvPr/>
        </p:nvSpPr>
        <p:spPr>
          <a:xfrm>
            <a:off x="2011680" y="2468880"/>
            <a:ext cx="3748680" cy="36540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Febrero 2026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ectangle 10"/>
          <p:cNvSpPr/>
          <p:nvPr/>
        </p:nvSpPr>
        <p:spPr>
          <a:xfrm>
            <a:off x="274320" y="2926080"/>
            <a:ext cx="1645560" cy="36540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Finalización: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Rectangle 11"/>
          <p:cNvSpPr/>
          <p:nvPr/>
        </p:nvSpPr>
        <p:spPr>
          <a:xfrm>
            <a:off x="2011680" y="2926080"/>
            <a:ext cx="3748680" cy="36540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03 de julio de 2026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ectangle 12"/>
          <p:cNvSpPr/>
          <p:nvPr/>
        </p:nvSpPr>
        <p:spPr>
          <a:xfrm>
            <a:off x="6217920" y="1005840"/>
            <a:ext cx="5668920" cy="45684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Participantes</a:t>
            </a:r>
            <a:endParaRPr lang="es-V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Rectangle 13"/>
          <p:cNvSpPr/>
          <p:nvPr/>
        </p:nvSpPr>
        <p:spPr>
          <a:xfrm>
            <a:off x="6217920" y="1554480"/>
            <a:ext cx="2011320" cy="3470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Patrocinador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14"/>
          <p:cNvSpPr/>
          <p:nvPr/>
        </p:nvSpPr>
        <p:spPr>
          <a:xfrm>
            <a:off x="8321040" y="1554480"/>
            <a:ext cx="3565800" cy="3470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Sr. Medardo Guerrero - Presidente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ectangle 15"/>
          <p:cNvSpPr/>
          <p:nvPr/>
        </p:nvSpPr>
        <p:spPr>
          <a:xfrm>
            <a:off x="6217920" y="1965960"/>
            <a:ext cx="2011320" cy="3470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Product Owner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Rectangle 16"/>
          <p:cNvSpPr/>
          <p:nvPr/>
        </p:nvSpPr>
        <p:spPr>
          <a:xfrm>
            <a:off x="8321040" y="1965960"/>
            <a:ext cx="3565800" cy="3470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TSU. Nattier Caraballo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ectangle 17"/>
          <p:cNvSpPr/>
          <p:nvPr/>
        </p:nvSpPr>
        <p:spPr>
          <a:xfrm>
            <a:off x="6217920" y="2377440"/>
            <a:ext cx="2011320" cy="3470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Scrum Master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18"/>
          <p:cNvSpPr/>
          <p:nvPr/>
        </p:nvSpPr>
        <p:spPr>
          <a:xfrm>
            <a:off x="8321040" y="2377440"/>
            <a:ext cx="3565800" cy="3470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TSU. Cindia López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19"/>
          <p:cNvSpPr/>
          <p:nvPr/>
        </p:nvSpPr>
        <p:spPr>
          <a:xfrm>
            <a:off x="6217920" y="2788920"/>
            <a:ext cx="2011320" cy="3470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Desarrollador Backend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Rectangle 20"/>
          <p:cNvSpPr/>
          <p:nvPr/>
        </p:nvSpPr>
        <p:spPr>
          <a:xfrm>
            <a:off x="8321040" y="2788920"/>
            <a:ext cx="3565800" cy="3470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TSU. Jorge Linares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Rectangle 21"/>
          <p:cNvSpPr/>
          <p:nvPr/>
        </p:nvSpPr>
        <p:spPr>
          <a:xfrm>
            <a:off x="6217920" y="3200400"/>
            <a:ext cx="2011320" cy="3470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Desarrollador Frontend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Rectangle 22"/>
          <p:cNvSpPr/>
          <p:nvPr/>
        </p:nvSpPr>
        <p:spPr>
          <a:xfrm>
            <a:off x="8321040" y="3200400"/>
            <a:ext cx="3565800" cy="3470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TSU. Luis Mujica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Rectangle 23"/>
          <p:cNvSpPr/>
          <p:nvPr/>
        </p:nvSpPr>
        <p:spPr>
          <a:xfrm>
            <a:off x="6217920" y="3625560"/>
            <a:ext cx="2011320" cy="3470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Director Tecnología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Rectangle 24"/>
          <p:cNvSpPr/>
          <p:nvPr/>
        </p:nvSpPr>
        <p:spPr>
          <a:xfrm>
            <a:off x="8321040" y="3625560"/>
            <a:ext cx="3565800" cy="3470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Ing. Gabriel Falcón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ectangle 25"/>
          <p:cNvSpPr/>
          <p:nvPr/>
        </p:nvSpPr>
        <p:spPr>
          <a:xfrm>
            <a:off x="274320" y="4134600"/>
            <a:ext cx="11612520" cy="45684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Agenda del Workshop</a:t>
            </a:r>
            <a:endParaRPr lang="es-V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26"/>
          <p:cNvSpPr/>
          <p:nvPr/>
        </p:nvSpPr>
        <p:spPr>
          <a:xfrm>
            <a:off x="274320" y="4683240"/>
            <a:ext cx="2194200" cy="31968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Lunes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Rectangle 27"/>
          <p:cNvSpPr/>
          <p:nvPr/>
        </p:nvSpPr>
        <p:spPr>
          <a:xfrm>
            <a:off x="274320" y="5049000"/>
            <a:ext cx="2194200" cy="548280"/>
          </a:xfrm>
          <a:prstGeom prst="rect">
            <a:avLst/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Kick-off, Visión del Producto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Rectangle 28"/>
          <p:cNvSpPr/>
          <p:nvPr/>
        </p:nvSpPr>
        <p:spPr>
          <a:xfrm>
            <a:off x="2560320" y="4683240"/>
            <a:ext cx="2194200" cy="31968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Martes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Rectangle 29"/>
          <p:cNvSpPr/>
          <p:nvPr/>
        </p:nvSpPr>
        <p:spPr>
          <a:xfrm>
            <a:off x="2560320" y="5049000"/>
            <a:ext cx="2194200" cy="548280"/>
          </a:xfrm>
          <a:prstGeom prst="rect">
            <a:avLst/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Personas, Objetivos del Producto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ectangle 30"/>
          <p:cNvSpPr/>
          <p:nvPr/>
        </p:nvSpPr>
        <p:spPr>
          <a:xfrm>
            <a:off x="4846320" y="4683240"/>
            <a:ext cx="2194200" cy="31968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Miércoles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Rectangle 31"/>
          <p:cNvSpPr/>
          <p:nvPr/>
        </p:nvSpPr>
        <p:spPr>
          <a:xfrm>
            <a:off x="4846320" y="5049000"/>
            <a:ext cx="2194200" cy="548280"/>
          </a:xfrm>
          <a:prstGeom prst="rect">
            <a:avLst/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Viajes de Usuario, Brainstorming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Rectangle 32"/>
          <p:cNvSpPr/>
          <p:nvPr/>
        </p:nvSpPr>
        <p:spPr>
          <a:xfrm>
            <a:off x="7132320" y="4683240"/>
            <a:ext cx="2194200" cy="31968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Jueves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Rectangle 33"/>
          <p:cNvSpPr/>
          <p:nvPr/>
        </p:nvSpPr>
        <p:spPr>
          <a:xfrm>
            <a:off x="7132320" y="5049000"/>
            <a:ext cx="2194200" cy="548280"/>
          </a:xfrm>
          <a:prstGeom prst="rect">
            <a:avLst/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Revisión Técnica, Secuenciador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ectangle 34"/>
          <p:cNvSpPr/>
          <p:nvPr/>
        </p:nvSpPr>
        <p:spPr>
          <a:xfrm>
            <a:off x="9418320" y="4683240"/>
            <a:ext cx="2194200" cy="31968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Viernes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Rectangle 35"/>
          <p:cNvSpPr/>
          <p:nvPr/>
        </p:nvSpPr>
        <p:spPr>
          <a:xfrm>
            <a:off x="9418320" y="5049000"/>
            <a:ext cx="2194200" cy="548280"/>
          </a:xfrm>
          <a:prstGeom prst="rect">
            <a:avLst/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Canvas MVP, Showcase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Rectangle 36"/>
          <p:cNvSpPr/>
          <p:nvPr/>
        </p:nvSpPr>
        <p:spPr>
          <a:xfrm>
            <a:off x="274320" y="5780520"/>
            <a:ext cx="11612520" cy="36540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Objetivo del Workshop: Centralizar datos de asociados | Automatizar gestión | Mejorar atención a adultos mayores | Integrar IA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Visión del Producto</a:t>
            </a:r>
            <a:endParaRPr lang="es-V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Rectangle 3"/>
          <p:cNvSpPr/>
          <p:nvPr/>
        </p:nvSpPr>
        <p:spPr>
          <a:xfrm>
            <a:off x="274320" y="1005840"/>
            <a:ext cx="5486040" cy="41112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Plantilla de Visión del Producto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Rectangle 4"/>
          <p:cNvSpPr/>
          <p:nvPr/>
        </p:nvSpPr>
        <p:spPr>
          <a:xfrm>
            <a:off x="274320" y="1463040"/>
            <a:ext cx="1371240" cy="3596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PARA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Rectangle 5"/>
          <p:cNvSpPr/>
          <p:nvPr/>
        </p:nvSpPr>
        <p:spPr>
          <a:xfrm>
            <a:off x="1691640" y="1463040"/>
            <a:ext cx="4068720" cy="3596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Asociados jubilados/pensionados de CANTV, personal administrativo y junta directiva de AJUPTEL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Rectangle 6"/>
          <p:cNvSpPr/>
          <p:nvPr/>
        </p:nvSpPr>
        <p:spPr>
          <a:xfrm>
            <a:off x="274320" y="1871640"/>
            <a:ext cx="1371240" cy="3596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QUIENES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Rectangle 7"/>
          <p:cNvSpPr/>
          <p:nvPr/>
        </p:nvSpPr>
        <p:spPr>
          <a:xfrm>
            <a:off x="1691640" y="1871640"/>
            <a:ext cx="4068720" cy="3596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Enfrentan gestión de datos fragmentada en Excel, con riesgo de pérdida y lentitud en atención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Rectangle 8"/>
          <p:cNvSpPr/>
          <p:nvPr/>
        </p:nvSpPr>
        <p:spPr>
          <a:xfrm>
            <a:off x="274320" y="2279880"/>
            <a:ext cx="1371240" cy="3596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NUESTRO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 9"/>
          <p:cNvSpPr/>
          <p:nvPr/>
        </p:nvSpPr>
        <p:spPr>
          <a:xfrm>
            <a:off x="1691640" y="2279880"/>
            <a:ext cx="4068720" cy="3596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Sistema de Información Web Responsive para la Gestión de Datos de AJUPTEL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Rectangle 10"/>
          <p:cNvSpPr/>
          <p:nvPr/>
        </p:nvSpPr>
        <p:spPr>
          <a:xfrm>
            <a:off x="274320" y="2700360"/>
            <a:ext cx="1371240" cy="3596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Rectangle 11"/>
          <p:cNvSpPr/>
          <p:nvPr/>
        </p:nvSpPr>
        <p:spPr>
          <a:xfrm>
            <a:off x="1691640" y="2700360"/>
            <a:ext cx="4068720" cy="3596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Plataforma integral de gestión con inteligencia artificial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12"/>
          <p:cNvSpPr/>
          <p:nvPr/>
        </p:nvSpPr>
        <p:spPr>
          <a:xfrm>
            <a:off x="274320" y="3108960"/>
            <a:ext cx="1371240" cy="3596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QUE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13"/>
          <p:cNvSpPr/>
          <p:nvPr/>
        </p:nvSpPr>
        <p:spPr>
          <a:xfrm>
            <a:off x="1691640" y="3108960"/>
            <a:ext cx="4068720" cy="3596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Centraliza, automatiza y protege información de asociados, familiares, voceros y proveedores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ectangle 14"/>
          <p:cNvSpPr/>
          <p:nvPr/>
        </p:nvSpPr>
        <p:spPr>
          <a:xfrm>
            <a:off x="274320" y="3517560"/>
            <a:ext cx="1371240" cy="3596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 DIFERENCIA DE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Rectangle 15"/>
          <p:cNvSpPr/>
          <p:nvPr/>
        </p:nvSpPr>
        <p:spPr>
          <a:xfrm>
            <a:off x="1691640" y="3517560"/>
            <a:ext cx="4068720" cy="3596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Sistemas de hojas de cálculo manuales y dispersos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16"/>
          <p:cNvSpPr/>
          <p:nvPr/>
        </p:nvSpPr>
        <p:spPr>
          <a:xfrm>
            <a:off x="274320" y="3925800"/>
            <a:ext cx="1371240" cy="3596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NUESTRO PRODUCTO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Rectangle 17"/>
          <p:cNvSpPr/>
          <p:nvPr/>
        </p:nvSpPr>
        <p:spPr>
          <a:xfrm>
            <a:off x="1691640" y="3925800"/>
            <a:ext cx="4068720" cy="35964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Ofrece transformación digital inclusiva con atención digna y eficiente para personas de la tercera edad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Rectangle 18"/>
          <p:cNvSpPr/>
          <p:nvPr/>
        </p:nvSpPr>
        <p:spPr>
          <a:xfrm>
            <a:off x="6217920" y="1005840"/>
            <a:ext cx="5668920" cy="41112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Declaración de Visión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19"/>
          <p:cNvSpPr/>
          <p:nvPr/>
        </p:nvSpPr>
        <p:spPr>
          <a:xfrm>
            <a:off x="6217920" y="1463040"/>
            <a:ext cx="5668920" cy="164556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rIns="190440" tIns="19044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"Consolidar a AJUPTEL Carabobo como referente de transformación digital inclusiva, mediante un Sistema de Información web inteligente que automatiza, centraliza y protege su información estratégica, transformando la gestión administrativa en un servicio digno y eficiente para personas de la tercera edad, con experiencia interactiva mediante Inteligencia Artificial."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Rectangle 20"/>
          <p:cNvSpPr/>
          <p:nvPr/>
        </p:nvSpPr>
        <p:spPr>
          <a:xfrm>
            <a:off x="6217920" y="3246120"/>
            <a:ext cx="5668920" cy="41112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Puntos Clave del Producto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Rounded Rectangle 21"/>
          <p:cNvSpPr/>
          <p:nvPr/>
        </p:nvSpPr>
        <p:spPr>
          <a:xfrm>
            <a:off x="6217920" y="370332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Gestión integral de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22"/>
          <p:cNvSpPr/>
          <p:nvPr/>
        </p:nvSpPr>
        <p:spPr>
          <a:xfrm>
            <a:off x="9052560" y="370332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Control de familiares y voceros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ounded Rectangle 23"/>
          <p:cNvSpPr/>
          <p:nvPr/>
        </p:nvSpPr>
        <p:spPr>
          <a:xfrm>
            <a:off x="6217920" y="405072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Administración de proveedores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ounded Rectangle 24"/>
          <p:cNvSpPr/>
          <p:nvPr/>
        </p:nvSpPr>
        <p:spPr>
          <a:xfrm>
            <a:off x="9052560" y="405072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Autenticación segura por roles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25"/>
          <p:cNvSpPr/>
          <p:nvPr/>
        </p:nvSpPr>
        <p:spPr>
          <a:xfrm>
            <a:off x="6217920" y="439812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Importación/exportación de datos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Rounded Rectangle 26"/>
          <p:cNvSpPr/>
          <p:nvPr/>
        </p:nvSpPr>
        <p:spPr>
          <a:xfrm>
            <a:off x="9052560" y="439812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Reportes estratégicos ejecutivos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ounded Rectangle 27"/>
          <p:cNvSpPr/>
          <p:nvPr/>
        </p:nvSpPr>
        <p:spPr>
          <a:xfrm>
            <a:off x="6217920" y="474588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Agente conversacional con IA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28"/>
          <p:cNvSpPr/>
          <p:nvPr/>
        </p:nvSpPr>
        <p:spPr>
          <a:xfrm>
            <a:off x="9052560" y="474588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Escaneo de documentos móvil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Rounded Rectangle 29"/>
          <p:cNvSpPr/>
          <p:nvPr/>
        </p:nvSpPr>
        <p:spPr>
          <a:xfrm>
            <a:off x="6217920" y="509328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Portal web para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ounded Rectangle 30"/>
          <p:cNvSpPr/>
          <p:nvPr/>
        </p:nvSpPr>
        <p:spPr>
          <a:xfrm>
            <a:off x="9052560" y="5093280"/>
            <a:ext cx="2742840" cy="319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Notificaciones push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El Producto ES - NO ES - HACE - NO HACE</a:t>
            </a:r>
            <a:endParaRPr lang="es-VE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Rectangle 3"/>
          <p:cNvSpPr/>
          <p:nvPr/>
        </p:nvSpPr>
        <p:spPr>
          <a:xfrm>
            <a:off x="274320" y="1005840"/>
            <a:ext cx="5668920" cy="45684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ES</a:t>
            </a:r>
            <a:endParaRPr lang="es-V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Rounded Rectangle 4"/>
          <p:cNvSpPr/>
          <p:nvPr/>
        </p:nvSpPr>
        <p:spPr>
          <a:xfrm>
            <a:off x="274320" y="1508760"/>
            <a:ext cx="5668920" cy="201132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rIns="127080" tIns="190440" bIns="45000" anchor="ctr">
            <a:no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Sistema web de gestión de datos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Plataforma centralizada de información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Interfaz intuitiva y responsiva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Sistema con inteligencia artificial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Portal web institucional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Rectangle 5"/>
          <p:cNvSpPr/>
          <p:nvPr/>
        </p:nvSpPr>
        <p:spPr>
          <a:xfrm>
            <a:off x="6217920" y="1005840"/>
            <a:ext cx="5668920" cy="456840"/>
          </a:xfrm>
          <a:prstGeom prst="rect">
            <a:avLst/>
          </a:prstGeom>
          <a:solidFill>
            <a:srgbClr val="b4b4b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NO ES</a:t>
            </a:r>
            <a:endParaRPr lang="es-V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ounded Rectangle 6"/>
          <p:cNvSpPr/>
          <p:nvPr/>
        </p:nvSpPr>
        <p:spPr>
          <a:xfrm>
            <a:off x="6217920" y="1508760"/>
            <a:ext cx="5668920" cy="201132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b4b4b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rIns="127080" tIns="190440" bIns="45000" anchor="ctr">
            <a:no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App móvil nativa (en esta fase)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Gestión de nómina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Sistema de gestión hospitalaria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Rectangle 7"/>
          <p:cNvSpPr/>
          <p:nvPr/>
        </p:nvSpPr>
        <p:spPr>
          <a:xfrm>
            <a:off x="244080" y="3566160"/>
            <a:ext cx="5668920" cy="4568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HACE</a:t>
            </a:r>
            <a:endParaRPr lang="es-V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8"/>
          <p:cNvSpPr/>
          <p:nvPr/>
        </p:nvSpPr>
        <p:spPr>
          <a:xfrm>
            <a:off x="274320" y="4023360"/>
            <a:ext cx="5668920" cy="2393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rIns="127080" tIns="190440" bIns="45000" anchor="ctr">
            <a:no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Registro de asociados, familiares, voceros y proveedores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Control de acceso por roles (RBAC)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Importación/exportación de datos (Excel, PDF, CSV)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Generación de reportes estratégicos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Escaneo de documentos desde móvil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Agente conversacional con IA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Notificaciones push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Rectangle 9"/>
          <p:cNvSpPr/>
          <p:nvPr/>
        </p:nvSpPr>
        <p:spPr>
          <a:xfrm>
            <a:off x="6217920" y="3611880"/>
            <a:ext cx="5668920" cy="456840"/>
          </a:xfrm>
          <a:prstGeom prst="rect">
            <a:avLst/>
          </a:prstGeom>
          <a:solidFill>
            <a:srgbClr val="c864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NO HACE</a:t>
            </a:r>
            <a:endParaRPr lang="es-VE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Rounded Rectangle 10"/>
          <p:cNvSpPr/>
          <p:nvPr/>
        </p:nvSpPr>
        <p:spPr>
          <a:xfrm>
            <a:off x="6217920" y="4160520"/>
            <a:ext cx="5668920" cy="155412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c8646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rIns="127080" tIns="190440" bIns="45000" anchor="ctr">
            <a:no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spcAft>
                <a:spcPts val="799"/>
              </a:spcAft>
              <a:buClr>
                <a:srgbClr val="002850"/>
              </a:buClr>
              <a:buFont typeface="Arial"/>
              <a:buChar char="•"/>
            </a:pPr>
            <a:r>
              <a:rPr lang="es-VE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Integración con CANTV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spcAft>
                <a:spcPts val="799"/>
              </a:spcAft>
              <a:buClr>
                <a:srgbClr val="002850"/>
              </a:buClr>
              <a:buFont typeface="Arial"/>
              <a:buChar char="•"/>
            </a:pPr>
            <a:r>
              <a:rPr lang="es-VE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Gestión de seguros 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spcAft>
                <a:spcPts val="799"/>
              </a:spcAft>
              <a:buClr>
                <a:srgbClr val="002850"/>
              </a:buClr>
              <a:buFont typeface="Arial"/>
              <a:buChar char="•"/>
            </a:pPr>
            <a:r>
              <a:rPr lang="es-VE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Gestión social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Personas del Sistema</a:t>
            </a:r>
            <a:endParaRPr lang="es-V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Una persona representa a un usuario del producto, describiendo su rol, características y necesidades.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4"/>
          <p:cNvSpPr/>
          <p:nvPr/>
        </p:nvSpPr>
        <p:spPr>
          <a:xfrm>
            <a:off x="182880" y="1280160"/>
            <a:ext cx="2788560" cy="5028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59" name="Rectangle 5"/>
          <p:cNvSpPr/>
          <p:nvPr/>
        </p:nvSpPr>
        <p:spPr>
          <a:xfrm>
            <a:off x="182880" y="1280160"/>
            <a:ext cx="2788560" cy="54828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Patrocinador / Presidente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Rectangle 6"/>
          <p:cNvSpPr/>
          <p:nvPr/>
        </p:nvSpPr>
        <p:spPr>
          <a:xfrm>
            <a:off x="274320" y="1920240"/>
            <a:ext cx="2605680" cy="36540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Sr. Medardo Guerrero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Rectangle 7"/>
          <p:cNvSpPr/>
          <p:nvPr/>
        </p:nvSpPr>
        <p:spPr>
          <a:xfrm>
            <a:off x="274320" y="2331720"/>
            <a:ext cx="2605680" cy="27396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Perfil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8"/>
          <p:cNvSpPr/>
          <p:nvPr/>
        </p:nvSpPr>
        <p:spPr>
          <a:xfrm>
            <a:off x="274320" y="2651760"/>
            <a:ext cx="2605680" cy="63972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Líder de la asociación, toma decisiones estratégicas, busca mejorar la atención a los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9"/>
          <p:cNvSpPr/>
          <p:nvPr/>
        </p:nvSpPr>
        <p:spPr>
          <a:xfrm>
            <a:off x="274320" y="3337560"/>
            <a:ext cx="2605680" cy="27396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Comportamiento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Rounded Rectangle 10"/>
          <p:cNvSpPr/>
          <p:nvPr/>
        </p:nvSpPr>
        <p:spPr>
          <a:xfrm>
            <a:off x="274320" y="3657600"/>
            <a:ext cx="2605680" cy="63972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Preocupado por la eficiencia, visibilidad del progreso, protección de datos y mejora tangible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ectangle 11"/>
          <p:cNvSpPr/>
          <p:nvPr/>
        </p:nvSpPr>
        <p:spPr>
          <a:xfrm>
            <a:off x="274320" y="4343400"/>
            <a:ext cx="2605680" cy="27396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Necesidades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Rounded Rectangle 12"/>
          <p:cNvSpPr/>
          <p:nvPr/>
        </p:nvSpPr>
        <p:spPr>
          <a:xfrm>
            <a:off x="274320" y="4663440"/>
            <a:ext cx="2605680" cy="14626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10152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Reportes ejecutivos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Visibilidad del proyecto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Mejora en atención a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Toma de decisiones basada en datos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Rounded Rectangle 13"/>
          <p:cNvSpPr/>
          <p:nvPr/>
        </p:nvSpPr>
        <p:spPr>
          <a:xfrm>
            <a:off x="3063240" y="1280160"/>
            <a:ext cx="2788560" cy="5028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68" name="Rectangle 14"/>
          <p:cNvSpPr/>
          <p:nvPr/>
        </p:nvSpPr>
        <p:spPr>
          <a:xfrm>
            <a:off x="3063240" y="1231560"/>
            <a:ext cx="2788560" cy="54828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Secretaria General / Operacional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Rectangle 15"/>
          <p:cNvSpPr/>
          <p:nvPr/>
        </p:nvSpPr>
        <p:spPr>
          <a:xfrm>
            <a:off x="3154680" y="1920240"/>
            <a:ext cx="2605680" cy="36540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Sra. Benilde Domínguez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16"/>
          <p:cNvSpPr/>
          <p:nvPr/>
        </p:nvSpPr>
        <p:spPr>
          <a:xfrm>
            <a:off x="3154680" y="2331720"/>
            <a:ext cx="2605680" cy="27396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Perfil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Rounded Rectangle 17"/>
          <p:cNvSpPr/>
          <p:nvPr/>
        </p:nvSpPr>
        <p:spPr>
          <a:xfrm>
            <a:off x="3154680" y="2651760"/>
            <a:ext cx="2605680" cy="63972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Gestiona actas, documentos formales, comunicación con entes externos y registro de datos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Rectangle 18"/>
          <p:cNvSpPr/>
          <p:nvPr/>
        </p:nvSpPr>
        <p:spPr>
          <a:xfrm>
            <a:off x="3154680" y="3337560"/>
            <a:ext cx="2605680" cy="27396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Comportamiento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Rounded Rectangle 19"/>
          <p:cNvSpPr/>
          <p:nvPr/>
        </p:nvSpPr>
        <p:spPr>
          <a:xfrm>
            <a:off x="3154680" y="3657600"/>
            <a:ext cx="2605680" cy="63972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Necesita sistema fácil de usar, consultas rápidas, publicación de información institucional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ectangle 20"/>
          <p:cNvSpPr/>
          <p:nvPr/>
        </p:nvSpPr>
        <p:spPr>
          <a:xfrm>
            <a:off x="3154680" y="4343400"/>
            <a:ext cx="2605680" cy="27396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Necesidades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Rounded Rectangle 21"/>
          <p:cNvSpPr/>
          <p:nvPr/>
        </p:nvSpPr>
        <p:spPr>
          <a:xfrm>
            <a:off x="3154680" y="4663440"/>
            <a:ext cx="2605680" cy="14626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10152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Gestión de datos de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Publicación de información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Automatización de procesos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Reportes rápidos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22"/>
          <p:cNvSpPr/>
          <p:nvPr/>
        </p:nvSpPr>
        <p:spPr>
          <a:xfrm>
            <a:off x="5943600" y="1280160"/>
            <a:ext cx="2788560" cy="5028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23"/>
          <p:cNvSpPr/>
          <p:nvPr/>
        </p:nvSpPr>
        <p:spPr>
          <a:xfrm>
            <a:off x="5943600" y="1234440"/>
            <a:ext cx="2788560" cy="54828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Director de Tecnología / Super Admin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Rectangle 24"/>
          <p:cNvSpPr/>
          <p:nvPr/>
        </p:nvSpPr>
        <p:spPr>
          <a:xfrm>
            <a:off x="6035040" y="1920240"/>
            <a:ext cx="2605680" cy="36540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Ing. Gabriel Falcón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Rectangle 25"/>
          <p:cNvSpPr/>
          <p:nvPr/>
        </p:nvSpPr>
        <p:spPr>
          <a:xfrm>
            <a:off x="6035040" y="2331720"/>
            <a:ext cx="2605680" cy="27396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Perfil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Rounded Rectangle 26"/>
          <p:cNvSpPr/>
          <p:nvPr/>
        </p:nvSpPr>
        <p:spPr>
          <a:xfrm>
            <a:off x="6035040" y="2651760"/>
            <a:ext cx="2605680" cy="63972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Profesional técnico, dará soporte futuro al sistema, monitorea la plataforma tecnológica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Rectangle 27"/>
          <p:cNvSpPr/>
          <p:nvPr/>
        </p:nvSpPr>
        <p:spPr>
          <a:xfrm>
            <a:off x="6035040" y="3337560"/>
            <a:ext cx="2605680" cy="27396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Comportamiento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Rounded Rectangle 28"/>
          <p:cNvSpPr/>
          <p:nvPr/>
        </p:nvSpPr>
        <p:spPr>
          <a:xfrm>
            <a:off x="6035040" y="3657600"/>
            <a:ext cx="2605680" cy="63972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Metódico, preocupado por la seguridad, estandarización tecnológica y capacitación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Rectangle 29"/>
          <p:cNvSpPr/>
          <p:nvPr/>
        </p:nvSpPr>
        <p:spPr>
          <a:xfrm>
            <a:off x="6035040" y="4343400"/>
            <a:ext cx="2605680" cy="27396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Necesidades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Rounded Rectangle 30"/>
          <p:cNvSpPr/>
          <p:nvPr/>
        </p:nvSpPr>
        <p:spPr>
          <a:xfrm>
            <a:off x="6035040" y="4663440"/>
            <a:ext cx="2605680" cy="14626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101520" bIns="45000" anchor="ctr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Capacitación técnica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Soporte futuro del sistema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Monitoreo del funcionamiento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Estandarización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Rounded Rectangle 31"/>
          <p:cNvSpPr/>
          <p:nvPr/>
        </p:nvSpPr>
        <p:spPr>
          <a:xfrm>
            <a:off x="8823960" y="1280160"/>
            <a:ext cx="2788560" cy="50288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99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186" name="Rectangle 32"/>
          <p:cNvSpPr/>
          <p:nvPr/>
        </p:nvSpPr>
        <p:spPr>
          <a:xfrm>
            <a:off x="8823960" y="1234440"/>
            <a:ext cx="2788560" cy="548280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Usuario Final / Asociado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Rectangle 33"/>
          <p:cNvSpPr/>
          <p:nvPr/>
        </p:nvSpPr>
        <p:spPr>
          <a:xfrm>
            <a:off x="8915400" y="1920240"/>
            <a:ext cx="2605680" cy="36540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Asociados Jubilados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Rectangle 34"/>
          <p:cNvSpPr/>
          <p:nvPr/>
        </p:nvSpPr>
        <p:spPr>
          <a:xfrm>
            <a:off x="8915400" y="2331720"/>
            <a:ext cx="2605680" cy="273960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Perfil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Rounded Rectangle 35"/>
          <p:cNvSpPr/>
          <p:nvPr/>
        </p:nvSpPr>
        <p:spPr>
          <a:xfrm>
            <a:off x="8915400" y="2651760"/>
            <a:ext cx="2605680" cy="63972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99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Adultos mayores, jubilados de CANTV, necesitan acceso sencillo a su información personal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Rectangle 36"/>
          <p:cNvSpPr/>
          <p:nvPr/>
        </p:nvSpPr>
        <p:spPr>
          <a:xfrm>
            <a:off x="8915400" y="3337560"/>
            <a:ext cx="2605680" cy="273960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Comportamiento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Rounded Rectangle 37"/>
          <p:cNvSpPr/>
          <p:nvPr/>
        </p:nvSpPr>
        <p:spPr>
          <a:xfrm>
            <a:off x="8915400" y="3657600"/>
            <a:ext cx="2605680" cy="63972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99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Necesitan interfaz adaptada, botones grandes, texto claro, proceso sencillo de trámites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ectangle 38"/>
          <p:cNvSpPr/>
          <p:nvPr/>
        </p:nvSpPr>
        <p:spPr>
          <a:xfrm>
            <a:off x="8915400" y="4343400"/>
            <a:ext cx="2605680" cy="273960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Necesidades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Rounded Rectangle 39"/>
          <p:cNvSpPr/>
          <p:nvPr/>
        </p:nvSpPr>
        <p:spPr>
          <a:xfrm>
            <a:off x="8915400" y="4663440"/>
            <a:ext cx="2605680" cy="14626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12700">
            <a:solidFill>
              <a:srgbClr val="0099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101520" bIns="45000" anchor="ctr">
            <a:noAutofit/>
          </a:bodyPr>
          <a:p>
            <a:pPr algn="ctr"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Consultar información personal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Enviar documentos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Recibir notificaciones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Agente conversacional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Objetivos del Producto</a:t>
            </a:r>
            <a:endParaRPr lang="es-V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Si tuviéramos que resumir el producto en tres objetivos para el negocio, ¿cuáles serían?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Oval 4"/>
          <p:cNvSpPr/>
          <p:nvPr/>
        </p:nvSpPr>
        <p:spPr>
          <a:xfrm>
            <a:off x="365760" y="1371600"/>
            <a:ext cx="639720" cy="6397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s-V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Rounded Rectangle 5"/>
          <p:cNvSpPr/>
          <p:nvPr/>
        </p:nvSpPr>
        <p:spPr>
          <a:xfrm>
            <a:off x="1188720" y="1280160"/>
            <a:ext cx="10515240" cy="10054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rIns="190440" tIns="19044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Centralizar la información de todos los asociados, jubilados, sobrevivientes, familiares, voceros y proveedores en una única base de datos relacional (MySQL), eliminando la dispersión actual en hojas de Excel.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Oval 6"/>
          <p:cNvSpPr/>
          <p:nvPr/>
        </p:nvSpPr>
        <p:spPr>
          <a:xfrm>
            <a:off x="365760" y="2560320"/>
            <a:ext cx="639720" cy="6397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s-V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Rounded Rectangle 7"/>
          <p:cNvSpPr/>
          <p:nvPr/>
        </p:nvSpPr>
        <p:spPr>
          <a:xfrm>
            <a:off x="1188720" y="2468880"/>
            <a:ext cx="10515240" cy="10054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rIns="190440" tIns="19044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Automatizar los procesos de gestión de datos implementando un CRUD completo que sea fácil de usar para el personal administrativo, reduciendo el tiempo de gestión en un 70%.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Oval 8"/>
          <p:cNvSpPr/>
          <p:nvPr/>
        </p:nvSpPr>
        <p:spPr>
          <a:xfrm>
            <a:off x="365760" y="3749040"/>
            <a:ext cx="639720" cy="6397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s-VE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Rounded Rectangle 9"/>
          <p:cNvSpPr/>
          <p:nvPr/>
        </p:nvSpPr>
        <p:spPr>
          <a:xfrm>
            <a:off x="1188720" y="3657600"/>
            <a:ext cx="10515240" cy="10054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rIns="190440" tIns="19044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Mejorar la comunicación con los asociados a través de un sistema web responsive accesible desde computador o smartphone, con agente conversacional IA para adultos mayores.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Rectangle 10"/>
          <p:cNvSpPr/>
          <p:nvPr/>
        </p:nvSpPr>
        <p:spPr>
          <a:xfrm>
            <a:off x="274320" y="4937760"/>
            <a:ext cx="11612520" cy="4568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Métricas Clave</a:t>
            </a:r>
            <a:endParaRPr lang="es-VE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Rounded Rectangle 11"/>
          <p:cNvSpPr/>
          <p:nvPr/>
        </p:nvSpPr>
        <p:spPr>
          <a:xfrm>
            <a:off x="274320" y="5440680"/>
            <a:ext cx="2834280" cy="1005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2708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066cc"/>
                </a:solidFill>
                <a:effectLst/>
                <a:uFillTx/>
                <a:latin typeface="Arial"/>
              </a:rPr>
              <a:t>70%</a:t>
            </a:r>
            <a:endParaRPr lang="es-V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Reducción en tiempo de gestión administrativa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Rounded Rectangle 12"/>
          <p:cNvSpPr/>
          <p:nvPr/>
        </p:nvSpPr>
        <p:spPr>
          <a:xfrm>
            <a:off x="3200400" y="5440680"/>
            <a:ext cx="2834280" cy="1005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2708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066cc"/>
                </a:solidFill>
                <a:effectLst/>
                <a:uFillTx/>
                <a:latin typeface="Arial"/>
              </a:rPr>
              <a:t>&lt;1%</a:t>
            </a:r>
            <a:endParaRPr lang="es-V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Tasa de errores de registro 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(vs 15% actual)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ounded Rectangle 13"/>
          <p:cNvSpPr/>
          <p:nvPr/>
        </p:nvSpPr>
        <p:spPr>
          <a:xfrm>
            <a:off x="6126480" y="5440680"/>
            <a:ext cx="2834280" cy="1005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2708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066cc"/>
                </a:solidFill>
                <a:effectLst/>
                <a:uFillTx/>
                <a:latin typeface="Arial"/>
              </a:rPr>
              <a:t>100%</a:t>
            </a:r>
            <a:endParaRPr lang="es-V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Control de datos con historial de modificaciones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Rounded Rectangle 14"/>
          <p:cNvSpPr/>
          <p:nvPr/>
        </p:nvSpPr>
        <p:spPr>
          <a:xfrm>
            <a:off x="9052560" y="5440680"/>
            <a:ext cx="2834280" cy="1005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12708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066cc"/>
                </a:solidFill>
                <a:effectLst/>
                <a:uFillTx/>
                <a:latin typeface="Arial"/>
              </a:rPr>
              <a:t>24/7</a:t>
            </a:r>
            <a:endParaRPr lang="es-V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Disponibilidad de información para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Viajes de Usuario</a:t>
            </a:r>
            <a:endParaRPr lang="es-V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El viaje describe el camino que sigue un usuario a través de una secuencia de pasos para alcanzar una meta.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Rectangle 4"/>
          <p:cNvSpPr/>
          <p:nvPr/>
        </p:nvSpPr>
        <p:spPr>
          <a:xfrm>
            <a:off x="182880" y="1280160"/>
            <a:ext cx="3840120" cy="45684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Patrocinador (Presidente)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Rounded Rectangle 5"/>
          <p:cNvSpPr/>
          <p:nvPr/>
        </p:nvSpPr>
        <p:spPr>
          <a:xfrm>
            <a:off x="182880" y="1783080"/>
            <a:ext cx="3840120" cy="36540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🎯 Evaluar estado de la asociación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Oval 6"/>
          <p:cNvSpPr/>
          <p:nvPr/>
        </p:nvSpPr>
        <p:spPr>
          <a:xfrm>
            <a:off x="274320" y="2240280"/>
            <a:ext cx="411120" cy="4111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Rounded Rectangle 7"/>
          <p:cNvSpPr/>
          <p:nvPr/>
        </p:nvSpPr>
        <p:spPr>
          <a:xfrm>
            <a:off x="777240" y="224028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Iniciar sesión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Login seguro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Oval 8"/>
          <p:cNvSpPr/>
          <p:nvPr/>
        </p:nvSpPr>
        <p:spPr>
          <a:xfrm>
            <a:off x="274320" y="3017520"/>
            <a:ext cx="411120" cy="4111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Rounded Rectangle 9"/>
          <p:cNvSpPr/>
          <p:nvPr/>
        </p:nvSpPr>
        <p:spPr>
          <a:xfrm>
            <a:off x="777240" y="301752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Navegar a reportes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Dashboard ejecutivo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Oval 10"/>
          <p:cNvSpPr/>
          <p:nvPr/>
        </p:nvSpPr>
        <p:spPr>
          <a:xfrm>
            <a:off x="274320" y="3794760"/>
            <a:ext cx="411120" cy="4111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Rounded Rectangle 11"/>
          <p:cNvSpPr/>
          <p:nvPr/>
        </p:nvSpPr>
        <p:spPr>
          <a:xfrm>
            <a:off x="777240" y="379476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Filtrar por período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Filtros avanzados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Oval 12"/>
          <p:cNvSpPr/>
          <p:nvPr/>
        </p:nvSpPr>
        <p:spPr>
          <a:xfrm>
            <a:off x="274320" y="4572000"/>
            <a:ext cx="411120" cy="4111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Rounded Rectangle 13"/>
          <p:cNvSpPr/>
          <p:nvPr/>
        </p:nvSpPr>
        <p:spPr>
          <a:xfrm>
            <a:off x="777240" y="457200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Analizar métricas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Gráficos y KPIs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Oval 14"/>
          <p:cNvSpPr/>
          <p:nvPr/>
        </p:nvSpPr>
        <p:spPr>
          <a:xfrm>
            <a:off x="274320" y="5349240"/>
            <a:ext cx="411120" cy="411120"/>
          </a:xfrm>
          <a:prstGeom prst="ellipse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Rounded Rectangle 15"/>
          <p:cNvSpPr/>
          <p:nvPr/>
        </p:nvSpPr>
        <p:spPr>
          <a:xfrm>
            <a:off x="777240" y="534924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Exportar reporte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PDF/Excel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Rectangle 16"/>
          <p:cNvSpPr/>
          <p:nvPr/>
        </p:nvSpPr>
        <p:spPr>
          <a:xfrm>
            <a:off x="4069080" y="1280160"/>
            <a:ext cx="3840120" cy="45684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Secretaria (Administradora)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Rounded Rectangle 17"/>
          <p:cNvSpPr/>
          <p:nvPr/>
        </p:nvSpPr>
        <p:spPr>
          <a:xfrm>
            <a:off x="4069080" y="1783080"/>
            <a:ext cx="3840120" cy="36540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🎯 Registrar nuevo asociado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Oval 18"/>
          <p:cNvSpPr/>
          <p:nvPr/>
        </p:nvSpPr>
        <p:spPr>
          <a:xfrm>
            <a:off x="4160520" y="2240280"/>
            <a:ext cx="411120" cy="41112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Rounded Rectangle 19"/>
          <p:cNvSpPr/>
          <p:nvPr/>
        </p:nvSpPr>
        <p:spPr>
          <a:xfrm>
            <a:off x="4663440" y="224028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Acceder módulo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Navegación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Oval 20"/>
          <p:cNvSpPr/>
          <p:nvPr/>
        </p:nvSpPr>
        <p:spPr>
          <a:xfrm>
            <a:off x="4160520" y="3017520"/>
            <a:ext cx="411120" cy="41112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Rounded Rectangle 21"/>
          <p:cNvSpPr/>
          <p:nvPr/>
        </p:nvSpPr>
        <p:spPr>
          <a:xfrm>
            <a:off x="4663440" y="301752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Completar formulario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Formulario con validaciones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Oval 22"/>
          <p:cNvSpPr/>
          <p:nvPr/>
        </p:nvSpPr>
        <p:spPr>
          <a:xfrm>
            <a:off x="4160520" y="3794760"/>
            <a:ext cx="411120" cy="41112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Rounded Rectangle 23"/>
          <p:cNvSpPr/>
          <p:nvPr/>
        </p:nvSpPr>
        <p:spPr>
          <a:xfrm>
            <a:off x="4663440" y="379476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Verificar duplicados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Detección IA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Oval 24"/>
          <p:cNvSpPr/>
          <p:nvPr/>
        </p:nvSpPr>
        <p:spPr>
          <a:xfrm>
            <a:off x="4160520" y="4572000"/>
            <a:ext cx="411120" cy="41112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Rounded Rectangle 25"/>
          <p:cNvSpPr/>
          <p:nvPr/>
        </p:nvSpPr>
        <p:spPr>
          <a:xfrm>
            <a:off x="4663440" y="457200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Guardar registro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Confirmación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Oval 26"/>
          <p:cNvSpPr/>
          <p:nvPr/>
        </p:nvSpPr>
        <p:spPr>
          <a:xfrm>
            <a:off x="4160520" y="5349240"/>
            <a:ext cx="411120" cy="41112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Rounded Rectangle 27"/>
          <p:cNvSpPr/>
          <p:nvPr/>
        </p:nvSpPr>
        <p:spPr>
          <a:xfrm>
            <a:off x="4663440" y="534924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Generar reporte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Exportación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Rectangle 28"/>
          <p:cNvSpPr/>
          <p:nvPr/>
        </p:nvSpPr>
        <p:spPr>
          <a:xfrm>
            <a:off x="7955280" y="1280160"/>
            <a:ext cx="3840120" cy="45684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Asociado (Jubilado)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Rounded Rectangle 29"/>
          <p:cNvSpPr/>
          <p:nvPr/>
        </p:nvSpPr>
        <p:spPr>
          <a:xfrm>
            <a:off x="7955280" y="1783080"/>
            <a:ext cx="3840120" cy="36540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🎯 Consultar información personal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Oval 30"/>
          <p:cNvSpPr/>
          <p:nvPr/>
        </p:nvSpPr>
        <p:spPr>
          <a:xfrm>
            <a:off x="8046720" y="2240280"/>
            <a:ext cx="411120" cy="411120"/>
          </a:xfrm>
          <a:prstGeom prst="ellipse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Rounded Rectangle 31"/>
          <p:cNvSpPr/>
          <p:nvPr/>
        </p:nvSpPr>
        <p:spPr>
          <a:xfrm>
            <a:off x="8549640" y="224028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Iniciar sesión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Login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Oval 32"/>
          <p:cNvSpPr/>
          <p:nvPr/>
        </p:nvSpPr>
        <p:spPr>
          <a:xfrm>
            <a:off x="8046720" y="3017520"/>
            <a:ext cx="411120" cy="411120"/>
          </a:xfrm>
          <a:prstGeom prst="ellipse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Rounded Rectangle 33"/>
          <p:cNvSpPr/>
          <p:nvPr/>
        </p:nvSpPr>
        <p:spPr>
          <a:xfrm>
            <a:off x="8549640" y="301752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Acceder portal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Dashboard personal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Oval 34"/>
          <p:cNvSpPr/>
          <p:nvPr/>
        </p:nvSpPr>
        <p:spPr>
          <a:xfrm>
            <a:off x="8046720" y="3794760"/>
            <a:ext cx="411120" cy="411120"/>
          </a:xfrm>
          <a:prstGeom prst="ellipse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Rounded Rectangle 35"/>
          <p:cNvSpPr/>
          <p:nvPr/>
        </p:nvSpPr>
        <p:spPr>
          <a:xfrm>
            <a:off x="8549640" y="379476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Ver datos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Información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Oval 36"/>
          <p:cNvSpPr/>
          <p:nvPr/>
        </p:nvSpPr>
        <p:spPr>
          <a:xfrm>
            <a:off x="8046720" y="4572000"/>
            <a:ext cx="411120" cy="411120"/>
          </a:xfrm>
          <a:prstGeom prst="ellipse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Rounded Rectangle 37"/>
          <p:cNvSpPr/>
          <p:nvPr/>
        </p:nvSpPr>
        <p:spPr>
          <a:xfrm>
            <a:off x="8549640" y="457200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Escanear documento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Cámara móvil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Oval 38"/>
          <p:cNvSpPr/>
          <p:nvPr/>
        </p:nvSpPr>
        <p:spPr>
          <a:xfrm>
            <a:off x="8046720" y="5349240"/>
            <a:ext cx="411120" cy="411120"/>
          </a:xfrm>
          <a:prstGeom prst="ellipse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Rounded Rectangle 39"/>
          <p:cNvSpPr/>
          <p:nvPr/>
        </p:nvSpPr>
        <p:spPr>
          <a:xfrm>
            <a:off x="8549640" y="5349240"/>
            <a:ext cx="3154320" cy="639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Enviar documento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Email/Cloud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Brainstorming de Funcionalidades</a:t>
            </a:r>
            <a:endParaRPr lang="es-VE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El usuario está tratando de hacer algo, por lo que el producto debe tener una funcionalidad para eso. ¿Qué funcionalidad sería?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4"/>
          <p:cNvSpPr/>
          <p:nvPr/>
        </p:nvSpPr>
        <p:spPr>
          <a:xfrm>
            <a:off x="182880" y="1280160"/>
            <a:ext cx="2788560" cy="36540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Gestión de Asociados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Rounded Rectangle 5"/>
          <p:cNvSpPr/>
          <p:nvPr/>
        </p:nvSpPr>
        <p:spPr>
          <a:xfrm>
            <a:off x="182880" y="1691640"/>
            <a:ext cx="2788560" cy="1979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01520" tIns="152280" bIns="45000" anchor="ctr">
            <a:no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Registrar asociado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Editar información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Buscar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Eliminar lógico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Gestionar familiares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Gestionar voceros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Gestionar proveedores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Rectangle 6"/>
          <p:cNvSpPr/>
          <p:nvPr/>
        </p:nvSpPr>
        <p:spPr>
          <a:xfrm>
            <a:off x="3063240" y="1280160"/>
            <a:ext cx="2788560" cy="36540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Autenticación y Seguridad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Rounded Rectangle 7"/>
          <p:cNvSpPr/>
          <p:nvPr/>
        </p:nvSpPr>
        <p:spPr>
          <a:xfrm>
            <a:off x="3063240" y="1691640"/>
            <a:ext cx="2788560" cy="1979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01520" tIns="152280" bIns="45000" anchor="ctr">
            <a:no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Inicio de sesión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Gestión de roles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Control de permisos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Bitácora de accesos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Bloqueo por intentos fallidos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Rectangle 8"/>
          <p:cNvSpPr/>
          <p:nvPr/>
        </p:nvSpPr>
        <p:spPr>
          <a:xfrm>
            <a:off x="5943600" y="1280160"/>
            <a:ext cx="2788560" cy="365400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IA y Automatización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Rounded Rectangle 9"/>
          <p:cNvSpPr/>
          <p:nvPr/>
        </p:nvSpPr>
        <p:spPr>
          <a:xfrm>
            <a:off x="5943600" y="1691640"/>
            <a:ext cx="2788560" cy="1979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01520" tIns="152280" bIns="45000" anchor="ctr">
            <a:no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Agente conversacional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Detección de duplicados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Sugerencias inteligentes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Autocompletado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Rectangle 10"/>
          <p:cNvSpPr/>
          <p:nvPr/>
        </p:nvSpPr>
        <p:spPr>
          <a:xfrm>
            <a:off x="8823960" y="1280160"/>
            <a:ext cx="2788560" cy="365400"/>
          </a:xfrm>
          <a:prstGeom prst="rect">
            <a:avLst/>
          </a:prstGeom>
          <a:solidFill>
            <a:srgbClr val="66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Reportes y Análisis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Rounded Rectangle 11"/>
          <p:cNvSpPr/>
          <p:nvPr/>
        </p:nvSpPr>
        <p:spPr>
          <a:xfrm>
            <a:off x="8823960" y="1691640"/>
            <a:ext cx="2788560" cy="1979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66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01520" tIns="152280" bIns="45000" anchor="ctr">
            <a:no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Reportes por edad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Crecimiento mensual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Distribución por tipo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Situación social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Exportar múltiples formatos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Rectangle 12"/>
          <p:cNvSpPr/>
          <p:nvPr/>
        </p:nvSpPr>
        <p:spPr>
          <a:xfrm>
            <a:off x="1554480" y="3931920"/>
            <a:ext cx="2788560" cy="365400"/>
          </a:xfrm>
          <a:prstGeom prst="rect">
            <a:avLst/>
          </a:prstGeom>
          <a:solidFill>
            <a:srgbClr val="0080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Documentos y Escaneo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Rounded Rectangle 13"/>
          <p:cNvSpPr/>
          <p:nvPr/>
        </p:nvSpPr>
        <p:spPr>
          <a:xfrm>
            <a:off x="1554480" y="4343400"/>
            <a:ext cx="2788560" cy="173700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80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01520" tIns="152280" bIns="45000" anchor="ctr">
            <a:no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Escaneo móvil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Bandeja digital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Envío por email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Almacenamiento cloud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Rectangle 14"/>
          <p:cNvSpPr/>
          <p:nvPr/>
        </p:nvSpPr>
        <p:spPr>
          <a:xfrm>
            <a:off x="4572000" y="3931920"/>
            <a:ext cx="2788560" cy="365400"/>
          </a:xfrm>
          <a:prstGeom prst="rect">
            <a:avLst/>
          </a:prstGeom>
          <a:solidFill>
            <a:srgbClr val="6495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Importación/Exportación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Rounded Rectangle 15"/>
          <p:cNvSpPr/>
          <p:nvPr/>
        </p:nvSpPr>
        <p:spPr>
          <a:xfrm>
            <a:off x="4572000" y="4343400"/>
            <a:ext cx="2788560" cy="173700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6495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01520" tIns="152280" bIns="45000" anchor="ctr">
            <a:no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Importar Excel/PDF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Exportar Excel/PDF/CSV/JSON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Sincronización automática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Rectangle 16"/>
          <p:cNvSpPr/>
          <p:nvPr/>
        </p:nvSpPr>
        <p:spPr>
          <a:xfrm>
            <a:off x="7589520" y="3931920"/>
            <a:ext cx="2788560" cy="365400"/>
          </a:xfrm>
          <a:prstGeom prst="rect">
            <a:avLst/>
          </a:prstGeom>
          <a:solidFill>
            <a:srgbClr val="4682b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Web Pública y Notificaciones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Rounded Rectangle 17"/>
          <p:cNvSpPr/>
          <p:nvPr/>
        </p:nvSpPr>
        <p:spPr>
          <a:xfrm>
            <a:off x="7589520" y="4343400"/>
            <a:ext cx="2788560" cy="173700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4682b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01520" tIns="152280" bIns="45000" anchor="ctr">
            <a:no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Página informativa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Misión/visión/valores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Notificaciones push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Portal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9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Priorización de Funcionalidades - MoSCoW</a:t>
            </a:r>
            <a:endParaRPr lang="es-VE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Rectangle 3"/>
          <p:cNvSpPr/>
          <p:nvPr/>
        </p:nvSpPr>
        <p:spPr>
          <a:xfrm>
            <a:off x="182880" y="1005840"/>
            <a:ext cx="2834280" cy="456840"/>
          </a:xfrm>
          <a:prstGeom prst="rect">
            <a:avLst/>
          </a:prstGeom>
          <a:solidFill>
            <a:srgbClr val="0099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MUST HAVE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Rectangle 4"/>
          <p:cNvSpPr/>
          <p:nvPr/>
        </p:nvSpPr>
        <p:spPr>
          <a:xfrm>
            <a:off x="182880" y="1463040"/>
            <a:ext cx="2834280" cy="27396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Imprescindibles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Rounded Rectangle 5"/>
          <p:cNvSpPr/>
          <p:nvPr/>
        </p:nvSpPr>
        <p:spPr>
          <a:xfrm>
            <a:off x="182880" y="1783080"/>
            <a:ext cx="2834280" cy="32914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4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01520" tIns="152280" bIns="45000" anchor="ctr">
            <a:no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Autenticación y roles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(Seguridad)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Registrar asociado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(Asociados)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Consultar asociado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(Asociados)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Gestionar familiares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(Asociados)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Importar datos históricos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(Datos)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Página web pública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(Web)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Rectangle 6"/>
          <p:cNvSpPr/>
          <p:nvPr/>
        </p:nvSpPr>
        <p:spPr>
          <a:xfrm>
            <a:off x="3108960" y="1005840"/>
            <a:ext cx="2834280" cy="456840"/>
          </a:xfrm>
          <a:prstGeom prst="rect">
            <a:avLst/>
          </a:prstGeom>
          <a:solidFill>
            <a:srgbClr val="ffa5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SHOULD HAVE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Rectangle 7"/>
          <p:cNvSpPr/>
          <p:nvPr/>
        </p:nvSpPr>
        <p:spPr>
          <a:xfrm>
            <a:off x="3108960" y="1463040"/>
            <a:ext cx="2834280" cy="27396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Importantes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Rounded Rectangle 8"/>
          <p:cNvSpPr/>
          <p:nvPr/>
        </p:nvSpPr>
        <p:spPr>
          <a:xfrm>
            <a:off x="3108960" y="1783080"/>
            <a:ext cx="2834280" cy="278856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ffa5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01520" tIns="152280" bIns="45000" anchor="ctr">
            <a:no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Agente conversacional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(IA)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Detección de duplicados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(IA)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Generar reportes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(Reportes)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Escaneo de documentos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(Documentos)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Exportar datos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(Datos)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Rectangle 9"/>
          <p:cNvSpPr/>
          <p:nvPr/>
        </p:nvSpPr>
        <p:spPr>
          <a:xfrm>
            <a:off x="6035040" y="1005840"/>
            <a:ext cx="2834280" cy="456840"/>
          </a:xfrm>
          <a:prstGeom prst="rect">
            <a:avLst/>
          </a:prstGeom>
          <a:solidFill>
            <a:srgbClr val="6495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COULD HAVE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Rectangle 10"/>
          <p:cNvSpPr/>
          <p:nvPr/>
        </p:nvSpPr>
        <p:spPr>
          <a:xfrm>
            <a:off x="6035040" y="1463040"/>
            <a:ext cx="2834280" cy="27396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Deseables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Rounded Rectangle 11"/>
          <p:cNvSpPr/>
          <p:nvPr/>
        </p:nvSpPr>
        <p:spPr>
          <a:xfrm>
            <a:off x="6035040" y="1783080"/>
            <a:ext cx="2834280" cy="228564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6495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01520" tIns="152280" bIns="45000" anchor="ctr">
            <a:no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Sugerencias inteligentes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(IA)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Notificaciones push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(Notificaciones)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Bandeja digital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(Documentos)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Sincronización automática</a:t>
            </a:r>
            <a:br>
              <a:rPr sz="1200"/>
            </a:b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   (Datos)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Rectangle 12"/>
          <p:cNvSpPr/>
          <p:nvPr/>
        </p:nvSpPr>
        <p:spPr>
          <a:xfrm>
            <a:off x="8961120" y="1005840"/>
            <a:ext cx="2834280" cy="456840"/>
          </a:xfrm>
          <a:prstGeom prst="rect">
            <a:avLst/>
          </a:prstGeom>
          <a:solidFill>
            <a:srgbClr val="c850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WON'T HAVE</a:t>
            </a:r>
            <a:endParaRPr lang="es-VE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Rectangle 13"/>
          <p:cNvSpPr/>
          <p:nvPr/>
        </p:nvSpPr>
        <p:spPr>
          <a:xfrm>
            <a:off x="8961120" y="1463040"/>
            <a:ext cx="2834280" cy="27396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Fuera de alcance 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Rounded Rectangle 14"/>
          <p:cNvSpPr/>
          <p:nvPr/>
        </p:nvSpPr>
        <p:spPr>
          <a:xfrm>
            <a:off x="8961120" y="1783080"/>
            <a:ext cx="2834280" cy="228564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c850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2280" rIns="101520" tIns="152280" bIns="45000" anchor="ctr">
            <a:noAutofit/>
          </a:bodyPr>
          <a:p>
            <a:pPr marL="171360" indent="-171360" defTabSz="457200">
              <a:lnSpc>
                <a:spcPct val="100000"/>
              </a:lnSpc>
              <a:spcAft>
                <a:spcPts val="799"/>
              </a:spcAft>
              <a:buClr>
                <a:srgbClr val="002850"/>
              </a:buClr>
              <a:buFont typeface="Arial"/>
              <a:buChar char="•"/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App móvil nativa (Fase 2)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spcAft>
                <a:spcPts val="799"/>
              </a:spcAft>
              <a:buClr>
                <a:srgbClr val="002850"/>
              </a:buClr>
              <a:buFont typeface="Arial"/>
              <a:buChar char="•"/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Integración con CANTV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spcAft>
                <a:spcPts val="799"/>
              </a:spcAft>
              <a:buClr>
                <a:srgbClr val="002850"/>
              </a:buClr>
              <a:buFont typeface="Arial"/>
              <a:buChar char="•"/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Gestión de salud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spcAft>
                <a:spcPts val="799"/>
              </a:spcAft>
              <a:buClr>
                <a:srgbClr val="002850"/>
              </a:buClr>
              <a:buFont typeface="Arial"/>
              <a:buChar char="•"/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Gestión social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Revisión Técnica, de Negocio y UX</a:t>
            </a:r>
            <a:endParaRPr lang="es-VE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Esta revisión analiza cómo se siente el equipo con respecto a la comprensión técnica, de negocio y de experiencia de usuario de cada funcionalidad.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Rounded Rectangle 4"/>
          <p:cNvSpPr/>
          <p:nvPr/>
        </p:nvSpPr>
        <p:spPr>
          <a:xfrm>
            <a:off x="274320" y="1234440"/>
            <a:ext cx="11612520" cy="365400"/>
          </a:xfrm>
          <a:prstGeom prst="roundRect">
            <a:avLst>
              <a:gd name="adj" fmla="val 16667"/>
            </a:avLst>
          </a:prstGeom>
          <a:solidFill>
            <a:srgbClr val="fff8dc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$ = Valor de Negocio    |    E = Esfuerzo Técnico    |    ♥ = Valor de UX    |    El color y marcado ayudarán a priorizar, estimar y planificar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Rounded Rectangle 5"/>
          <p:cNvSpPr/>
          <p:nvPr/>
        </p:nvSpPr>
        <p:spPr>
          <a:xfrm>
            <a:off x="182880" y="169164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87" name="Rectangle 6"/>
          <p:cNvSpPr/>
          <p:nvPr/>
        </p:nvSpPr>
        <p:spPr>
          <a:xfrm>
            <a:off x="182880" y="1691640"/>
            <a:ext cx="3840120" cy="41112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Registro de asociados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Rectangle 7"/>
          <p:cNvSpPr/>
          <p:nvPr/>
        </p:nvSpPr>
        <p:spPr>
          <a:xfrm>
            <a:off x="274320" y="2148840"/>
            <a:ext cx="3657240" cy="45684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6336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Permite registrar y gestionar información básica de cada asociado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Rounded Rectangle 8"/>
          <p:cNvSpPr/>
          <p:nvPr/>
        </p:nvSpPr>
        <p:spPr>
          <a:xfrm>
            <a:off x="27432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4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4c"/>
                </a:solidFill>
                <a:effectLst/>
                <a:uFillTx/>
                <a:latin typeface="Arial"/>
              </a:rPr>
              <a:t>Negocio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Rounded Rectangle 9"/>
          <p:cNvSpPr/>
          <p:nvPr/>
        </p:nvSpPr>
        <p:spPr>
          <a:xfrm>
            <a:off x="150876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ffa5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a500"/>
                </a:solidFill>
                <a:effectLst/>
                <a:uFillTx/>
                <a:latin typeface="Arial"/>
              </a:rPr>
              <a:t>Esfuerzo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Rounded Rectangle 10"/>
          <p:cNvSpPr/>
          <p:nvPr/>
        </p:nvSpPr>
        <p:spPr>
          <a:xfrm>
            <a:off x="274320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c850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c85050"/>
                </a:solidFill>
                <a:effectLst/>
                <a:uFillTx/>
                <a:latin typeface="Arial"/>
              </a:rPr>
              <a:t>UX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Rounded Rectangle 11"/>
          <p:cNvSpPr/>
          <p:nvPr/>
        </p:nvSpPr>
        <p:spPr>
          <a:xfrm>
            <a:off x="4069080" y="169164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3" name="Rectangle 12"/>
          <p:cNvSpPr/>
          <p:nvPr/>
        </p:nvSpPr>
        <p:spPr>
          <a:xfrm>
            <a:off x="4069080" y="1691640"/>
            <a:ext cx="3840120" cy="41112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Autenticación y roles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Rectangle 13"/>
          <p:cNvSpPr/>
          <p:nvPr/>
        </p:nvSpPr>
        <p:spPr>
          <a:xfrm>
            <a:off x="4160520" y="2148840"/>
            <a:ext cx="3657240" cy="45684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6336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Sistema de login seguro con control de acceso basado en roles (RBAC)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Rounded Rectangle 14"/>
          <p:cNvSpPr/>
          <p:nvPr/>
        </p:nvSpPr>
        <p:spPr>
          <a:xfrm>
            <a:off x="416052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4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4c"/>
                </a:solidFill>
                <a:effectLst/>
                <a:uFillTx/>
                <a:latin typeface="Arial"/>
              </a:rPr>
              <a:t>Negocio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Rounded Rectangle 15"/>
          <p:cNvSpPr/>
          <p:nvPr/>
        </p:nvSpPr>
        <p:spPr>
          <a:xfrm>
            <a:off x="539496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ffa5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a500"/>
                </a:solidFill>
                <a:effectLst/>
                <a:uFillTx/>
                <a:latin typeface="Arial"/>
              </a:rPr>
              <a:t>Esfuerzo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Rounded Rectangle 16"/>
          <p:cNvSpPr/>
          <p:nvPr/>
        </p:nvSpPr>
        <p:spPr>
          <a:xfrm>
            <a:off x="662940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c850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c85050"/>
                </a:solidFill>
                <a:effectLst/>
                <a:uFillTx/>
                <a:latin typeface="Arial"/>
              </a:rPr>
              <a:t>UX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Rounded Rectangle 17"/>
          <p:cNvSpPr/>
          <p:nvPr/>
        </p:nvSpPr>
        <p:spPr>
          <a:xfrm>
            <a:off x="7955280" y="169164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299" name="Rectangle 18"/>
          <p:cNvSpPr/>
          <p:nvPr/>
        </p:nvSpPr>
        <p:spPr>
          <a:xfrm>
            <a:off x="7955280" y="1691640"/>
            <a:ext cx="3840120" cy="41112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Importación de datos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Rectangle 19"/>
          <p:cNvSpPr/>
          <p:nvPr/>
        </p:nvSpPr>
        <p:spPr>
          <a:xfrm>
            <a:off x="8046720" y="2148840"/>
            <a:ext cx="3657240" cy="45684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6336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Importación masiva desde Excel y PDF con validaciones automáticas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Rounded Rectangle 20"/>
          <p:cNvSpPr/>
          <p:nvPr/>
        </p:nvSpPr>
        <p:spPr>
          <a:xfrm>
            <a:off x="804672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4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4c"/>
                </a:solidFill>
                <a:effectLst/>
                <a:uFillTx/>
                <a:latin typeface="Arial"/>
              </a:rPr>
              <a:t>Negocio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Rounded Rectangle 21"/>
          <p:cNvSpPr/>
          <p:nvPr/>
        </p:nvSpPr>
        <p:spPr>
          <a:xfrm>
            <a:off x="928116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ffa5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a500"/>
                </a:solidFill>
                <a:effectLst/>
                <a:uFillTx/>
                <a:latin typeface="Arial"/>
              </a:rPr>
              <a:t>Esfuerzo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Rounded Rectangle 22"/>
          <p:cNvSpPr/>
          <p:nvPr/>
        </p:nvSpPr>
        <p:spPr>
          <a:xfrm>
            <a:off x="10515600" y="269748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c850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c85050"/>
                </a:solidFill>
                <a:effectLst/>
                <a:uFillTx/>
                <a:latin typeface="Arial"/>
              </a:rPr>
              <a:t>UX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Rounded Rectangle 23"/>
          <p:cNvSpPr/>
          <p:nvPr/>
        </p:nvSpPr>
        <p:spPr>
          <a:xfrm>
            <a:off x="182880" y="384048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99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05" name="Rectangle 24"/>
          <p:cNvSpPr/>
          <p:nvPr/>
        </p:nvSpPr>
        <p:spPr>
          <a:xfrm>
            <a:off x="182880" y="3840480"/>
            <a:ext cx="3840120" cy="411120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Agente conversacional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Rectangle 25"/>
          <p:cNvSpPr/>
          <p:nvPr/>
        </p:nvSpPr>
        <p:spPr>
          <a:xfrm>
            <a:off x="274320" y="4297680"/>
            <a:ext cx="3657240" cy="45684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6336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Chatbot con IA para asistir a adultos mayores con preguntas prediseñadas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Rounded Rectangle 26"/>
          <p:cNvSpPr/>
          <p:nvPr/>
        </p:nvSpPr>
        <p:spPr>
          <a:xfrm>
            <a:off x="27432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4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4c"/>
                </a:solidFill>
                <a:effectLst/>
                <a:uFillTx/>
                <a:latin typeface="Arial"/>
              </a:rPr>
              <a:t>Negocio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Rounded Rectangle 27"/>
          <p:cNvSpPr/>
          <p:nvPr/>
        </p:nvSpPr>
        <p:spPr>
          <a:xfrm>
            <a:off x="150876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ffa5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a500"/>
                </a:solidFill>
                <a:effectLst/>
                <a:uFillTx/>
                <a:latin typeface="Arial"/>
              </a:rPr>
              <a:t>Esfuerzo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Rounded Rectangle 28"/>
          <p:cNvSpPr/>
          <p:nvPr/>
        </p:nvSpPr>
        <p:spPr>
          <a:xfrm>
            <a:off x="274320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c850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c85050"/>
                </a:solidFill>
                <a:effectLst/>
                <a:uFillTx/>
                <a:latin typeface="Arial"/>
              </a:rPr>
              <a:t>UX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Rounded Rectangle 29"/>
          <p:cNvSpPr/>
          <p:nvPr/>
        </p:nvSpPr>
        <p:spPr>
          <a:xfrm>
            <a:off x="4069080" y="384048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66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11" name="Rectangle 30"/>
          <p:cNvSpPr/>
          <p:nvPr/>
        </p:nvSpPr>
        <p:spPr>
          <a:xfrm>
            <a:off x="4069080" y="3840480"/>
            <a:ext cx="3840120" cy="411120"/>
          </a:xfrm>
          <a:prstGeom prst="rect">
            <a:avLst/>
          </a:prstGeom>
          <a:solidFill>
            <a:srgbClr val="66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Escaneo de documentos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Rectangle 31"/>
          <p:cNvSpPr/>
          <p:nvPr/>
        </p:nvSpPr>
        <p:spPr>
          <a:xfrm>
            <a:off x="4160520" y="4297680"/>
            <a:ext cx="3657240" cy="45684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6336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Captura y mejora de imágenes de documentos desde cámara móvil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Rounded Rectangle 32"/>
          <p:cNvSpPr/>
          <p:nvPr/>
        </p:nvSpPr>
        <p:spPr>
          <a:xfrm>
            <a:off x="416052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4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4c"/>
                </a:solidFill>
                <a:effectLst/>
                <a:uFillTx/>
                <a:latin typeface="Arial"/>
              </a:rPr>
              <a:t>Negocio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Rounded Rectangle 33"/>
          <p:cNvSpPr/>
          <p:nvPr/>
        </p:nvSpPr>
        <p:spPr>
          <a:xfrm>
            <a:off x="539496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ffa5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a500"/>
                </a:solidFill>
                <a:effectLst/>
                <a:uFillTx/>
                <a:latin typeface="Arial"/>
              </a:rPr>
              <a:t>Esfuerzo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Rounded Rectangle 34"/>
          <p:cNvSpPr/>
          <p:nvPr/>
        </p:nvSpPr>
        <p:spPr>
          <a:xfrm>
            <a:off x="662940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c850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c85050"/>
                </a:solidFill>
                <a:effectLst/>
                <a:uFillTx/>
                <a:latin typeface="Arial"/>
              </a:rPr>
              <a:t>UX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Rounded Rectangle 35"/>
          <p:cNvSpPr/>
          <p:nvPr/>
        </p:nvSpPr>
        <p:spPr>
          <a:xfrm>
            <a:off x="7955280" y="3840480"/>
            <a:ext cx="384012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6495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17" name="Rectangle 36"/>
          <p:cNvSpPr/>
          <p:nvPr/>
        </p:nvSpPr>
        <p:spPr>
          <a:xfrm>
            <a:off x="7955280" y="3840480"/>
            <a:ext cx="3840120" cy="411120"/>
          </a:xfrm>
          <a:prstGeom prst="rect">
            <a:avLst/>
          </a:prstGeom>
          <a:solidFill>
            <a:srgbClr val="6495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Reportes ejecutivos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Rectangle 37"/>
          <p:cNvSpPr/>
          <p:nvPr/>
        </p:nvSpPr>
        <p:spPr>
          <a:xfrm>
            <a:off x="8046720" y="4297680"/>
            <a:ext cx="3657240" cy="45684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01520" rIns="101520" tIns="6336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Generación de reportes estratégicos para la junta directiva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Rounded Rectangle 38"/>
          <p:cNvSpPr/>
          <p:nvPr/>
        </p:nvSpPr>
        <p:spPr>
          <a:xfrm>
            <a:off x="804672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4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4c"/>
                </a:solidFill>
                <a:effectLst/>
                <a:uFillTx/>
                <a:latin typeface="Arial"/>
              </a:rPr>
              <a:t>Negocio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Alto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Rounded Rectangle 39"/>
          <p:cNvSpPr/>
          <p:nvPr/>
        </p:nvSpPr>
        <p:spPr>
          <a:xfrm>
            <a:off x="928116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ffa5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a500"/>
                </a:solidFill>
                <a:effectLst/>
                <a:uFillTx/>
                <a:latin typeface="Arial"/>
              </a:rPr>
              <a:t>Esfuerzo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Rounded Rectangle 40"/>
          <p:cNvSpPr/>
          <p:nvPr/>
        </p:nvSpPr>
        <p:spPr>
          <a:xfrm>
            <a:off x="10515600" y="4846320"/>
            <a:ext cx="1142640" cy="822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c850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c85050"/>
                </a:solidFill>
                <a:effectLst/>
                <a:uFillTx/>
                <a:latin typeface="Arial"/>
              </a:rPr>
              <a:t>UX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Medio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4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Secuenciador de Funcionalidades</a:t>
            </a:r>
            <a:endParaRPr lang="es-VE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El Secuenciador organiza las funcionalidades y la secuencia de validación incremental del producto.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Rectangle 4"/>
          <p:cNvSpPr/>
          <p:nvPr/>
        </p:nvSpPr>
        <p:spPr>
          <a:xfrm>
            <a:off x="457200" y="2560320"/>
            <a:ext cx="11246760" cy="7272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28080" bIns="28080" anchor="ctr">
            <a:noAutofit/>
          </a:bodyPr>
          <a:p>
            <a:pPr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7" name="Oval 5"/>
          <p:cNvSpPr/>
          <p:nvPr/>
        </p:nvSpPr>
        <p:spPr>
          <a:xfrm>
            <a:off x="1005840" y="2423160"/>
            <a:ext cx="365400" cy="365400"/>
          </a:xfrm>
          <a:prstGeom prst="ellipse">
            <a:avLst/>
          </a:prstGeom>
          <a:solidFill>
            <a:srgbClr val="0066cc"/>
          </a:solidFill>
          <a:ln w="3810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28" name="Rounded Rectangle 6"/>
          <p:cNvSpPr/>
          <p:nvPr/>
        </p:nvSpPr>
        <p:spPr>
          <a:xfrm>
            <a:off x="274320" y="1280160"/>
            <a:ext cx="2102760" cy="1096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66cc"/>
                </a:solidFill>
                <a:effectLst/>
                <a:uFillTx/>
                <a:latin typeface="Arial"/>
              </a:rPr>
              <a:t>MVP Base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Marzo 2026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Rounded Rectangle 7"/>
          <p:cNvSpPr/>
          <p:nvPr/>
        </p:nvSpPr>
        <p:spPr>
          <a:xfrm>
            <a:off x="274320" y="2926080"/>
            <a:ext cx="2102760" cy="1691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101520" tIns="152280" bIns="45000" anchor="ctr">
            <a:no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Autenticación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CRUD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Roles básicos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Web pública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Oval 8"/>
          <p:cNvSpPr/>
          <p:nvPr/>
        </p:nvSpPr>
        <p:spPr>
          <a:xfrm>
            <a:off x="3200400" y="2423160"/>
            <a:ext cx="365400" cy="365400"/>
          </a:xfrm>
          <a:prstGeom prst="ellipse">
            <a:avLst/>
          </a:prstGeom>
          <a:solidFill>
            <a:srgbClr val="0099cc"/>
          </a:solidFill>
          <a:ln w="3810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1" name="Rounded Rectangle 9"/>
          <p:cNvSpPr/>
          <p:nvPr/>
        </p:nvSpPr>
        <p:spPr>
          <a:xfrm>
            <a:off x="2468880" y="1280160"/>
            <a:ext cx="2102760" cy="1096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cc"/>
                </a:solidFill>
                <a:effectLst/>
                <a:uFillTx/>
                <a:latin typeface="Arial"/>
              </a:rPr>
              <a:t>Gestión Admin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Abril 2026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Rounded Rectangle 10"/>
          <p:cNvSpPr/>
          <p:nvPr/>
        </p:nvSpPr>
        <p:spPr>
          <a:xfrm>
            <a:off x="2468880" y="2926080"/>
            <a:ext cx="2102760" cy="1691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101520" tIns="152280" bIns="45000" anchor="ctr">
            <a:no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Familiares/Voceros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Importación Excel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Reportes básicos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Proveedores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Oval 11"/>
          <p:cNvSpPr/>
          <p:nvPr/>
        </p:nvSpPr>
        <p:spPr>
          <a:xfrm>
            <a:off x="5394960" y="2423160"/>
            <a:ext cx="365400" cy="365400"/>
          </a:xfrm>
          <a:prstGeom prst="ellipse">
            <a:avLst/>
          </a:prstGeom>
          <a:solidFill>
            <a:srgbClr val="3399ff"/>
          </a:solidFill>
          <a:ln w="3810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4" name="Rounded Rectangle 12"/>
          <p:cNvSpPr/>
          <p:nvPr/>
        </p:nvSpPr>
        <p:spPr>
          <a:xfrm>
            <a:off x="4663440" y="1280160"/>
            <a:ext cx="2102760" cy="1096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3399ff"/>
                </a:solidFill>
                <a:effectLst/>
                <a:uFillTx/>
                <a:latin typeface="Arial"/>
              </a:rPr>
              <a:t>IA y Documentos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Mayo 2026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Rounded Rectangle 13"/>
          <p:cNvSpPr/>
          <p:nvPr/>
        </p:nvSpPr>
        <p:spPr>
          <a:xfrm>
            <a:off x="4663440" y="2926080"/>
            <a:ext cx="2102760" cy="1691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101520" tIns="152280" bIns="45000" anchor="ctr">
            <a:no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Agente conversacional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Detección duplicados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Escaneo documentos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Exportación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Oval 14"/>
          <p:cNvSpPr/>
          <p:nvPr/>
        </p:nvSpPr>
        <p:spPr>
          <a:xfrm>
            <a:off x="7589520" y="2423160"/>
            <a:ext cx="365400" cy="365400"/>
          </a:xfrm>
          <a:prstGeom prst="ellipse">
            <a:avLst/>
          </a:prstGeom>
          <a:solidFill>
            <a:srgbClr val="009999"/>
          </a:solidFill>
          <a:ln w="3810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37" name="Rounded Rectangle 15"/>
          <p:cNvSpPr/>
          <p:nvPr/>
        </p:nvSpPr>
        <p:spPr>
          <a:xfrm>
            <a:off x="6858000" y="1280160"/>
            <a:ext cx="2102760" cy="1096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0099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9999"/>
                </a:solidFill>
                <a:effectLst/>
                <a:uFillTx/>
                <a:latin typeface="Arial"/>
              </a:rPr>
              <a:t>Portal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Junio 2026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Rounded Rectangle 16"/>
          <p:cNvSpPr/>
          <p:nvPr/>
        </p:nvSpPr>
        <p:spPr>
          <a:xfrm>
            <a:off x="6858000" y="2926080"/>
            <a:ext cx="2102760" cy="1691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101520" tIns="152280" bIns="45000" anchor="ctr">
            <a:no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Portal personal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Notificaciones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Bandeja digital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Consulta datos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Oval 17"/>
          <p:cNvSpPr/>
          <p:nvPr/>
        </p:nvSpPr>
        <p:spPr>
          <a:xfrm>
            <a:off x="9784080" y="2423160"/>
            <a:ext cx="365400" cy="365400"/>
          </a:xfrm>
          <a:prstGeom prst="ellipse">
            <a:avLst/>
          </a:prstGeom>
          <a:solidFill>
            <a:srgbClr val="6666cc"/>
          </a:solidFill>
          <a:ln w="38100"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2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340" name="Rounded Rectangle 18"/>
          <p:cNvSpPr/>
          <p:nvPr/>
        </p:nvSpPr>
        <p:spPr>
          <a:xfrm>
            <a:off x="9052560" y="1280160"/>
            <a:ext cx="2102760" cy="10969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00">
            <a:solidFill>
              <a:srgbClr val="66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6666cc"/>
                </a:solidFill>
                <a:effectLst/>
                <a:uFillTx/>
                <a:latin typeface="Arial"/>
              </a:rPr>
              <a:t>Despliegue Final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Julio 2026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Rounded Rectangle 19"/>
          <p:cNvSpPr/>
          <p:nvPr/>
        </p:nvSpPr>
        <p:spPr>
          <a:xfrm>
            <a:off x="9052560" y="2926080"/>
            <a:ext cx="2102760" cy="16912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66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101520" tIns="152280" bIns="45000" anchor="ctr">
            <a:no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Pruebas finales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Capacitación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Entrega operativa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Soporte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Right Arrow 20"/>
          <p:cNvSpPr/>
          <p:nvPr/>
        </p:nvSpPr>
        <p:spPr>
          <a:xfrm>
            <a:off x="5029200" y="5669280"/>
            <a:ext cx="2736000" cy="5482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→ Progreso del Desarrollo →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5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Canvas MVP</a:t>
            </a:r>
            <a:endParaRPr lang="es-V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Marco visual que ayuda al equipo a alinear y definir la estrategia MVP, la versión más simple del producto.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Rounded Rectangle 4"/>
          <p:cNvSpPr/>
          <p:nvPr/>
        </p:nvSpPr>
        <p:spPr>
          <a:xfrm>
            <a:off x="182880" y="128016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101520" tIns="254160" bIns="101520" anchor="ctr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Sistema web responsive que centraliza y automatiza la gestión de datos de asociados con IA para adultos mayores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Rectangle 5"/>
          <p:cNvSpPr/>
          <p:nvPr/>
        </p:nvSpPr>
        <p:spPr>
          <a:xfrm>
            <a:off x="182880" y="1280160"/>
            <a:ext cx="3840120" cy="31968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1. Propuesta de Valor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Rounded Rectangle 6"/>
          <p:cNvSpPr/>
          <p:nvPr/>
        </p:nvSpPr>
        <p:spPr>
          <a:xfrm>
            <a:off x="4160520" y="128016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101520" tIns="254160" bIns="101520" anchor="ctr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Asociados jubilados/pensionados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Personal administrativo operacional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Junta directiva (ejecutivos)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Familiares de asociados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Rectangle 7"/>
          <p:cNvSpPr/>
          <p:nvPr/>
        </p:nvSpPr>
        <p:spPr>
          <a:xfrm>
            <a:off x="4160520" y="1280160"/>
            <a:ext cx="3840120" cy="31968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2. Segmentos de Clientes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Rounded Rectangle 8"/>
          <p:cNvSpPr/>
          <p:nvPr/>
        </p:nvSpPr>
        <p:spPr>
          <a:xfrm>
            <a:off x="8138160" y="128016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101520" tIns="254160" bIns="101520" anchor="ctr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Aplicación web responsive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Acceso móvil/tablet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Soporte técnico presencial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Capacitaciones grupales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Rectangle 9"/>
          <p:cNvSpPr/>
          <p:nvPr/>
        </p:nvSpPr>
        <p:spPr>
          <a:xfrm>
            <a:off x="8138160" y="1280160"/>
            <a:ext cx="3840120" cy="31968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3. Canales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Rounded Rectangle 10"/>
          <p:cNvSpPr/>
          <p:nvPr/>
        </p:nvSpPr>
        <p:spPr>
          <a:xfrm>
            <a:off x="182880" y="283464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99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101520" tIns="254160" bIns="101520" anchor="ctr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Agente conversacional IA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Manuales de usuario adaptados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Soporte técnico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Capacitación personalizada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Rectangle 11"/>
          <p:cNvSpPr/>
          <p:nvPr/>
        </p:nvSpPr>
        <p:spPr>
          <a:xfrm>
            <a:off x="182880" y="2834640"/>
            <a:ext cx="3840120" cy="319680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4. Relaciones con Clientes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Rounded Rectangle 12"/>
          <p:cNvSpPr/>
          <p:nvPr/>
        </p:nvSpPr>
        <p:spPr>
          <a:xfrm>
            <a:off x="4160520" y="283464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66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101520" tIns="254160" bIns="101520" anchor="ctr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Financiamiento institucional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Ahorro operativo (eficiencia)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Valor intangible (satisfacción)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Rectangle 13"/>
          <p:cNvSpPr/>
          <p:nvPr/>
        </p:nvSpPr>
        <p:spPr>
          <a:xfrm>
            <a:off x="4160520" y="2834640"/>
            <a:ext cx="3840120" cy="319680"/>
          </a:xfrm>
          <a:prstGeom prst="rect">
            <a:avLst/>
          </a:prstGeom>
          <a:solidFill>
            <a:srgbClr val="66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5. Fuentes de Ingresos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Rounded Rectangle 14"/>
          <p:cNvSpPr/>
          <p:nvPr/>
        </p:nvSpPr>
        <p:spPr>
          <a:xfrm>
            <a:off x="8138160" y="283464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6495e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101520" tIns="254160" bIns="101520" anchor="ctr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Equipo de desarrollo (4 personas)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VPS y almacenamiento cloud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Base de datos MySQL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Frameworks Angular/NestJS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Rectangle 15"/>
          <p:cNvSpPr/>
          <p:nvPr/>
        </p:nvSpPr>
        <p:spPr>
          <a:xfrm>
            <a:off x="8138160" y="2834640"/>
            <a:ext cx="3840120" cy="319680"/>
          </a:xfrm>
          <a:prstGeom prst="rect">
            <a:avLst/>
          </a:prstGeom>
          <a:solidFill>
            <a:srgbClr val="6495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6. Recursos Clave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Rounded Rectangle 16"/>
          <p:cNvSpPr/>
          <p:nvPr/>
        </p:nvSpPr>
        <p:spPr>
          <a:xfrm>
            <a:off x="182880" y="438912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4682b4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101520" tIns="254160" bIns="101520" anchor="ctr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Desarrollo de software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Migración de datos históricos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Capacitación de usuarios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Soporte post-implementación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Rectangle 17"/>
          <p:cNvSpPr/>
          <p:nvPr/>
        </p:nvSpPr>
        <p:spPr>
          <a:xfrm>
            <a:off x="182880" y="4389120"/>
            <a:ext cx="3840120" cy="319680"/>
          </a:xfrm>
          <a:prstGeom prst="rect">
            <a:avLst/>
          </a:prstGeom>
          <a:solidFill>
            <a:srgbClr val="4682b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7. Actividades Clave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Rounded Rectangle 18"/>
          <p:cNvSpPr/>
          <p:nvPr/>
        </p:nvSpPr>
        <p:spPr>
          <a:xfrm>
            <a:off x="4160520" y="4389120"/>
            <a:ext cx="38401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80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101520" tIns="254160" bIns="101520" anchor="ctr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AJUPTEL Carabobo (cliente)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UNETI (universidad)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CANTV (ente externo)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APS - Atención Primaria de Salud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Rectangle 19"/>
          <p:cNvSpPr/>
          <p:nvPr/>
        </p:nvSpPr>
        <p:spPr>
          <a:xfrm>
            <a:off x="4160520" y="4389120"/>
            <a:ext cx="3840120" cy="319680"/>
          </a:xfrm>
          <a:prstGeom prst="rect">
            <a:avLst/>
          </a:prstGeom>
          <a:solidFill>
            <a:srgbClr val="00808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8. Socios Clave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Rounded Rectangle 20"/>
          <p:cNvSpPr/>
          <p:nvPr/>
        </p:nvSpPr>
        <p:spPr>
          <a:xfrm>
            <a:off x="8138160" y="4389120"/>
            <a:ext cx="384012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25400">
            <a:solidFill>
              <a:srgbClr val="00649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101520" tIns="254160" bIns="101520" anchor="ctr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Servicios profesionales: $24,250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Infraestructura VPS: $180/año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Almacenamiento cloud: $60/año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Capacitación: $300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• Contingencia (10%): $2,715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Rectangle 21"/>
          <p:cNvSpPr/>
          <p:nvPr/>
        </p:nvSpPr>
        <p:spPr>
          <a:xfrm>
            <a:off x="8138160" y="4389120"/>
            <a:ext cx="3840120" cy="319680"/>
          </a:xfrm>
          <a:prstGeom prst="rect">
            <a:avLst/>
          </a:prstGeom>
          <a:solidFill>
            <a:srgbClr val="00649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9. Estructura de Costos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67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Showcase - Lean Inception</a:t>
            </a:r>
            <a:endParaRPr lang="es-VE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Rectangle 3"/>
          <p:cNvSpPr/>
          <p:nvPr/>
        </p:nvSpPr>
        <p:spPr>
          <a:xfrm>
            <a:off x="274320" y="868680"/>
            <a:ext cx="11612520" cy="319680"/>
          </a:xfrm>
          <a:prstGeom prst="rect">
            <a:avLst/>
          </a:prstGeom>
          <a:solidFill>
            <a:srgbClr val="e6f3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Resultados del workshop y próximos pasos para el desarrollo del Sistema AJUPTEL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Rectangle 4"/>
          <p:cNvSpPr/>
          <p:nvPr/>
        </p:nvSpPr>
        <p:spPr>
          <a:xfrm>
            <a:off x="274320" y="1280160"/>
            <a:ext cx="5668920" cy="41112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Resultados del Workshop</a:t>
            </a:r>
            <a:endParaRPr lang="es-V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Rounded Rectangle 5"/>
          <p:cNvSpPr/>
          <p:nvPr/>
        </p:nvSpPr>
        <p:spPr>
          <a:xfrm>
            <a:off x="274320" y="1737360"/>
            <a:ext cx="5668920" cy="255996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90440" rIns="127080" tIns="190440" bIns="45000" anchor="ctr">
            <a:no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Visión del producto definida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Personas identificadas (5 stakeholders)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Objetivos priorizados (6 objetivos)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Viajes de usuario mapeados (3 flujos)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Funcionalidades agrupadas (7 grupos)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Secuenciador definido (5 releases)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Canvas MVP completado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✓ Priorización MoSCoW realizada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Rectangle 6"/>
          <p:cNvSpPr/>
          <p:nvPr/>
        </p:nvSpPr>
        <p:spPr>
          <a:xfrm>
            <a:off x="6217920" y="1280160"/>
            <a:ext cx="5668920" cy="41112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Próximos Pasos</a:t>
            </a:r>
            <a:endParaRPr lang="es-V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Oval 7"/>
          <p:cNvSpPr/>
          <p:nvPr/>
        </p:nvSpPr>
        <p:spPr>
          <a:xfrm>
            <a:off x="6309360" y="1783080"/>
            <a:ext cx="456840" cy="45684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s-V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Rounded Rectangle 8"/>
          <p:cNvSpPr/>
          <p:nvPr/>
        </p:nvSpPr>
        <p:spPr>
          <a:xfrm>
            <a:off x="6858000" y="1783080"/>
            <a:ext cx="4937400" cy="73116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Desarrollo MVP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Implementar funcionalidades prioritarias: autenticación, CRUD asociados y web pública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Oval 9"/>
          <p:cNvSpPr/>
          <p:nvPr/>
        </p:nvSpPr>
        <p:spPr>
          <a:xfrm>
            <a:off x="6309360" y="2651760"/>
            <a:ext cx="456840" cy="45684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s-V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Rounded Rectangle 10"/>
          <p:cNvSpPr/>
          <p:nvPr/>
        </p:nvSpPr>
        <p:spPr>
          <a:xfrm>
            <a:off x="6858000" y="2651760"/>
            <a:ext cx="4937400" cy="73116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Pruebas Piloto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Realizar pruebas con usuarios reales en AJUPTEL Carabobo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Oval 11"/>
          <p:cNvSpPr/>
          <p:nvPr/>
        </p:nvSpPr>
        <p:spPr>
          <a:xfrm>
            <a:off x="6309360" y="3520440"/>
            <a:ext cx="456840" cy="456840"/>
          </a:xfrm>
          <a:prstGeom prst="ellipse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s-V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Rounded Rectangle 12"/>
          <p:cNvSpPr/>
          <p:nvPr/>
        </p:nvSpPr>
        <p:spPr>
          <a:xfrm>
            <a:off x="6858000" y="3520440"/>
            <a:ext cx="4937400" cy="73116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080" rIns="90000" tIns="10152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Iteración y Mejora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Recopilar feedback y ajustar funcionalidades según necesidades reales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Rectangle 13"/>
          <p:cNvSpPr/>
          <p:nvPr/>
        </p:nvSpPr>
        <p:spPr>
          <a:xfrm>
            <a:off x="274320" y="4434840"/>
            <a:ext cx="11612520" cy="41112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Cronograma Estimado</a:t>
            </a:r>
            <a:endParaRPr lang="es-V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Rectangle 14"/>
          <p:cNvSpPr/>
          <p:nvPr/>
        </p:nvSpPr>
        <p:spPr>
          <a:xfrm>
            <a:off x="274320" y="4892040"/>
            <a:ext cx="2194200" cy="319680"/>
          </a:xfrm>
          <a:prstGeom prst="rect">
            <a:avLst/>
          </a:prstGeom>
          <a:solidFill>
            <a:srgbClr val="00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Marzo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Rectangle 15"/>
          <p:cNvSpPr/>
          <p:nvPr/>
        </p:nvSpPr>
        <p:spPr>
          <a:xfrm>
            <a:off x="274320" y="5257800"/>
            <a:ext cx="2194200" cy="319680"/>
          </a:xfrm>
          <a:prstGeom prst="rect">
            <a:avLst/>
          </a:prstGeom>
          <a:solidFill>
            <a:srgbClr val="e6f3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MVP Completo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Rectangle 16"/>
          <p:cNvSpPr/>
          <p:nvPr/>
        </p:nvSpPr>
        <p:spPr>
          <a:xfrm>
            <a:off x="274320" y="5623560"/>
            <a:ext cx="2194200" cy="456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Funcionalidades básicas operativas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Rectangle 17"/>
          <p:cNvSpPr/>
          <p:nvPr/>
        </p:nvSpPr>
        <p:spPr>
          <a:xfrm>
            <a:off x="2560320" y="4892040"/>
            <a:ext cx="2194200" cy="31968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Abril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Rectangle 18"/>
          <p:cNvSpPr/>
          <p:nvPr/>
        </p:nvSpPr>
        <p:spPr>
          <a:xfrm>
            <a:off x="2560320" y="5257800"/>
            <a:ext cx="2194200" cy="319680"/>
          </a:xfrm>
          <a:prstGeom prst="rect">
            <a:avLst/>
          </a:prstGeom>
          <a:solidFill>
            <a:srgbClr val="e6f3ff"/>
          </a:solidFill>
          <a:ln w="127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Incremento 1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Rectangle 19"/>
          <p:cNvSpPr/>
          <p:nvPr/>
        </p:nvSpPr>
        <p:spPr>
          <a:xfrm>
            <a:off x="2560320" y="5623560"/>
            <a:ext cx="2194200" cy="456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9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Gestión administrativa completa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Rectangle 20"/>
          <p:cNvSpPr/>
          <p:nvPr/>
        </p:nvSpPr>
        <p:spPr>
          <a:xfrm>
            <a:off x="4846320" y="4892040"/>
            <a:ext cx="2194200" cy="319680"/>
          </a:xfrm>
          <a:prstGeom prst="rect">
            <a:avLst/>
          </a:prstGeom>
          <a:solidFill>
            <a:srgbClr val="3399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Mayo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Rectangle 21"/>
          <p:cNvSpPr/>
          <p:nvPr/>
        </p:nvSpPr>
        <p:spPr>
          <a:xfrm>
            <a:off x="4846320" y="5257800"/>
            <a:ext cx="2194200" cy="319680"/>
          </a:xfrm>
          <a:prstGeom prst="rect">
            <a:avLst/>
          </a:prstGeom>
          <a:solidFill>
            <a:srgbClr val="e6f3ff"/>
          </a:solidFill>
          <a:ln w="127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Incremento 2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Rectangle 22"/>
          <p:cNvSpPr/>
          <p:nvPr/>
        </p:nvSpPr>
        <p:spPr>
          <a:xfrm>
            <a:off x="4846320" y="5623560"/>
            <a:ext cx="2194200" cy="456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IA y escaneo de documentos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Rectangle 23"/>
          <p:cNvSpPr/>
          <p:nvPr/>
        </p:nvSpPr>
        <p:spPr>
          <a:xfrm>
            <a:off x="7132320" y="4892040"/>
            <a:ext cx="2194200" cy="319680"/>
          </a:xfrm>
          <a:prstGeom prst="rect">
            <a:avLst/>
          </a:prstGeom>
          <a:solidFill>
            <a:srgbClr val="00999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Junio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Rectangle 24"/>
          <p:cNvSpPr/>
          <p:nvPr/>
        </p:nvSpPr>
        <p:spPr>
          <a:xfrm>
            <a:off x="7132320" y="5257800"/>
            <a:ext cx="2194200" cy="319680"/>
          </a:xfrm>
          <a:prstGeom prst="rect">
            <a:avLst/>
          </a:prstGeom>
          <a:solidFill>
            <a:srgbClr val="e6f3ff"/>
          </a:solidFill>
          <a:ln w="12700">
            <a:solidFill>
              <a:srgbClr val="0099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Incremento 3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Rectangle 25"/>
          <p:cNvSpPr/>
          <p:nvPr/>
        </p:nvSpPr>
        <p:spPr>
          <a:xfrm>
            <a:off x="7132320" y="5623560"/>
            <a:ext cx="2194200" cy="4568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999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Portal asociados y notificaciones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Rectangle 26"/>
          <p:cNvSpPr/>
          <p:nvPr/>
        </p:nvSpPr>
        <p:spPr>
          <a:xfrm>
            <a:off x="9418320" y="4892040"/>
            <a:ext cx="2194200" cy="319680"/>
          </a:xfrm>
          <a:prstGeom prst="rect">
            <a:avLst/>
          </a:prstGeom>
          <a:solidFill>
            <a:srgbClr val="6666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Julio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Rectangle 27"/>
          <p:cNvSpPr/>
          <p:nvPr/>
        </p:nvSpPr>
        <p:spPr>
          <a:xfrm>
            <a:off x="9418320" y="5257800"/>
            <a:ext cx="2194200" cy="319680"/>
          </a:xfrm>
          <a:prstGeom prst="rect">
            <a:avLst/>
          </a:prstGeom>
          <a:solidFill>
            <a:srgbClr val="e6f3ff"/>
          </a:solidFill>
          <a:ln w="12700">
            <a:solidFill>
              <a:srgbClr val="66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Versión Final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Rectangle 28"/>
          <p:cNvSpPr/>
          <p:nvPr/>
        </p:nvSpPr>
        <p:spPr>
          <a:xfrm>
            <a:off x="9418320" y="5623560"/>
            <a:ext cx="2194200" cy="456840"/>
          </a:xfrm>
          <a:prstGeom prst="rect">
            <a:avLst/>
          </a:prstGeom>
          <a:solidFill>
            <a:srgbClr val="ffffff"/>
          </a:solidFill>
          <a:ln w="12700">
            <a:solidFill>
              <a:srgbClr val="66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002850"/>
                </a:solidFill>
                <a:effectLst/>
                <a:uFillTx/>
                <a:latin typeface="Arial"/>
              </a:rPr>
              <a:t>Despliegue y entrega operativa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Rounded Rectangle 29"/>
          <p:cNvSpPr/>
          <p:nvPr/>
        </p:nvSpPr>
        <p:spPr>
          <a:xfrm>
            <a:off x="457200" y="6172200"/>
            <a:ext cx="11277000" cy="365400"/>
          </a:xfrm>
          <a:prstGeom prst="roundRect">
            <a:avLst>
              <a:gd name="adj" fmla="val 16667"/>
            </a:avLst>
          </a:prstGeom>
          <a:solidFill>
            <a:srgbClr val="fff8dc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El Lean Inception ha permitido definir claramente el MVP y la estrategia de desarrollo para AJUPTEL, asegurando que el producto final satisfaga las necesidades reales de los usuarios y genere valor para la asociación.</a:t>
            </a:r>
            <a:endParaRPr lang="es-V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Rectangle 4"/>
          <p:cNvSpPr/>
          <p:nvPr/>
        </p:nvSpPr>
        <p:spPr>
          <a:xfrm>
            <a:off x="805320" y="822960"/>
            <a:ext cx="10362600" cy="548280"/>
          </a:xfrm>
          <a:prstGeom prst="rect">
            <a:avLst/>
          </a:prstGeom>
          <a:solidFill>
            <a:srgbClr val="0099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Sistema de Información Web Responsive para AJUPTEL, Región Carabobo</a:t>
            </a:r>
            <a:endParaRPr lang="es-VE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Rounded Rectangle 5"/>
          <p:cNvSpPr/>
          <p:nvPr/>
        </p:nvSpPr>
        <p:spPr>
          <a:xfrm>
            <a:off x="618840" y="1439280"/>
            <a:ext cx="4974120" cy="4335480"/>
          </a:xfrm>
          <a:prstGeom prst="roundRect">
            <a:avLst>
              <a:gd name="adj" fmla="val 14080"/>
            </a:avLst>
          </a:prstGeom>
          <a:solidFill>
            <a:srgbClr val="ffffff"/>
          </a:solidFill>
          <a:ln w="38100">
            <a:solidFill>
              <a:srgbClr val="3399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rIns="254160" tIns="254160" bIns="45000" anchor="ctr">
            <a:no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✓ Visión del producto alineada con las necesidades de AJUPTEL Carabobo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✓ Stakeholders clave identificados y estrategias de comunicación definidas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✓ MVP claramente delimitado con funcionalidades Must Have priorizadas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✓ Arquitectura tecnológica definida: Angular 20 + NestJS + MySQL 8.0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✓ Roadmap de 5 releases desde marzo hasta julio de 2026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✓ Presupuesto estimado: $30,080.00 USD con contingencia del 10%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003366"/>
                </a:solidFill>
                <a:effectLst/>
                <a:uFillTx/>
                <a:latin typeface="Arial"/>
              </a:rPr>
              <a:t>✓ Enfoque en inclusión digital para adultos mayores con IA conversacional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Rounded Rectangle 6"/>
          <p:cNvSpPr/>
          <p:nvPr/>
        </p:nvSpPr>
        <p:spPr>
          <a:xfrm>
            <a:off x="5887440" y="1480680"/>
            <a:ext cx="6175800" cy="335880"/>
          </a:xfrm>
          <a:prstGeom prst="roundRect">
            <a:avLst>
              <a:gd name="adj" fmla="val 16667"/>
            </a:avLst>
          </a:prstGeom>
          <a:solidFill>
            <a:srgbClr val="e6f3ff"/>
          </a:solidFill>
          <a:ln w="25400">
            <a:solidFill>
              <a:srgbClr val="0066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0066cc"/>
                </a:solidFill>
                <a:effectLst/>
                <a:uFillTx/>
                <a:latin typeface="Arial"/>
              </a:rPr>
              <a:t>PRÓXIMOS PASOS INMEDIATOS</a:t>
            </a:r>
            <a:endParaRPr lang="es-V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Rectangle 2"/>
          <p:cNvSpPr/>
          <p:nvPr/>
        </p:nvSpPr>
        <p:spPr>
          <a:xfrm>
            <a:off x="0" y="0"/>
            <a:ext cx="12191400" cy="82260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54160" rIns="90000" tIns="45000" bIns="45000" anchor="ctr">
            <a:noAutofit/>
          </a:bodyPr>
          <a:p>
            <a:pPr defTabSz="457200">
              <a:lnSpc>
                <a:spcPct val="100000"/>
              </a:lnSpc>
            </a:pPr>
            <a:r>
              <a:rPr lang="es-MX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Conclusiones y Próximos Pasos</a:t>
            </a:r>
            <a:endParaRPr lang="es-VE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Rectangle 30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0033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Lean Inception - AJUPTEL Carabobo  |  UNETI 2026</a:t>
            </a:r>
            <a:endParaRPr lang="es-VE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01" name="Diagram1"/>
          <p:cNvGraphicFramePr/>
          <p:nvPr>
            <p:extLst>
              <p:ext uri="{D42A27DB-BD31-4B8C-83A1-F6EECF244321}">
                <p14:modId xmlns:p14="http://schemas.microsoft.com/office/powerpoint/2010/main" val="180238488"/>
              </p:ext>
            </p:extLst>
          </p:nvPr>
        </p:nvGraphicFramePr>
        <p:xfrm>
          <a:off x="4925160" y="1816920"/>
          <a:ext cx="7673040" cy="4766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" r:lo="rId2" r:qs="rId3" r:cs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</TotalTime>
  <Application>LibreOffice/25.8.4.2$Windows_X86_64 LibreOffice_project/290daaa01b999472f0c7a3890eb6a550fd74c6df</Application>
  <AppVersion>15.0000</AppVersion>
  <Words>2322</Words>
  <Paragraphs>487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es-VE</dc:language>
  <cp:lastModifiedBy/>
  <dcterms:modified xsi:type="dcterms:W3CDTF">2026-05-17T02:07:53Z</dcterms:modified>
  <cp:revision>9</cp:revision>
  <dc:subject/>
  <dc:title>Presentación de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Panorámica</vt:lpwstr>
  </property>
  <property fmtid="{D5CDD505-2E9C-101B-9397-08002B2CF9AE}" pid="4" name="Slides">
    <vt:i4>14</vt:i4>
  </property>
</Properties>
</file>